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57" r:id="rId4"/>
  </p:sldMasterIdLst>
  <p:notesMasterIdLst>
    <p:notesMasterId r:id="rId32"/>
  </p:notesMasterIdLst>
  <p:sldIdLst>
    <p:sldId id="256" r:id="rId5"/>
    <p:sldId id="443" r:id="rId6"/>
    <p:sldId id="450" r:id="rId7"/>
    <p:sldId id="278" r:id="rId8"/>
    <p:sldId id="444" r:id="rId9"/>
    <p:sldId id="376" r:id="rId10"/>
    <p:sldId id="306" r:id="rId11"/>
    <p:sldId id="377" r:id="rId12"/>
    <p:sldId id="378" r:id="rId13"/>
    <p:sldId id="447" r:id="rId14"/>
    <p:sldId id="445" r:id="rId15"/>
    <p:sldId id="495" r:id="rId16"/>
    <p:sldId id="503" r:id="rId17"/>
    <p:sldId id="504" r:id="rId18"/>
    <p:sldId id="505" r:id="rId19"/>
    <p:sldId id="506" r:id="rId20"/>
    <p:sldId id="507" r:id="rId21"/>
    <p:sldId id="508" r:id="rId22"/>
    <p:sldId id="509" r:id="rId23"/>
    <p:sldId id="335" r:id="rId24"/>
    <p:sldId id="366" r:id="rId25"/>
    <p:sldId id="448" r:id="rId26"/>
    <p:sldId id="446" r:id="rId27"/>
    <p:sldId id="454" r:id="rId28"/>
    <p:sldId id="476" r:id="rId29"/>
    <p:sldId id="431" r:id="rId30"/>
    <p:sldId id="469" r:id="rId3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A641B3-E2B4-5495-E7CF-56A8E029C3C7}" name="立石 智一" initials="智立" userId="S::tomokazu.tateishi@ari-jp.com::66629e83-eca7-4b03-9408-4e7b46c6915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8BF"/>
    <a:srgbClr val="FF40FF"/>
    <a:srgbClr val="0F59B3"/>
    <a:srgbClr val="FE4682"/>
    <a:srgbClr val="FF6500"/>
    <a:srgbClr val="FF0043"/>
    <a:srgbClr val="F98B6A"/>
    <a:srgbClr val="595959"/>
    <a:srgbClr val="FF0000"/>
    <a:srgbClr val="ED7D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6D9F66E-5EB9-4882-86FB-DCBF35E3C3E4}" styleName="中間スタイル 4 - アクセント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中間スタイル 4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中間スタイル 4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FD4443E-F989-4FC4-A0C8-D5A2AF1F390B}" styleName="濃色スタイル 1 - アクセント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E929F9F4-4A8F-4326-A1B4-22849713DDAB}" styleName="濃色スタイル 1 - アクセント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43"/>
    <p:restoredTop sz="94689"/>
  </p:normalViewPr>
  <p:slideViewPr>
    <p:cSldViewPr snapToGrid="0">
      <p:cViewPr varScale="1">
        <p:scale>
          <a:sx n="172" d="100"/>
          <a:sy n="172" d="100"/>
        </p:scale>
        <p:origin x="1648" y="4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eiryo UI" panose="020B0604030504040204" pitchFamily="34" charset="-128"/>
        <a:ea typeface="Meiryo UI" panose="020B0604030504040204"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4ac53d59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4ac53d59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5944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4ac53d59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4ac53d59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16912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0A66BC2F-546D-A886-3E6D-314B71CA63BF}"/>
            </a:ext>
          </a:extLst>
        </p:cNvPr>
        <p:cNvGrpSpPr/>
        <p:nvPr/>
      </p:nvGrpSpPr>
      <p:grpSpPr>
        <a:xfrm>
          <a:off x="0" y="0"/>
          <a:ext cx="0" cy="0"/>
          <a:chOff x="0" y="0"/>
          <a:chExt cx="0" cy="0"/>
        </a:xfrm>
      </p:grpSpPr>
      <p:sp>
        <p:nvSpPr>
          <p:cNvPr id="77" name="Google Shape;77;g84989c0dcf_0_20:notes">
            <a:extLst>
              <a:ext uri="{FF2B5EF4-FFF2-40B4-BE49-F238E27FC236}">
                <a16:creationId xmlns:a16="http://schemas.microsoft.com/office/drawing/2014/main" id="{89CA723D-1B40-AD0D-0945-DCB9D92AC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a:extLst>
              <a:ext uri="{FF2B5EF4-FFF2-40B4-BE49-F238E27FC236}">
                <a16:creationId xmlns:a16="http://schemas.microsoft.com/office/drawing/2014/main" id="{E1CFDDD4-49CA-172B-BC57-256D8F2560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a:t>修正</a:t>
            </a:r>
            <a:endParaRPr/>
          </a:p>
        </p:txBody>
      </p:sp>
    </p:spTree>
    <p:extLst>
      <p:ext uri="{BB962C8B-B14F-4D97-AF65-F5344CB8AC3E}">
        <p14:creationId xmlns:p14="http://schemas.microsoft.com/office/powerpoint/2010/main" val="2375310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4989c0dc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46422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4ac53d59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4ac53d59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8343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4989c0dc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9366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4ac53d59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4ac53d59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1604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7358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4989c0dc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a:t>新規訪問数</a:t>
            </a:r>
            <a:endParaRPr lang="en-US" altLang="ja-JP"/>
          </a:p>
          <a:p>
            <a:pPr marL="0" lvl="0" indent="0" algn="l" rtl="0">
              <a:spcBef>
                <a:spcPts val="0"/>
              </a:spcBef>
              <a:spcAft>
                <a:spcPts val="0"/>
              </a:spcAft>
              <a:buNone/>
            </a:pPr>
            <a:r>
              <a:rPr lang="ja-JP" altLang="en-US"/>
              <a:t>回遊りつと違っている</a:t>
            </a:r>
            <a:endParaRPr/>
          </a:p>
        </p:txBody>
      </p:sp>
    </p:spTree>
    <p:extLst>
      <p:ext uri="{BB962C8B-B14F-4D97-AF65-F5344CB8AC3E}">
        <p14:creationId xmlns:p14="http://schemas.microsoft.com/office/powerpoint/2010/main" val="7205105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E2B9408D-5FB0-C692-D13D-0914194C6F7A}"/>
            </a:ext>
          </a:extLst>
        </p:cNvPr>
        <p:cNvGrpSpPr/>
        <p:nvPr/>
      </p:nvGrpSpPr>
      <p:grpSpPr>
        <a:xfrm>
          <a:off x="0" y="0"/>
          <a:ext cx="0" cy="0"/>
          <a:chOff x="0" y="0"/>
          <a:chExt cx="0" cy="0"/>
        </a:xfrm>
      </p:grpSpPr>
      <p:sp>
        <p:nvSpPr>
          <p:cNvPr id="77" name="Google Shape;77;g84989c0dcf_0_20:notes">
            <a:extLst>
              <a:ext uri="{FF2B5EF4-FFF2-40B4-BE49-F238E27FC236}">
                <a16:creationId xmlns:a16="http://schemas.microsoft.com/office/drawing/2014/main" id="{83F12748-2C5D-E92D-5805-453DC454DD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a:extLst>
              <a:ext uri="{FF2B5EF4-FFF2-40B4-BE49-F238E27FC236}">
                <a16:creationId xmlns:a16="http://schemas.microsoft.com/office/drawing/2014/main" id="{21D27F95-1446-6A5C-50A4-BC5B24BD92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3775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4989c0dc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6076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a:extLst>
            <a:ext uri="{FF2B5EF4-FFF2-40B4-BE49-F238E27FC236}">
              <a16:creationId xmlns:a16="http://schemas.microsoft.com/office/drawing/2014/main" id="{7DC4A4CD-3483-6B79-5A0B-351024391EB1}"/>
            </a:ext>
          </a:extLst>
        </p:cNvPr>
        <p:cNvGrpSpPr/>
        <p:nvPr/>
      </p:nvGrpSpPr>
      <p:grpSpPr>
        <a:xfrm>
          <a:off x="0" y="0"/>
          <a:ext cx="0" cy="0"/>
          <a:chOff x="0" y="0"/>
          <a:chExt cx="0" cy="0"/>
        </a:xfrm>
      </p:grpSpPr>
      <p:sp>
        <p:nvSpPr>
          <p:cNvPr id="77" name="Google Shape;77;g84989c0dcf_0_20:notes">
            <a:extLst>
              <a:ext uri="{FF2B5EF4-FFF2-40B4-BE49-F238E27FC236}">
                <a16:creationId xmlns:a16="http://schemas.microsoft.com/office/drawing/2014/main" id="{DE6B68A0-D0E6-4DD0-48A9-DCC1E87B83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a:extLst>
              <a:ext uri="{FF2B5EF4-FFF2-40B4-BE49-F238E27FC236}">
                <a16:creationId xmlns:a16="http://schemas.microsoft.com/office/drawing/2014/main" id="{D4855382-D969-AF15-E71E-11CC2B8E56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1089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4989c0dc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4989c0dc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2077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3744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EEC2E6C5-2EB1-B238-B2D8-988E504E90DE}"/>
            </a:ext>
          </a:extLst>
        </p:cNvPr>
        <p:cNvGrpSpPr/>
        <p:nvPr/>
      </p:nvGrpSpPr>
      <p:grpSpPr>
        <a:xfrm>
          <a:off x="0" y="0"/>
          <a:ext cx="0" cy="0"/>
          <a:chOff x="0" y="0"/>
          <a:chExt cx="0" cy="0"/>
        </a:xfrm>
      </p:grpSpPr>
      <p:sp>
        <p:nvSpPr>
          <p:cNvPr id="122" name="Google Shape;122;g84c6ce85cc_1_32:notes">
            <a:extLst>
              <a:ext uri="{FF2B5EF4-FFF2-40B4-BE49-F238E27FC236}">
                <a16:creationId xmlns:a16="http://schemas.microsoft.com/office/drawing/2014/main" id="{78A938C3-A8DD-28BC-A006-950FF7AF22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a:extLst>
              <a:ext uri="{FF2B5EF4-FFF2-40B4-BE49-F238E27FC236}">
                <a16:creationId xmlns:a16="http://schemas.microsoft.com/office/drawing/2014/main" id="{9D34BDD8-31DD-2113-6EAD-CA642DC1E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0252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50880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28725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62383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2929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4ac53d59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4ac53d59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1815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84c6ce85c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84c6ce85c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a:t>スコア平均</a:t>
            </a:r>
            <a:endParaRPr/>
          </a:p>
        </p:txBody>
      </p:sp>
    </p:spTree>
    <p:extLst>
      <p:ext uri="{BB962C8B-B14F-4D97-AF65-F5344CB8AC3E}">
        <p14:creationId xmlns:p14="http://schemas.microsoft.com/office/powerpoint/2010/main" val="1723157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82BF1E4-A5F8-8CFC-2201-BE6551D150A8}"/>
            </a:ext>
          </a:extLst>
        </p:cNvPr>
        <p:cNvGrpSpPr/>
        <p:nvPr/>
      </p:nvGrpSpPr>
      <p:grpSpPr>
        <a:xfrm>
          <a:off x="0" y="0"/>
          <a:ext cx="0" cy="0"/>
          <a:chOff x="0" y="0"/>
          <a:chExt cx="0" cy="0"/>
        </a:xfrm>
      </p:grpSpPr>
      <p:sp>
        <p:nvSpPr>
          <p:cNvPr id="109" name="Google Shape;109;g84c6ce85cc_1_0:notes">
            <a:extLst>
              <a:ext uri="{FF2B5EF4-FFF2-40B4-BE49-F238E27FC236}">
                <a16:creationId xmlns:a16="http://schemas.microsoft.com/office/drawing/2014/main" id="{EDA540AD-4A46-2C74-FB71-E3A60B03F6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84c6ce85cc_1_0:notes">
            <a:extLst>
              <a:ext uri="{FF2B5EF4-FFF2-40B4-BE49-F238E27FC236}">
                <a16:creationId xmlns:a16="http://schemas.microsoft.com/office/drawing/2014/main" id="{A5581D73-D3AC-8FEA-256D-F2B07DB464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19464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a:t>防衛白書</a:t>
            </a:r>
            <a:endParaRPr lang="en-US" altLang="ja-JP"/>
          </a:p>
          <a:p>
            <a:pPr marL="0" lvl="0" indent="0" algn="l" rtl="0">
              <a:spcBef>
                <a:spcPts val="0"/>
              </a:spcBef>
              <a:spcAft>
                <a:spcPts val="0"/>
              </a:spcAft>
              <a:buNone/>
            </a:pPr>
            <a:r>
              <a:rPr lang="ja-JP" altLang="en-US"/>
              <a:t>日本語</a:t>
            </a:r>
            <a:endParaRPr lang="en-US" altLang="ja-JP"/>
          </a:p>
          <a:p>
            <a:pPr marL="0" lvl="0" indent="0" algn="l" rtl="0">
              <a:spcBef>
                <a:spcPts val="0"/>
              </a:spcBef>
              <a:spcAft>
                <a:spcPts val="0"/>
              </a:spcAft>
              <a:buNone/>
            </a:pPr>
            <a:endParaRPr/>
          </a:p>
        </p:txBody>
      </p:sp>
    </p:spTree>
    <p:extLst>
      <p:ext uri="{BB962C8B-B14F-4D97-AF65-F5344CB8AC3E}">
        <p14:creationId xmlns:p14="http://schemas.microsoft.com/office/powerpoint/2010/main" val="4197312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27294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D7FD0ACD-1CEA-5522-0BBC-7DA60921A67F}"/>
            </a:ext>
          </a:extLst>
        </p:cNvPr>
        <p:cNvGrpSpPr/>
        <p:nvPr/>
      </p:nvGrpSpPr>
      <p:grpSpPr>
        <a:xfrm>
          <a:off x="0" y="0"/>
          <a:ext cx="0" cy="0"/>
          <a:chOff x="0" y="0"/>
          <a:chExt cx="0" cy="0"/>
        </a:xfrm>
      </p:grpSpPr>
      <p:sp>
        <p:nvSpPr>
          <p:cNvPr id="122" name="Google Shape;122;g84c6ce85cc_1_32:notes">
            <a:extLst>
              <a:ext uri="{FF2B5EF4-FFF2-40B4-BE49-F238E27FC236}">
                <a16:creationId xmlns:a16="http://schemas.microsoft.com/office/drawing/2014/main" id="{D34668D9-7254-ADB1-AB98-DE9B44C38C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a:extLst>
              <a:ext uri="{FF2B5EF4-FFF2-40B4-BE49-F238E27FC236}">
                <a16:creationId xmlns:a16="http://schemas.microsoft.com/office/drawing/2014/main" id="{C9DBB92F-71F3-919B-8AF2-E2B36E6D42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28590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64ac53d598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64ac53d598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64754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84c6ce85cc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84c6ce85cc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JP" altLang="en-US"/>
              <a:t>反映していない</a:t>
            </a:r>
            <a:endParaRPr/>
          </a:p>
        </p:txBody>
      </p:sp>
    </p:spTree>
    <p:extLst>
      <p:ext uri="{BB962C8B-B14F-4D97-AF65-F5344CB8AC3E}">
        <p14:creationId xmlns:p14="http://schemas.microsoft.com/office/powerpoint/2010/main" val="18584760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表紙_シンプル"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834263" y="112400"/>
            <a:ext cx="1085012" cy="291600"/>
          </a:xfrm>
          <a:prstGeom prst="rect">
            <a:avLst/>
          </a:prstGeom>
          <a:noFill/>
          <a:ln>
            <a:noFill/>
          </a:ln>
        </p:spPr>
      </p:pic>
      <p:sp>
        <p:nvSpPr>
          <p:cNvPr id="11" name="Google Shape;11;p2"/>
          <p:cNvSpPr txBox="1">
            <a:spLocks noGrp="1"/>
          </p:cNvSpPr>
          <p:nvPr>
            <p:ph type="ctrTitle"/>
          </p:nvPr>
        </p:nvSpPr>
        <p:spPr>
          <a:xfrm>
            <a:off x="886500" y="2267750"/>
            <a:ext cx="7371000" cy="581400"/>
          </a:xfrm>
          <a:prstGeom prst="rect">
            <a:avLst/>
          </a:prstGeom>
        </p:spPr>
        <p:txBody>
          <a:bodyPr spcFirstLastPara="1" wrap="square" lIns="0" tIns="0" rIns="0" bIns="0" anchor="t" anchorCtr="0">
            <a:noAutofit/>
          </a:bodyPr>
          <a:lstStyle>
            <a:lvl1pPr lvl="0" algn="ctr" rtl="0">
              <a:spcBef>
                <a:spcPts val="0"/>
              </a:spcBef>
              <a:spcAft>
                <a:spcPts val="0"/>
              </a:spcAft>
              <a:buClr>
                <a:srgbClr val="0F2950"/>
              </a:buClr>
              <a:buSzPts val="3200"/>
              <a:buFont typeface="HiraKakuPro-W3"/>
              <a:buNone/>
              <a:defRPr sz="3200" b="0" i="0">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algn="ctr" rtl="0">
              <a:spcBef>
                <a:spcPts val="0"/>
              </a:spcBef>
              <a:spcAft>
                <a:spcPts val="0"/>
              </a:spcAft>
              <a:buSzPts val="5200"/>
              <a:buFont typeface="HiraKakuPro-W3"/>
              <a:buNone/>
              <a:defRPr sz="5200">
                <a:latin typeface="HiraKakuPro-W3"/>
                <a:ea typeface="HiraKakuPro-W3"/>
                <a:cs typeface="HiraKakuPro-W3"/>
                <a:sym typeface="HiraKakuPro-W3"/>
              </a:defRPr>
            </a:lvl2pPr>
            <a:lvl3pPr lvl="2" algn="ctr" rtl="0">
              <a:spcBef>
                <a:spcPts val="0"/>
              </a:spcBef>
              <a:spcAft>
                <a:spcPts val="0"/>
              </a:spcAft>
              <a:buSzPts val="5200"/>
              <a:buFont typeface="HiraKakuPro-W3"/>
              <a:buNone/>
              <a:defRPr sz="5200">
                <a:latin typeface="HiraKakuPro-W3"/>
                <a:ea typeface="HiraKakuPro-W3"/>
                <a:cs typeface="HiraKakuPro-W3"/>
                <a:sym typeface="HiraKakuPro-W3"/>
              </a:defRPr>
            </a:lvl3pPr>
            <a:lvl4pPr lvl="3" algn="ctr" rtl="0">
              <a:spcBef>
                <a:spcPts val="0"/>
              </a:spcBef>
              <a:spcAft>
                <a:spcPts val="0"/>
              </a:spcAft>
              <a:buSzPts val="5200"/>
              <a:buFont typeface="HiraKakuPro-W3"/>
              <a:buNone/>
              <a:defRPr sz="5200">
                <a:latin typeface="HiraKakuPro-W3"/>
                <a:ea typeface="HiraKakuPro-W3"/>
                <a:cs typeface="HiraKakuPro-W3"/>
                <a:sym typeface="HiraKakuPro-W3"/>
              </a:defRPr>
            </a:lvl4pPr>
            <a:lvl5pPr lvl="4" algn="ctr" rtl="0">
              <a:spcBef>
                <a:spcPts val="0"/>
              </a:spcBef>
              <a:spcAft>
                <a:spcPts val="0"/>
              </a:spcAft>
              <a:buSzPts val="5200"/>
              <a:buFont typeface="HiraKakuPro-W3"/>
              <a:buNone/>
              <a:defRPr sz="5200">
                <a:latin typeface="HiraKakuPro-W3"/>
                <a:ea typeface="HiraKakuPro-W3"/>
                <a:cs typeface="HiraKakuPro-W3"/>
                <a:sym typeface="HiraKakuPro-W3"/>
              </a:defRPr>
            </a:lvl5pPr>
            <a:lvl6pPr lvl="5" algn="ctr" rtl="0">
              <a:spcBef>
                <a:spcPts val="0"/>
              </a:spcBef>
              <a:spcAft>
                <a:spcPts val="0"/>
              </a:spcAft>
              <a:buSzPts val="5200"/>
              <a:buFont typeface="HiraKakuPro-W3"/>
              <a:buNone/>
              <a:defRPr sz="5200">
                <a:latin typeface="HiraKakuPro-W3"/>
                <a:ea typeface="HiraKakuPro-W3"/>
                <a:cs typeface="HiraKakuPro-W3"/>
                <a:sym typeface="HiraKakuPro-W3"/>
              </a:defRPr>
            </a:lvl6pPr>
            <a:lvl7pPr lvl="6" algn="ctr" rtl="0">
              <a:spcBef>
                <a:spcPts val="0"/>
              </a:spcBef>
              <a:spcAft>
                <a:spcPts val="0"/>
              </a:spcAft>
              <a:buSzPts val="5200"/>
              <a:buFont typeface="HiraKakuPro-W3"/>
              <a:buNone/>
              <a:defRPr sz="5200">
                <a:latin typeface="HiraKakuPro-W3"/>
                <a:ea typeface="HiraKakuPro-W3"/>
                <a:cs typeface="HiraKakuPro-W3"/>
                <a:sym typeface="HiraKakuPro-W3"/>
              </a:defRPr>
            </a:lvl7pPr>
            <a:lvl8pPr lvl="7" algn="ctr" rtl="0">
              <a:spcBef>
                <a:spcPts val="0"/>
              </a:spcBef>
              <a:spcAft>
                <a:spcPts val="0"/>
              </a:spcAft>
              <a:buSzPts val="5200"/>
              <a:buFont typeface="HiraKakuPro-W3"/>
              <a:buNone/>
              <a:defRPr sz="5200">
                <a:latin typeface="HiraKakuPro-W3"/>
                <a:ea typeface="HiraKakuPro-W3"/>
                <a:cs typeface="HiraKakuPro-W3"/>
                <a:sym typeface="HiraKakuPro-W3"/>
              </a:defRPr>
            </a:lvl8pPr>
            <a:lvl9pPr lvl="8" algn="ctr" rtl="0">
              <a:spcBef>
                <a:spcPts val="0"/>
              </a:spcBef>
              <a:spcAft>
                <a:spcPts val="0"/>
              </a:spcAft>
              <a:buSzPts val="5200"/>
              <a:buFont typeface="HiraKakuPro-W3"/>
              <a:buNone/>
              <a:defRPr sz="5200">
                <a:latin typeface="HiraKakuPro-W3"/>
                <a:ea typeface="HiraKakuPro-W3"/>
                <a:cs typeface="HiraKakuPro-W3"/>
                <a:sym typeface="HiraKakuPro-W3"/>
              </a:defRPr>
            </a:lvl9pPr>
          </a:lstStyle>
          <a:p>
            <a:endParaRPr/>
          </a:p>
        </p:txBody>
      </p:sp>
      <p:sp>
        <p:nvSpPr>
          <p:cNvPr id="12" name="Google Shape;12;p2"/>
          <p:cNvSpPr txBox="1">
            <a:spLocks noGrp="1"/>
          </p:cNvSpPr>
          <p:nvPr>
            <p:ph type="subTitle" idx="1"/>
          </p:nvPr>
        </p:nvSpPr>
        <p:spPr>
          <a:xfrm>
            <a:off x="886500" y="1899900"/>
            <a:ext cx="7371000" cy="2916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Clr>
                <a:srgbClr val="0F59B3"/>
              </a:buClr>
              <a:buSzPts val="1600"/>
              <a:buFont typeface="HiraKakuPro-W3"/>
              <a:buNone/>
              <a:defRPr sz="1600" b="0" i="0">
                <a:solidFill>
                  <a:srgbClr val="0F59B3"/>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2pPr>
            <a:lvl3pPr lvl="2"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3pPr>
            <a:lvl4pPr lvl="3"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4pPr>
            <a:lvl5pPr lvl="4"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5pPr>
            <a:lvl6pPr lvl="5"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6pPr>
            <a:lvl7pPr lvl="6"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7pPr>
            <a:lvl8pPr lvl="7"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8pPr>
            <a:lvl9pPr lvl="8"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9pPr>
          </a:lstStyle>
          <a:p>
            <a:endParaRPr/>
          </a:p>
        </p:txBody>
      </p:sp>
      <p:sp>
        <p:nvSpPr>
          <p:cNvPr id="13" name="Google Shape;13;p2"/>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a:t>
            </a:fld>
            <a:endParaRPr lang="ja" altLang="en-US">
              <a:solidFill>
                <a:srgbClr val="4E5F7A"/>
              </a:solidFill>
            </a:endParaRPr>
          </a:p>
        </p:txBody>
      </p:sp>
      <p:sp>
        <p:nvSpPr>
          <p:cNvPr id="14" name="Google Shape;14;p2"/>
          <p:cNvSpPr txBox="1"/>
          <p:nvPr/>
        </p:nvSpPr>
        <p:spPr>
          <a:xfrm>
            <a:off x="1669800" y="4744225"/>
            <a:ext cx="58044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800" b="0" i="0">
                <a:solidFill>
                  <a:srgbClr val="9FA9B9"/>
                </a:solidFill>
                <a:latin typeface="Meiryo UI" panose="020B0604030504040204" pitchFamily="34" charset="-128"/>
                <a:ea typeface="Meiryo UI" panose="020B0604030504040204" pitchFamily="34" charset="-128"/>
              </a:rPr>
              <a:t>©︎ ARアドバンストテクノロジ株式会社  All Rights Reserved.</a:t>
            </a:r>
            <a:endParaRPr sz="800" b="0" i="0">
              <a:solidFill>
                <a:srgbClr val="9FA9B9"/>
              </a:solidFill>
              <a:latin typeface="Meiryo UI" panose="020B0604030504040204" pitchFamily="34" charset="-128"/>
              <a:ea typeface="Meiryo UI" panose="020B0604030504040204" pitchFamily="34" charset="-128"/>
            </a:endParaRPr>
          </a:p>
        </p:txBody>
      </p:sp>
    </p:spTree>
  </p:cSld>
  <p:clrMapOvr>
    <a:masterClrMapping/>
  </p:clrMapOvr>
  <p:extLst>
    <p:ext uri="{DCECCB84-F9BA-43D5-87BE-67443E8EF086}">
      <p15:sldGuideLst xmlns:p15="http://schemas.microsoft.com/office/powerpoint/2012/main">
        <p15:guide id="1" pos="248">
          <p15:clr>
            <a:srgbClr val="FA7B17"/>
          </p15:clr>
        </p15:guide>
        <p15:guide id="2" pos="5510">
          <p15:clr>
            <a:srgbClr val="FA7B17"/>
          </p15:clr>
        </p15:guide>
        <p15:guide id="3" orient="horz" pos="2992">
          <p15:clr>
            <a:srgbClr val="FA7B17"/>
          </p15:clr>
        </p15:guide>
        <p15:guide id="4" pos="5202">
          <p15:clr>
            <a:srgbClr val="FA7B17"/>
          </p15:clr>
        </p15:guide>
        <p15:guide id="5" pos="55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表紙_画像あり01">
  <p:cSld name="TITLE_1_1">
    <p:spTree>
      <p:nvGrpSpPr>
        <p:cNvPr id="1" name="Shape 15"/>
        <p:cNvGrpSpPr/>
        <p:nvPr/>
      </p:nvGrpSpPr>
      <p:grpSpPr>
        <a:xfrm>
          <a:off x="0" y="0"/>
          <a:ext cx="0" cy="0"/>
          <a:chOff x="0" y="0"/>
          <a:chExt cx="0" cy="0"/>
        </a:xfrm>
      </p:grpSpPr>
      <p:sp>
        <p:nvSpPr>
          <p:cNvPr id="16" name="Google Shape;16;p3"/>
          <p:cNvSpPr/>
          <p:nvPr/>
        </p:nvSpPr>
        <p:spPr>
          <a:xfrm>
            <a:off x="0" y="2954202"/>
            <a:ext cx="9144000" cy="2197200"/>
          </a:xfrm>
          <a:prstGeom prst="rect">
            <a:avLst/>
          </a:prstGeom>
          <a:solidFill>
            <a:srgbClr val="CFD4DC">
              <a:alpha val="89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0" i="0">
              <a:latin typeface="Meiryo UI" panose="020B0604030504040204" pitchFamily="34" charset="-128"/>
              <a:ea typeface="Meiryo UI" panose="020B0604030504040204" pitchFamily="34" charset="-128"/>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b="0" i="0"/>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US" altLang="ja" smtClean="0"/>
              <a:pPr/>
              <a:t>‹#›</a:t>
            </a:fld>
            <a:endParaRPr lang="ja" altLang="en-US"/>
          </a:p>
        </p:txBody>
      </p:sp>
      <p:sp>
        <p:nvSpPr>
          <p:cNvPr id="18" name="Google Shape;18;p3"/>
          <p:cNvSpPr txBox="1">
            <a:spLocks noGrp="1"/>
          </p:cNvSpPr>
          <p:nvPr>
            <p:ph type="ctrTitle"/>
          </p:nvPr>
        </p:nvSpPr>
        <p:spPr>
          <a:xfrm>
            <a:off x="886500" y="1416925"/>
            <a:ext cx="7371000" cy="581400"/>
          </a:xfrm>
          <a:prstGeom prst="rect">
            <a:avLst/>
          </a:prstGeom>
        </p:spPr>
        <p:txBody>
          <a:bodyPr spcFirstLastPara="1" wrap="square" lIns="0" tIns="0" rIns="0" bIns="0" anchor="t" anchorCtr="0">
            <a:noAutofit/>
          </a:bodyPr>
          <a:lstStyle>
            <a:lvl1pPr lvl="0" algn="ctr" rtl="0">
              <a:spcBef>
                <a:spcPts val="0"/>
              </a:spcBef>
              <a:spcAft>
                <a:spcPts val="0"/>
              </a:spcAft>
              <a:buClr>
                <a:srgbClr val="0F2950"/>
              </a:buClr>
              <a:buSzPts val="3200"/>
              <a:buFont typeface="HiraKakuPro-W3"/>
              <a:buNone/>
              <a:defRPr sz="3200" b="0" i="0">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2pPr>
            <a:lvl3pPr lvl="2"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3pPr>
            <a:lvl4pPr lvl="3"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4pPr>
            <a:lvl5pPr lvl="4"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5pPr>
            <a:lvl6pPr lvl="5"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6pPr>
            <a:lvl7pPr lvl="6"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7pPr>
            <a:lvl8pPr lvl="7"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8pPr>
            <a:lvl9pPr lvl="8" algn="ctr" rtl="0">
              <a:spcBef>
                <a:spcPts val="0"/>
              </a:spcBef>
              <a:spcAft>
                <a:spcPts val="0"/>
              </a:spcAft>
              <a:buClr>
                <a:srgbClr val="0F2950"/>
              </a:buClr>
              <a:buSzPts val="5200"/>
              <a:buFont typeface="HiraKakuPro-W3"/>
              <a:buNone/>
              <a:defRPr sz="5200">
                <a:solidFill>
                  <a:srgbClr val="0F2950"/>
                </a:solidFill>
                <a:latin typeface="HiraKakuPro-W3"/>
                <a:ea typeface="HiraKakuPro-W3"/>
                <a:cs typeface="HiraKakuPro-W3"/>
                <a:sym typeface="HiraKakuPro-W3"/>
              </a:defRPr>
            </a:lvl9pPr>
          </a:lstStyle>
          <a:p>
            <a:endParaRPr/>
          </a:p>
        </p:txBody>
      </p:sp>
      <p:sp>
        <p:nvSpPr>
          <p:cNvPr id="19" name="Google Shape;19;p3"/>
          <p:cNvSpPr txBox="1">
            <a:spLocks noGrp="1"/>
          </p:cNvSpPr>
          <p:nvPr>
            <p:ph type="subTitle" idx="1"/>
          </p:nvPr>
        </p:nvSpPr>
        <p:spPr>
          <a:xfrm>
            <a:off x="886500" y="1049075"/>
            <a:ext cx="7371000" cy="2916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Clr>
                <a:srgbClr val="0F59B3"/>
              </a:buClr>
              <a:buSzPts val="1600"/>
              <a:buFont typeface="HiraKakuPro-W3"/>
              <a:buNone/>
              <a:defRPr sz="1600" b="0" i="0">
                <a:solidFill>
                  <a:srgbClr val="0F59B3"/>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2pPr>
            <a:lvl3pPr lvl="2"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3pPr>
            <a:lvl4pPr lvl="3"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4pPr>
            <a:lvl5pPr lvl="4"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5pPr>
            <a:lvl6pPr lvl="5"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6pPr>
            <a:lvl7pPr lvl="6"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7pPr>
            <a:lvl8pPr lvl="7"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8pPr>
            <a:lvl9pPr lvl="8" algn="ctr" rtl="0">
              <a:lnSpc>
                <a:spcPct val="100000"/>
              </a:lnSpc>
              <a:spcBef>
                <a:spcPts val="0"/>
              </a:spcBef>
              <a:spcAft>
                <a:spcPts val="0"/>
              </a:spcAft>
              <a:buSzPts val="2800"/>
              <a:buFont typeface="HiraKakuPro-W3"/>
              <a:buNone/>
              <a:defRPr sz="2800">
                <a:latin typeface="HiraKakuPro-W3"/>
                <a:ea typeface="HiraKakuPro-W3"/>
                <a:cs typeface="HiraKakuPro-W3"/>
                <a:sym typeface="HiraKakuPro-W3"/>
              </a:defRPr>
            </a:lvl9pPr>
          </a:lstStyle>
          <a:p>
            <a:endParaRPr/>
          </a:p>
        </p:txBody>
      </p:sp>
      <p:sp>
        <p:nvSpPr>
          <p:cNvPr id="20" name="Google Shape;20;p3"/>
          <p:cNvSpPr txBox="1"/>
          <p:nvPr/>
        </p:nvSpPr>
        <p:spPr>
          <a:xfrm>
            <a:off x="1669800" y="4744225"/>
            <a:ext cx="58044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800" b="0" i="0">
                <a:solidFill>
                  <a:srgbClr val="FFFFFF"/>
                </a:solidFill>
                <a:latin typeface="Meiryo UI" panose="020B0604030504040204" pitchFamily="34" charset="-128"/>
                <a:ea typeface="Meiryo UI" panose="020B0604030504040204" pitchFamily="34" charset="-128"/>
              </a:rPr>
              <a:t>©︎ ARアドバンストテクノロジ株式会社  All Rights Reserved.</a:t>
            </a:r>
            <a:endParaRPr sz="800" b="0" i="0">
              <a:solidFill>
                <a:srgbClr val="FFFFFF"/>
              </a:solidFill>
              <a:latin typeface="Meiryo UI" panose="020B0604030504040204" pitchFamily="34" charset="-128"/>
              <a:ea typeface="Meiryo UI" panose="020B0604030504040204" pitchFamily="34" charset="-128"/>
            </a:endParaRPr>
          </a:p>
        </p:txBody>
      </p:sp>
      <p:pic>
        <p:nvPicPr>
          <p:cNvPr id="21" name="Google Shape;21;p3"/>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834263" y="112400"/>
            <a:ext cx="1085012" cy="291600"/>
          </a:xfrm>
          <a:prstGeom prst="rect">
            <a:avLst/>
          </a:prstGeom>
          <a:noFill/>
          <a:ln>
            <a:noFill/>
          </a:ln>
        </p:spPr>
      </p:pic>
    </p:spTree>
  </p:cSld>
  <p:clrMapOvr>
    <a:masterClrMapping/>
  </p:clrMapOvr>
  <p:extLst>
    <p:ext uri="{DCECCB84-F9BA-43D5-87BE-67443E8EF086}">
      <p15:sldGuideLst xmlns:p15="http://schemas.microsoft.com/office/powerpoint/2012/main">
        <p15:guide id="1" pos="5510">
          <p15:clr>
            <a:srgbClr val="FA7B17"/>
          </p15:clr>
        </p15:guide>
        <p15:guide id="2" pos="248">
          <p15:clr>
            <a:srgbClr val="FA7B17"/>
          </p15:clr>
        </p15:guide>
        <p15:guide id="3" pos="5202">
          <p15:clr>
            <a:srgbClr val="FA7B17"/>
          </p15:clr>
        </p15:guide>
        <p15:guide id="4" pos="55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表紙_画像あり02">
  <p:cSld name="TITLE_1_1_1">
    <p:spTree>
      <p:nvGrpSpPr>
        <p:cNvPr id="1" name="Shape 22"/>
        <p:cNvGrpSpPr/>
        <p:nvPr/>
      </p:nvGrpSpPr>
      <p:grpSpPr>
        <a:xfrm>
          <a:off x="0" y="0"/>
          <a:ext cx="0" cy="0"/>
          <a:chOff x="0" y="0"/>
          <a:chExt cx="0" cy="0"/>
        </a:xfrm>
      </p:grpSpPr>
      <p:sp>
        <p:nvSpPr>
          <p:cNvPr id="23" name="Google Shape;23;p4"/>
          <p:cNvSpPr/>
          <p:nvPr/>
        </p:nvSpPr>
        <p:spPr>
          <a:xfrm>
            <a:off x="4572000" y="0"/>
            <a:ext cx="4572000" cy="5143500"/>
          </a:xfrm>
          <a:prstGeom prst="rect">
            <a:avLst/>
          </a:prstGeom>
          <a:solidFill>
            <a:srgbClr val="CFD4DC">
              <a:alpha val="896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0" i="0">
              <a:latin typeface="Meiryo UI" panose="020B0604030504040204" pitchFamily="34" charset="-128"/>
              <a:ea typeface="Meiryo UI" panose="020B0604030504040204" pitchFamily="34" charset="-128"/>
            </a:endParaRPr>
          </a:p>
        </p:txBody>
      </p:sp>
      <p:sp>
        <p:nvSpPr>
          <p:cNvPr id="24" name="Google Shape;24;p4"/>
          <p:cNvSpPr txBox="1">
            <a:spLocks noGrp="1"/>
          </p:cNvSpPr>
          <p:nvPr>
            <p:ph type="ctrTitle"/>
          </p:nvPr>
        </p:nvSpPr>
        <p:spPr>
          <a:xfrm>
            <a:off x="387900" y="2089959"/>
            <a:ext cx="3741900" cy="581400"/>
          </a:xfrm>
          <a:prstGeom prst="rect">
            <a:avLst/>
          </a:prstGeom>
        </p:spPr>
        <p:txBody>
          <a:bodyPr spcFirstLastPara="1" wrap="square" lIns="0" tIns="0" rIns="0" bIns="0" anchor="t" anchorCtr="0">
            <a:noAutofit/>
          </a:bodyPr>
          <a:lstStyle>
            <a:lvl1pPr lvl="0" rtl="0">
              <a:spcBef>
                <a:spcPts val="0"/>
              </a:spcBef>
              <a:spcAft>
                <a:spcPts val="0"/>
              </a:spcAft>
              <a:buClr>
                <a:srgbClr val="0F2950"/>
              </a:buClr>
              <a:buSzPts val="2800"/>
              <a:buFont typeface="HiraKakuPro-W3"/>
              <a:buNone/>
              <a:defRPr b="0" i="0">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rtl="0">
              <a:spcBef>
                <a:spcPts val="0"/>
              </a:spcBef>
              <a:spcAft>
                <a:spcPts val="0"/>
              </a:spcAft>
              <a:buClr>
                <a:srgbClr val="0F2950"/>
              </a:buClr>
              <a:buSzPts val="5200"/>
              <a:buNone/>
              <a:defRPr sz="5200">
                <a:solidFill>
                  <a:srgbClr val="0F2950"/>
                </a:solidFill>
              </a:defRPr>
            </a:lvl2pPr>
            <a:lvl3pPr lvl="2" rtl="0">
              <a:spcBef>
                <a:spcPts val="0"/>
              </a:spcBef>
              <a:spcAft>
                <a:spcPts val="0"/>
              </a:spcAft>
              <a:buClr>
                <a:srgbClr val="0F2950"/>
              </a:buClr>
              <a:buSzPts val="5200"/>
              <a:buNone/>
              <a:defRPr sz="5200">
                <a:solidFill>
                  <a:srgbClr val="0F2950"/>
                </a:solidFill>
              </a:defRPr>
            </a:lvl3pPr>
            <a:lvl4pPr lvl="3" rtl="0">
              <a:spcBef>
                <a:spcPts val="0"/>
              </a:spcBef>
              <a:spcAft>
                <a:spcPts val="0"/>
              </a:spcAft>
              <a:buClr>
                <a:srgbClr val="0F2950"/>
              </a:buClr>
              <a:buSzPts val="5200"/>
              <a:buNone/>
              <a:defRPr sz="5200">
                <a:solidFill>
                  <a:srgbClr val="0F2950"/>
                </a:solidFill>
              </a:defRPr>
            </a:lvl4pPr>
            <a:lvl5pPr lvl="4" rtl="0">
              <a:spcBef>
                <a:spcPts val="0"/>
              </a:spcBef>
              <a:spcAft>
                <a:spcPts val="0"/>
              </a:spcAft>
              <a:buClr>
                <a:srgbClr val="0F2950"/>
              </a:buClr>
              <a:buSzPts val="5200"/>
              <a:buNone/>
              <a:defRPr sz="5200">
                <a:solidFill>
                  <a:srgbClr val="0F2950"/>
                </a:solidFill>
              </a:defRPr>
            </a:lvl5pPr>
            <a:lvl6pPr lvl="5" rtl="0">
              <a:spcBef>
                <a:spcPts val="0"/>
              </a:spcBef>
              <a:spcAft>
                <a:spcPts val="0"/>
              </a:spcAft>
              <a:buClr>
                <a:srgbClr val="0F2950"/>
              </a:buClr>
              <a:buSzPts val="5200"/>
              <a:buNone/>
              <a:defRPr sz="5200">
                <a:solidFill>
                  <a:srgbClr val="0F2950"/>
                </a:solidFill>
              </a:defRPr>
            </a:lvl6pPr>
            <a:lvl7pPr lvl="6" rtl="0">
              <a:spcBef>
                <a:spcPts val="0"/>
              </a:spcBef>
              <a:spcAft>
                <a:spcPts val="0"/>
              </a:spcAft>
              <a:buClr>
                <a:srgbClr val="0F2950"/>
              </a:buClr>
              <a:buSzPts val="5200"/>
              <a:buNone/>
              <a:defRPr sz="5200">
                <a:solidFill>
                  <a:srgbClr val="0F2950"/>
                </a:solidFill>
              </a:defRPr>
            </a:lvl7pPr>
            <a:lvl8pPr lvl="7" rtl="0">
              <a:spcBef>
                <a:spcPts val="0"/>
              </a:spcBef>
              <a:spcAft>
                <a:spcPts val="0"/>
              </a:spcAft>
              <a:buClr>
                <a:srgbClr val="0F2950"/>
              </a:buClr>
              <a:buSzPts val="5200"/>
              <a:buNone/>
              <a:defRPr sz="5200">
                <a:solidFill>
                  <a:srgbClr val="0F2950"/>
                </a:solidFill>
              </a:defRPr>
            </a:lvl8pPr>
            <a:lvl9pPr lvl="8" rtl="0">
              <a:spcBef>
                <a:spcPts val="0"/>
              </a:spcBef>
              <a:spcAft>
                <a:spcPts val="0"/>
              </a:spcAft>
              <a:buClr>
                <a:srgbClr val="0F2950"/>
              </a:buClr>
              <a:buSzPts val="5200"/>
              <a:buNone/>
              <a:defRPr sz="5200">
                <a:solidFill>
                  <a:srgbClr val="0F2950"/>
                </a:solidFill>
              </a:defRPr>
            </a:lvl9pPr>
          </a:lstStyle>
          <a:p>
            <a:endParaRPr/>
          </a:p>
        </p:txBody>
      </p:sp>
      <p:sp>
        <p:nvSpPr>
          <p:cNvPr id="25" name="Google Shape;25;p4"/>
          <p:cNvSpPr txBox="1">
            <a:spLocks noGrp="1"/>
          </p:cNvSpPr>
          <p:nvPr>
            <p:ph type="subTitle" idx="1"/>
          </p:nvPr>
        </p:nvSpPr>
        <p:spPr>
          <a:xfrm>
            <a:off x="387900" y="1767958"/>
            <a:ext cx="3741900" cy="393600"/>
          </a:xfrm>
          <a:prstGeom prst="rect">
            <a:avLst/>
          </a:prstGeom>
        </p:spPr>
        <p:txBody>
          <a:bodyPr spcFirstLastPara="1" wrap="square" lIns="0" tIns="0" rIns="0" bIns="0" anchor="t" anchorCtr="0">
            <a:noAutofit/>
          </a:bodyPr>
          <a:lstStyle>
            <a:lvl1pPr lvl="0" rtl="0">
              <a:lnSpc>
                <a:spcPct val="100000"/>
              </a:lnSpc>
              <a:spcBef>
                <a:spcPts val="0"/>
              </a:spcBef>
              <a:spcAft>
                <a:spcPts val="0"/>
              </a:spcAft>
              <a:buClr>
                <a:srgbClr val="0F59B3"/>
              </a:buClr>
              <a:buSzPts val="1500"/>
              <a:buFont typeface="HiraKakuPro-W3"/>
              <a:buNone/>
              <a:defRPr sz="1500" b="0" i="0">
                <a:solidFill>
                  <a:srgbClr val="0F59B3"/>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26" name="Google Shape;26;p4"/>
          <p:cNvSpPr txBox="1"/>
          <p:nvPr/>
        </p:nvSpPr>
        <p:spPr>
          <a:xfrm>
            <a:off x="311700" y="4796297"/>
            <a:ext cx="5804400" cy="26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800" b="0" i="0">
                <a:solidFill>
                  <a:srgbClr val="CFD4DC"/>
                </a:solidFill>
                <a:latin typeface="Meiryo UI" panose="020B0604030504040204" pitchFamily="34" charset="-128"/>
                <a:ea typeface="Meiryo UI" panose="020B0604030504040204" pitchFamily="34" charset="-128"/>
              </a:rPr>
              <a:t>©︎ ARアドバンストテクノロジ株式会社  All Rights Reserved.</a:t>
            </a:r>
            <a:endParaRPr sz="800" b="0" i="0">
              <a:solidFill>
                <a:srgbClr val="CFD4DC"/>
              </a:solidFill>
              <a:latin typeface="Meiryo UI" panose="020B0604030504040204" pitchFamily="34" charset="-128"/>
              <a:ea typeface="Meiryo UI" panose="020B0604030504040204" pitchFamily="34" charset="-128"/>
            </a:endParaRPr>
          </a:p>
        </p:txBody>
      </p:sp>
      <p:sp>
        <p:nvSpPr>
          <p:cNvPr id="27" name="Google Shape;27;p4"/>
          <p:cNvSpPr txBox="1">
            <a:spLocks noGrp="1"/>
          </p:cNvSpPr>
          <p:nvPr>
            <p:ph type="sldNum" idx="12"/>
          </p:nvPr>
        </p:nvSpPr>
        <p:spPr>
          <a:xfrm>
            <a:off x="8472458" y="4749892"/>
            <a:ext cx="548700" cy="393600"/>
          </a:xfrm>
          <a:prstGeom prst="rect">
            <a:avLst/>
          </a:prstGeom>
        </p:spPr>
        <p:txBody>
          <a:bodyPr spcFirstLastPara="1" wrap="square" lIns="91425" tIns="91425" rIns="91425" bIns="91425" anchor="ctr" anchorCtr="0">
            <a:noAutofit/>
          </a:bodyPr>
          <a:lstStyle>
            <a:lvl1pPr lvl="0" rtl="0">
              <a:buNone/>
              <a:defRPr b="0" i="0">
                <a:solidFill>
                  <a:srgbClr val="939EAF"/>
                </a:solidFill>
              </a:defRPr>
            </a:lvl1pPr>
            <a:lvl2pPr lvl="1" rtl="0">
              <a:buNone/>
              <a:defRPr>
                <a:solidFill>
                  <a:srgbClr val="939EAF"/>
                </a:solidFill>
              </a:defRPr>
            </a:lvl2pPr>
            <a:lvl3pPr lvl="2" rtl="0">
              <a:buNone/>
              <a:defRPr>
                <a:solidFill>
                  <a:srgbClr val="939EAF"/>
                </a:solidFill>
              </a:defRPr>
            </a:lvl3pPr>
            <a:lvl4pPr lvl="3" rtl="0">
              <a:buNone/>
              <a:defRPr>
                <a:solidFill>
                  <a:srgbClr val="939EAF"/>
                </a:solidFill>
              </a:defRPr>
            </a:lvl4pPr>
            <a:lvl5pPr lvl="4" rtl="0">
              <a:buNone/>
              <a:defRPr>
                <a:solidFill>
                  <a:srgbClr val="939EAF"/>
                </a:solidFill>
              </a:defRPr>
            </a:lvl5pPr>
            <a:lvl6pPr lvl="5" rtl="0">
              <a:buNone/>
              <a:defRPr>
                <a:solidFill>
                  <a:srgbClr val="939EAF"/>
                </a:solidFill>
              </a:defRPr>
            </a:lvl6pPr>
            <a:lvl7pPr lvl="6" rtl="0">
              <a:buNone/>
              <a:defRPr>
                <a:solidFill>
                  <a:srgbClr val="939EAF"/>
                </a:solidFill>
              </a:defRPr>
            </a:lvl7pPr>
            <a:lvl8pPr lvl="7" rtl="0">
              <a:buNone/>
              <a:defRPr>
                <a:solidFill>
                  <a:srgbClr val="939EAF"/>
                </a:solidFill>
              </a:defRPr>
            </a:lvl8pPr>
            <a:lvl9pPr lvl="8" rtl="0">
              <a:buNone/>
              <a:defRPr>
                <a:solidFill>
                  <a:srgbClr val="939EAF"/>
                </a:solidFill>
              </a:defRPr>
            </a:lvl9pPr>
          </a:lstStyle>
          <a:p>
            <a:fld id="{00000000-1234-1234-1234-123412341234}" type="slidenum">
              <a:rPr lang="en-US" altLang="ja" smtClean="0"/>
              <a:pPr/>
              <a:t>‹#›</a:t>
            </a:fld>
            <a:endParaRPr lang="ja" altLang="en-US"/>
          </a:p>
        </p:txBody>
      </p:sp>
      <p:pic>
        <p:nvPicPr>
          <p:cNvPr id="28" name="Google Shape;28;p4"/>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503288" y="738550"/>
            <a:ext cx="1085012" cy="291600"/>
          </a:xfrm>
          <a:prstGeom prst="rect">
            <a:avLst/>
          </a:prstGeom>
          <a:noFill/>
          <a:ln>
            <a:noFill/>
          </a:ln>
        </p:spPr>
      </p:pic>
    </p:spTree>
  </p:cSld>
  <p:clrMapOvr>
    <a:masterClrMapping/>
  </p:clrMapOvr>
  <p:extLst>
    <p:ext uri="{DCECCB84-F9BA-43D5-87BE-67443E8EF086}">
      <p15:sldGuideLst xmlns:p15="http://schemas.microsoft.com/office/powerpoint/2012/main">
        <p15:guide id="1" pos="248">
          <p15:clr>
            <a:srgbClr val="FA7B17"/>
          </p15:clr>
        </p15:guide>
        <p15:guide id="2" pos="5512">
          <p15:clr>
            <a:srgbClr val="FA7B17"/>
          </p15:clr>
        </p15:guide>
        <p15:guide id="3" pos="2603">
          <p15:clr>
            <a:srgbClr val="FA7B17"/>
          </p15:clr>
        </p15:guide>
        <p15:guide id="4" pos="2880">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5"/>
        <p:cNvGrpSpPr/>
        <p:nvPr/>
      </p:nvGrpSpPr>
      <p:grpSpPr>
        <a:xfrm>
          <a:off x="0" y="0"/>
          <a:ext cx="0" cy="0"/>
          <a:chOff x="0" y="0"/>
          <a:chExt cx="0" cy="0"/>
        </a:xfrm>
      </p:grpSpPr>
      <p:sp>
        <p:nvSpPr>
          <p:cNvPr id="36" name="Google Shape;36;p6"/>
          <p:cNvSpPr txBox="1">
            <a:spLocks noGrp="1"/>
          </p:cNvSpPr>
          <p:nvPr>
            <p:ph type="body" idx="1"/>
          </p:nvPr>
        </p:nvSpPr>
        <p:spPr>
          <a:xfrm>
            <a:off x="643500" y="1475950"/>
            <a:ext cx="7857000" cy="3344400"/>
          </a:xfrm>
          <a:prstGeom prst="rect">
            <a:avLst/>
          </a:prstGeom>
        </p:spPr>
        <p:txBody>
          <a:bodyPr spcFirstLastPara="1" wrap="square" lIns="0" tIns="0" rIns="0" bIns="0" anchor="t" anchorCtr="0">
            <a:noAutofit/>
          </a:bodyPr>
          <a:lstStyle>
            <a:lvl1pPr marL="457200" lvl="0" indent="-304800" rtl="0">
              <a:lnSpc>
                <a:spcPct val="125000"/>
              </a:lnSpc>
              <a:spcBef>
                <a:spcPts val="0"/>
              </a:spcBef>
              <a:spcAft>
                <a:spcPts val="0"/>
              </a:spcAft>
              <a:buSzPts val="1200"/>
              <a:buChar char="●"/>
              <a:defRPr sz="1200" b="0" i="0"/>
            </a:lvl1pPr>
            <a:lvl2pPr marL="914400" lvl="1" indent="-304800" rtl="0">
              <a:lnSpc>
                <a:spcPct val="125000"/>
              </a:lnSpc>
              <a:spcBef>
                <a:spcPts val="1000"/>
              </a:spcBef>
              <a:spcAft>
                <a:spcPts val="0"/>
              </a:spcAft>
              <a:buSzPts val="1200"/>
              <a:buChar char="○"/>
              <a:defRPr sz="1200"/>
            </a:lvl2pPr>
            <a:lvl3pPr marL="1371600" lvl="2" indent="-304800" rtl="0">
              <a:lnSpc>
                <a:spcPct val="125000"/>
              </a:lnSpc>
              <a:spcBef>
                <a:spcPts val="1000"/>
              </a:spcBef>
              <a:spcAft>
                <a:spcPts val="0"/>
              </a:spcAft>
              <a:buSzPts val="1200"/>
              <a:buChar char="■"/>
              <a:defRPr sz="1200"/>
            </a:lvl3pPr>
            <a:lvl4pPr marL="1828800" lvl="3" indent="-304800" rtl="0">
              <a:lnSpc>
                <a:spcPct val="125000"/>
              </a:lnSpc>
              <a:spcBef>
                <a:spcPts val="1000"/>
              </a:spcBef>
              <a:spcAft>
                <a:spcPts val="0"/>
              </a:spcAft>
              <a:buSzPts val="1200"/>
              <a:buChar char="●"/>
              <a:defRPr sz="1200"/>
            </a:lvl4pPr>
            <a:lvl5pPr marL="2286000" lvl="4" indent="-304800" rtl="0">
              <a:lnSpc>
                <a:spcPct val="125000"/>
              </a:lnSpc>
              <a:spcBef>
                <a:spcPts val="1000"/>
              </a:spcBef>
              <a:spcAft>
                <a:spcPts val="0"/>
              </a:spcAft>
              <a:buSzPts val="1200"/>
              <a:buChar char="○"/>
              <a:defRPr sz="1200"/>
            </a:lvl5pPr>
            <a:lvl6pPr marL="2743200" lvl="5" indent="-304800" rtl="0">
              <a:lnSpc>
                <a:spcPct val="125000"/>
              </a:lnSpc>
              <a:spcBef>
                <a:spcPts val="1000"/>
              </a:spcBef>
              <a:spcAft>
                <a:spcPts val="0"/>
              </a:spcAft>
              <a:buSzPts val="1200"/>
              <a:buChar char="■"/>
              <a:defRPr sz="1200"/>
            </a:lvl6pPr>
            <a:lvl7pPr marL="3200400" lvl="6" indent="-304800" rtl="0">
              <a:lnSpc>
                <a:spcPct val="125000"/>
              </a:lnSpc>
              <a:spcBef>
                <a:spcPts val="1000"/>
              </a:spcBef>
              <a:spcAft>
                <a:spcPts val="0"/>
              </a:spcAft>
              <a:buSzPts val="1200"/>
              <a:buChar char="●"/>
              <a:defRPr sz="1200"/>
            </a:lvl7pPr>
            <a:lvl8pPr marL="3657600" lvl="7" indent="-304800" rtl="0">
              <a:lnSpc>
                <a:spcPct val="125000"/>
              </a:lnSpc>
              <a:spcBef>
                <a:spcPts val="1000"/>
              </a:spcBef>
              <a:spcAft>
                <a:spcPts val="0"/>
              </a:spcAft>
              <a:buSzPts val="1200"/>
              <a:buChar char="○"/>
              <a:defRPr sz="1200"/>
            </a:lvl8pPr>
            <a:lvl9pPr marL="4114800" lvl="8" indent="-304800" rtl="0">
              <a:lnSpc>
                <a:spcPct val="125000"/>
              </a:lnSpc>
              <a:spcBef>
                <a:spcPts val="1000"/>
              </a:spcBef>
              <a:spcAft>
                <a:spcPts val="1000"/>
              </a:spcAft>
              <a:buSzPts val="1200"/>
              <a:buChar char="■"/>
              <a:defRPr sz="1200"/>
            </a:lvl9pPr>
          </a:lstStyle>
          <a:p>
            <a:endParaRPr/>
          </a:p>
        </p:txBody>
      </p:sp>
      <p:sp>
        <p:nvSpPr>
          <p:cNvPr id="37" name="Google Shape;37;p6"/>
          <p:cNvSpPr txBox="1">
            <a:spLocks noGrp="1"/>
          </p:cNvSpPr>
          <p:nvPr>
            <p:ph type="subTitle" idx="2"/>
          </p:nvPr>
        </p:nvSpPr>
        <p:spPr>
          <a:xfrm>
            <a:off x="643500" y="989700"/>
            <a:ext cx="7857000" cy="393600"/>
          </a:xfrm>
          <a:prstGeom prst="rect">
            <a:avLst/>
          </a:prstGeom>
        </p:spPr>
        <p:txBody>
          <a:bodyPr spcFirstLastPara="1" wrap="square" lIns="0" tIns="0" rIns="0" bIns="0" anchor="t" anchorCtr="0">
            <a:noAutofit/>
          </a:bodyPr>
          <a:lstStyle>
            <a:lvl1pPr lvl="0" rtl="0">
              <a:spcBef>
                <a:spcPts val="0"/>
              </a:spcBef>
              <a:spcAft>
                <a:spcPts val="0"/>
              </a:spcAft>
              <a:buNone/>
              <a:defRPr b="0" i="0">
                <a:solidFill>
                  <a:srgbClr val="0F2950"/>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39" name="Google Shape;39;p6"/>
          <p:cNvSpPr txBox="1"/>
          <p:nvPr/>
        </p:nvSpPr>
        <p:spPr>
          <a:xfrm>
            <a:off x="145525" y="4796297"/>
            <a:ext cx="5804400" cy="26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800" b="0" i="0">
                <a:solidFill>
                  <a:srgbClr val="CFD4DC"/>
                </a:solidFill>
                <a:latin typeface="Meiryo UI" panose="020B0604030504040204" pitchFamily="34" charset="-128"/>
                <a:ea typeface="Meiryo UI" panose="020B0604030504040204" pitchFamily="34" charset="-128"/>
              </a:rPr>
              <a:t>©︎ ARアドバンストテクノロジ株式会社 All Rights Reserved.</a:t>
            </a:r>
            <a:endParaRPr sz="800" b="0" i="0">
              <a:solidFill>
                <a:srgbClr val="CFD4DC"/>
              </a:solidFill>
              <a:latin typeface="Meiryo UI" panose="020B0604030504040204" pitchFamily="34" charset="-128"/>
              <a:ea typeface="Meiryo UI" panose="020B0604030504040204" pitchFamily="34" charset="-128"/>
            </a:endParaRPr>
          </a:p>
        </p:txBody>
      </p:sp>
      <p:sp>
        <p:nvSpPr>
          <p:cNvPr id="40" name="Google Shape;40;p6"/>
          <p:cNvSpPr txBox="1">
            <a:spLocks noGrp="1"/>
          </p:cNvSpPr>
          <p:nvPr>
            <p:ph type="title"/>
          </p:nvPr>
        </p:nvSpPr>
        <p:spPr>
          <a:xfrm>
            <a:off x="228600" y="57150"/>
            <a:ext cx="7163400" cy="526800"/>
          </a:xfrm>
          <a:prstGeom prst="rect">
            <a:avLst/>
          </a:prstGeom>
        </p:spPr>
        <p:txBody>
          <a:bodyPr spcFirstLastPara="1" wrap="square" lIns="0" tIns="0" rIns="0" bIns="0" anchor="ctr" anchorCtr="0">
            <a:noAutofit/>
          </a:bodyPr>
          <a:lstStyle>
            <a:lvl1pPr lvl="0" rtl="0">
              <a:spcBef>
                <a:spcPts val="0"/>
              </a:spcBef>
              <a:spcAft>
                <a:spcPts val="0"/>
              </a:spcAft>
              <a:buClr>
                <a:srgbClr val="0F2950"/>
              </a:buClr>
              <a:buSzPts val="1400"/>
              <a:buFont typeface="HiraKakuPro-W3"/>
              <a:buNone/>
              <a:defRPr sz="1400" b="0" i="0">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algn="ctr" rtl="0">
              <a:spcBef>
                <a:spcPts val="0"/>
              </a:spcBef>
              <a:spcAft>
                <a:spcPts val="0"/>
              </a:spcAft>
              <a:buClr>
                <a:srgbClr val="0F2950"/>
              </a:buClr>
              <a:buSzPts val="3600"/>
              <a:buNone/>
              <a:defRPr sz="3600" b="1">
                <a:solidFill>
                  <a:srgbClr val="0F2950"/>
                </a:solidFill>
              </a:defRPr>
            </a:lvl2pPr>
            <a:lvl3pPr lvl="2" algn="ctr" rtl="0">
              <a:spcBef>
                <a:spcPts val="0"/>
              </a:spcBef>
              <a:spcAft>
                <a:spcPts val="0"/>
              </a:spcAft>
              <a:buClr>
                <a:srgbClr val="0F2950"/>
              </a:buClr>
              <a:buSzPts val="3600"/>
              <a:buNone/>
              <a:defRPr sz="3600" b="1">
                <a:solidFill>
                  <a:srgbClr val="0F2950"/>
                </a:solidFill>
              </a:defRPr>
            </a:lvl3pPr>
            <a:lvl4pPr lvl="3" algn="ctr" rtl="0">
              <a:spcBef>
                <a:spcPts val="0"/>
              </a:spcBef>
              <a:spcAft>
                <a:spcPts val="0"/>
              </a:spcAft>
              <a:buClr>
                <a:srgbClr val="0F2950"/>
              </a:buClr>
              <a:buSzPts val="3600"/>
              <a:buNone/>
              <a:defRPr sz="3600" b="1">
                <a:solidFill>
                  <a:srgbClr val="0F2950"/>
                </a:solidFill>
              </a:defRPr>
            </a:lvl4pPr>
            <a:lvl5pPr lvl="4" algn="ctr" rtl="0">
              <a:spcBef>
                <a:spcPts val="0"/>
              </a:spcBef>
              <a:spcAft>
                <a:spcPts val="0"/>
              </a:spcAft>
              <a:buClr>
                <a:srgbClr val="0F2950"/>
              </a:buClr>
              <a:buSzPts val="3600"/>
              <a:buNone/>
              <a:defRPr sz="3600" b="1">
                <a:solidFill>
                  <a:srgbClr val="0F2950"/>
                </a:solidFill>
              </a:defRPr>
            </a:lvl5pPr>
            <a:lvl6pPr lvl="5" algn="ctr" rtl="0">
              <a:spcBef>
                <a:spcPts val="0"/>
              </a:spcBef>
              <a:spcAft>
                <a:spcPts val="0"/>
              </a:spcAft>
              <a:buClr>
                <a:srgbClr val="0F2950"/>
              </a:buClr>
              <a:buSzPts val="3600"/>
              <a:buNone/>
              <a:defRPr sz="3600" b="1">
                <a:solidFill>
                  <a:srgbClr val="0F2950"/>
                </a:solidFill>
              </a:defRPr>
            </a:lvl6pPr>
            <a:lvl7pPr lvl="6" algn="ctr" rtl="0">
              <a:spcBef>
                <a:spcPts val="0"/>
              </a:spcBef>
              <a:spcAft>
                <a:spcPts val="0"/>
              </a:spcAft>
              <a:buClr>
                <a:srgbClr val="0F2950"/>
              </a:buClr>
              <a:buSzPts val="3600"/>
              <a:buNone/>
              <a:defRPr sz="3600" b="1">
                <a:solidFill>
                  <a:srgbClr val="0F2950"/>
                </a:solidFill>
              </a:defRPr>
            </a:lvl7pPr>
            <a:lvl8pPr lvl="7" algn="ctr" rtl="0">
              <a:spcBef>
                <a:spcPts val="0"/>
              </a:spcBef>
              <a:spcAft>
                <a:spcPts val="0"/>
              </a:spcAft>
              <a:buClr>
                <a:srgbClr val="0F2950"/>
              </a:buClr>
              <a:buSzPts val="3600"/>
              <a:buNone/>
              <a:defRPr sz="3600" b="1">
                <a:solidFill>
                  <a:srgbClr val="0F2950"/>
                </a:solidFill>
              </a:defRPr>
            </a:lvl8pPr>
            <a:lvl9pPr lvl="8" algn="ctr" rtl="0">
              <a:spcBef>
                <a:spcPts val="0"/>
              </a:spcBef>
              <a:spcAft>
                <a:spcPts val="0"/>
              </a:spcAft>
              <a:buClr>
                <a:srgbClr val="0F2950"/>
              </a:buClr>
              <a:buSzPts val="3600"/>
              <a:buNone/>
              <a:defRPr sz="3600" b="1">
                <a:solidFill>
                  <a:srgbClr val="0F2950"/>
                </a:solidFill>
              </a:defRPr>
            </a:lvl9pPr>
          </a:lstStyle>
          <a:p>
            <a:endParaRPr/>
          </a:p>
        </p:txBody>
      </p:sp>
      <p:cxnSp>
        <p:nvCxnSpPr>
          <p:cNvPr id="41" name="Google Shape;41;p6"/>
          <p:cNvCxnSpPr/>
          <p:nvPr/>
        </p:nvCxnSpPr>
        <p:spPr>
          <a:xfrm>
            <a:off x="0" y="628650"/>
            <a:ext cx="9163200" cy="0"/>
          </a:xfrm>
          <a:prstGeom prst="straightConnector1">
            <a:avLst/>
          </a:prstGeom>
          <a:noFill/>
          <a:ln w="19050" cap="flat" cmpd="sng">
            <a:solidFill>
              <a:srgbClr val="EFEFEF"/>
            </a:solidFill>
            <a:prstDash val="solid"/>
            <a:round/>
            <a:headEnd type="none" w="med" len="med"/>
            <a:tailEnd type="none" w="med" len="med"/>
          </a:ln>
        </p:spPr>
      </p:cxnSp>
      <p:pic>
        <p:nvPicPr>
          <p:cNvPr id="42" name="Google Shape;42;p6"/>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834263" y="112400"/>
            <a:ext cx="1085012" cy="291600"/>
          </a:xfrm>
          <a:prstGeom prst="rect">
            <a:avLst/>
          </a:prstGeom>
          <a:noFill/>
          <a:ln>
            <a:noFill/>
          </a:ln>
        </p:spPr>
      </p:pic>
      <p:sp>
        <p:nvSpPr>
          <p:cNvPr id="9" name="Google Shape;13;p2">
            <a:extLst>
              <a:ext uri="{FF2B5EF4-FFF2-40B4-BE49-F238E27FC236}">
                <a16:creationId xmlns:a16="http://schemas.microsoft.com/office/drawing/2014/main" id="{6B5ADBB3-25E2-ED47-A324-406E56E0EA7A}"/>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a:t>
            </a:fld>
            <a:endParaRPr lang="ja" altLang="en-US">
              <a:solidFill>
                <a:srgbClr val="4E5F7A"/>
              </a:solidFill>
            </a:endParaRPr>
          </a:p>
        </p:txBody>
      </p:sp>
    </p:spTree>
  </p:cSld>
  <p:clrMapOvr>
    <a:masterClrMapping/>
  </p:clrMapOvr>
  <p:extLst>
    <p:ext uri="{DCECCB84-F9BA-43D5-87BE-67443E8EF086}">
      <p15:sldGuideLst xmlns:p15="http://schemas.microsoft.com/office/powerpoint/2012/main">
        <p15:guide id="1" pos="248">
          <p15:clr>
            <a:srgbClr val="FA7B17"/>
          </p15:clr>
        </p15:guide>
        <p15:guide id="2" pos="5510">
          <p15:clr>
            <a:srgbClr val="FA7B17"/>
          </p15:clr>
        </p15:guide>
        <p15:guide id="3" orient="horz" pos="2992">
          <p15:clr>
            <a:srgbClr val="FA7B17"/>
          </p15:clr>
        </p15:guide>
        <p15:guide id="4" orient="horz" pos="580">
          <p15:clr>
            <a:srgbClr val="FA7B17"/>
          </p15:clr>
        </p15:guide>
        <p15:guide id="5" pos="5355">
          <p15:clr>
            <a:srgbClr val="FA7B17"/>
          </p15:clr>
        </p15:guide>
        <p15:guide id="6" pos="405">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3"/>
        <p:cNvGrpSpPr/>
        <p:nvPr/>
      </p:nvGrpSpPr>
      <p:grpSpPr>
        <a:xfrm>
          <a:off x="0" y="0"/>
          <a:ext cx="0" cy="0"/>
          <a:chOff x="0" y="0"/>
          <a:chExt cx="0" cy="0"/>
        </a:xfrm>
      </p:grpSpPr>
      <p:sp>
        <p:nvSpPr>
          <p:cNvPr id="44" name="Google Shape;44;p7"/>
          <p:cNvSpPr txBox="1">
            <a:spLocks noGrp="1"/>
          </p:cNvSpPr>
          <p:nvPr>
            <p:ph type="body" idx="1"/>
          </p:nvPr>
        </p:nvSpPr>
        <p:spPr>
          <a:xfrm>
            <a:off x="643500" y="1433050"/>
            <a:ext cx="3668100" cy="3387600"/>
          </a:xfrm>
          <a:prstGeom prst="rect">
            <a:avLst/>
          </a:prstGeom>
        </p:spPr>
        <p:txBody>
          <a:bodyPr spcFirstLastPara="1" wrap="square" lIns="0" tIns="0" rIns="0" bIns="0" anchor="t" anchorCtr="0">
            <a:noAutofit/>
          </a:bodyPr>
          <a:lstStyle>
            <a:lvl1pPr marL="457200" lvl="0" indent="-298450" rtl="0">
              <a:spcBef>
                <a:spcPts val="0"/>
              </a:spcBef>
              <a:spcAft>
                <a:spcPts val="0"/>
              </a:spcAft>
              <a:buSzPts val="1100"/>
              <a:buChar char="●"/>
              <a:defRPr sz="1100" b="0" i="0"/>
            </a:lvl1pPr>
            <a:lvl2pPr marL="914400" lvl="1" indent="-298450" rtl="0">
              <a:spcBef>
                <a:spcPts val="1600"/>
              </a:spcBef>
              <a:spcAft>
                <a:spcPts val="0"/>
              </a:spcAft>
              <a:buSzPts val="1100"/>
              <a:buChar char="○"/>
              <a:defRPr sz="1100"/>
            </a:lvl2pPr>
            <a:lvl3pPr marL="1371600" lvl="2" indent="-298450" rtl="0">
              <a:spcBef>
                <a:spcPts val="1600"/>
              </a:spcBef>
              <a:spcAft>
                <a:spcPts val="0"/>
              </a:spcAft>
              <a:buSzPts val="1100"/>
              <a:buChar char="■"/>
              <a:defRPr sz="1100"/>
            </a:lvl3pPr>
            <a:lvl4pPr marL="1828800" lvl="3" indent="-298450" rtl="0">
              <a:spcBef>
                <a:spcPts val="1600"/>
              </a:spcBef>
              <a:spcAft>
                <a:spcPts val="0"/>
              </a:spcAft>
              <a:buSzPts val="1100"/>
              <a:buChar char="●"/>
              <a:defRPr sz="1100"/>
            </a:lvl4pPr>
            <a:lvl5pPr marL="2286000" lvl="4" indent="-298450" rtl="0">
              <a:spcBef>
                <a:spcPts val="1600"/>
              </a:spcBef>
              <a:spcAft>
                <a:spcPts val="0"/>
              </a:spcAft>
              <a:buSzPts val="1100"/>
              <a:buChar char="○"/>
              <a:defRPr sz="1100"/>
            </a:lvl5pPr>
            <a:lvl6pPr marL="2743200" lvl="5" indent="-298450" rtl="0">
              <a:spcBef>
                <a:spcPts val="1600"/>
              </a:spcBef>
              <a:spcAft>
                <a:spcPts val="0"/>
              </a:spcAft>
              <a:buSzPts val="1100"/>
              <a:buChar char="■"/>
              <a:defRPr sz="1100"/>
            </a:lvl6pPr>
            <a:lvl7pPr marL="3200400" lvl="6" indent="-298450" rtl="0">
              <a:spcBef>
                <a:spcPts val="1600"/>
              </a:spcBef>
              <a:spcAft>
                <a:spcPts val="0"/>
              </a:spcAft>
              <a:buSzPts val="1100"/>
              <a:buChar char="●"/>
              <a:defRPr sz="1100"/>
            </a:lvl7pPr>
            <a:lvl8pPr marL="3657600" lvl="7" indent="-298450" rtl="0">
              <a:spcBef>
                <a:spcPts val="1600"/>
              </a:spcBef>
              <a:spcAft>
                <a:spcPts val="0"/>
              </a:spcAft>
              <a:buSzPts val="1100"/>
              <a:buChar char="○"/>
              <a:defRPr sz="1100"/>
            </a:lvl8pPr>
            <a:lvl9pPr marL="4114800" lvl="8" indent="-298450" rtl="0">
              <a:spcBef>
                <a:spcPts val="1600"/>
              </a:spcBef>
              <a:spcAft>
                <a:spcPts val="1600"/>
              </a:spcAft>
              <a:buSzPts val="1100"/>
              <a:buChar char="■"/>
              <a:defRPr sz="1100"/>
            </a:lvl9pPr>
          </a:lstStyle>
          <a:p>
            <a:endParaRPr/>
          </a:p>
        </p:txBody>
      </p:sp>
      <p:sp>
        <p:nvSpPr>
          <p:cNvPr id="45" name="Google Shape;45;p7"/>
          <p:cNvSpPr txBox="1">
            <a:spLocks noGrp="1"/>
          </p:cNvSpPr>
          <p:nvPr>
            <p:ph type="body" idx="2"/>
          </p:nvPr>
        </p:nvSpPr>
        <p:spPr>
          <a:xfrm>
            <a:off x="4828800" y="1433152"/>
            <a:ext cx="3668100" cy="3387600"/>
          </a:xfrm>
          <a:prstGeom prst="rect">
            <a:avLst/>
          </a:prstGeom>
        </p:spPr>
        <p:txBody>
          <a:bodyPr spcFirstLastPara="1" wrap="square" lIns="0" tIns="0" rIns="0" bIns="0" anchor="t" anchorCtr="0">
            <a:noAutofit/>
          </a:bodyPr>
          <a:lstStyle>
            <a:lvl1pPr marL="457200" lvl="0" indent="-298450" rtl="0">
              <a:spcBef>
                <a:spcPts val="0"/>
              </a:spcBef>
              <a:spcAft>
                <a:spcPts val="0"/>
              </a:spcAft>
              <a:buSzPts val="1100"/>
              <a:buChar char="●"/>
              <a:defRPr sz="1100" b="0" i="0"/>
            </a:lvl1pPr>
            <a:lvl2pPr marL="914400" lvl="1" indent="-298450" rtl="0">
              <a:spcBef>
                <a:spcPts val="1600"/>
              </a:spcBef>
              <a:spcAft>
                <a:spcPts val="0"/>
              </a:spcAft>
              <a:buSzPts val="1100"/>
              <a:buChar char="○"/>
              <a:defRPr sz="1100"/>
            </a:lvl2pPr>
            <a:lvl3pPr marL="1371600" lvl="2" indent="-298450" rtl="0">
              <a:spcBef>
                <a:spcPts val="1600"/>
              </a:spcBef>
              <a:spcAft>
                <a:spcPts val="0"/>
              </a:spcAft>
              <a:buSzPts val="1100"/>
              <a:buChar char="■"/>
              <a:defRPr sz="1100"/>
            </a:lvl3pPr>
            <a:lvl4pPr marL="1828800" lvl="3" indent="-298450" rtl="0">
              <a:spcBef>
                <a:spcPts val="1600"/>
              </a:spcBef>
              <a:spcAft>
                <a:spcPts val="0"/>
              </a:spcAft>
              <a:buSzPts val="1100"/>
              <a:buChar char="●"/>
              <a:defRPr sz="1100"/>
            </a:lvl4pPr>
            <a:lvl5pPr marL="2286000" lvl="4" indent="-298450" rtl="0">
              <a:spcBef>
                <a:spcPts val="1600"/>
              </a:spcBef>
              <a:spcAft>
                <a:spcPts val="0"/>
              </a:spcAft>
              <a:buSzPts val="1100"/>
              <a:buChar char="○"/>
              <a:defRPr sz="1100"/>
            </a:lvl5pPr>
            <a:lvl6pPr marL="2743200" lvl="5" indent="-298450" rtl="0">
              <a:spcBef>
                <a:spcPts val="1600"/>
              </a:spcBef>
              <a:spcAft>
                <a:spcPts val="0"/>
              </a:spcAft>
              <a:buSzPts val="1100"/>
              <a:buChar char="■"/>
              <a:defRPr sz="1100"/>
            </a:lvl6pPr>
            <a:lvl7pPr marL="3200400" lvl="6" indent="-298450" rtl="0">
              <a:spcBef>
                <a:spcPts val="1600"/>
              </a:spcBef>
              <a:spcAft>
                <a:spcPts val="0"/>
              </a:spcAft>
              <a:buSzPts val="1100"/>
              <a:buChar char="●"/>
              <a:defRPr sz="1100"/>
            </a:lvl7pPr>
            <a:lvl8pPr marL="3657600" lvl="7" indent="-298450" rtl="0">
              <a:spcBef>
                <a:spcPts val="1600"/>
              </a:spcBef>
              <a:spcAft>
                <a:spcPts val="0"/>
              </a:spcAft>
              <a:buSzPts val="1100"/>
              <a:buChar char="○"/>
              <a:defRPr sz="1100"/>
            </a:lvl8pPr>
            <a:lvl9pPr marL="4114800" lvl="8" indent="-298450" rtl="0">
              <a:spcBef>
                <a:spcPts val="1600"/>
              </a:spcBef>
              <a:spcAft>
                <a:spcPts val="1600"/>
              </a:spcAft>
              <a:buSzPts val="1100"/>
              <a:buChar char="■"/>
              <a:defRPr sz="1100"/>
            </a:lvl9pPr>
          </a:lstStyle>
          <a:p>
            <a:endParaRPr/>
          </a:p>
        </p:txBody>
      </p:sp>
      <p:sp>
        <p:nvSpPr>
          <p:cNvPr id="46" name="Google Shape;46;p7"/>
          <p:cNvSpPr txBox="1">
            <a:spLocks noGrp="1"/>
          </p:cNvSpPr>
          <p:nvPr>
            <p:ph type="subTitle" idx="3"/>
          </p:nvPr>
        </p:nvSpPr>
        <p:spPr>
          <a:xfrm>
            <a:off x="643500" y="989700"/>
            <a:ext cx="7857000" cy="393600"/>
          </a:xfrm>
          <a:prstGeom prst="rect">
            <a:avLst/>
          </a:prstGeom>
        </p:spPr>
        <p:txBody>
          <a:bodyPr spcFirstLastPara="1" wrap="square" lIns="0" tIns="0" rIns="0" bIns="0" anchor="t" anchorCtr="0">
            <a:noAutofit/>
          </a:bodyPr>
          <a:lstStyle>
            <a:lvl1pPr lvl="0" rtl="0">
              <a:spcBef>
                <a:spcPts val="0"/>
              </a:spcBef>
              <a:spcAft>
                <a:spcPts val="0"/>
              </a:spcAft>
              <a:buNone/>
              <a:defRPr b="0" i="0">
                <a:solidFill>
                  <a:srgbClr val="0F2950"/>
                </a:solidFill>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47" name="Google Shape;47;p7"/>
          <p:cNvSpPr txBox="1">
            <a:spLocks noGrp="1"/>
          </p:cNvSpPr>
          <p:nvPr>
            <p:ph type="sldNum" idx="12"/>
          </p:nvPr>
        </p:nvSpPr>
        <p:spPr>
          <a:xfrm>
            <a:off x="8472458" y="4749892"/>
            <a:ext cx="548700" cy="393600"/>
          </a:xfrm>
          <a:prstGeom prst="rect">
            <a:avLst/>
          </a:prstGeom>
        </p:spPr>
        <p:txBody>
          <a:bodyPr spcFirstLastPara="1" wrap="square" lIns="91425" tIns="91425" rIns="91425" bIns="91425" anchor="ctr" anchorCtr="0">
            <a:noAutofit/>
          </a:bodyPr>
          <a:lstStyle>
            <a:lvl1pPr lvl="0" rtl="0">
              <a:buNone/>
              <a:defRPr b="0" i="0">
                <a:solidFill>
                  <a:srgbClr val="939EAF"/>
                </a:solidFill>
              </a:defRPr>
            </a:lvl1pPr>
            <a:lvl2pPr lvl="1" rtl="0">
              <a:buNone/>
              <a:defRPr>
                <a:solidFill>
                  <a:srgbClr val="939EAF"/>
                </a:solidFill>
              </a:defRPr>
            </a:lvl2pPr>
            <a:lvl3pPr lvl="2" rtl="0">
              <a:buNone/>
              <a:defRPr>
                <a:solidFill>
                  <a:srgbClr val="939EAF"/>
                </a:solidFill>
              </a:defRPr>
            </a:lvl3pPr>
            <a:lvl4pPr lvl="3" rtl="0">
              <a:buNone/>
              <a:defRPr>
                <a:solidFill>
                  <a:srgbClr val="939EAF"/>
                </a:solidFill>
              </a:defRPr>
            </a:lvl4pPr>
            <a:lvl5pPr lvl="4" rtl="0">
              <a:buNone/>
              <a:defRPr>
                <a:solidFill>
                  <a:srgbClr val="939EAF"/>
                </a:solidFill>
              </a:defRPr>
            </a:lvl5pPr>
            <a:lvl6pPr lvl="5" rtl="0">
              <a:buNone/>
              <a:defRPr>
                <a:solidFill>
                  <a:srgbClr val="939EAF"/>
                </a:solidFill>
              </a:defRPr>
            </a:lvl6pPr>
            <a:lvl7pPr lvl="6" rtl="0">
              <a:buNone/>
              <a:defRPr>
                <a:solidFill>
                  <a:srgbClr val="939EAF"/>
                </a:solidFill>
              </a:defRPr>
            </a:lvl7pPr>
            <a:lvl8pPr lvl="7" rtl="0">
              <a:buNone/>
              <a:defRPr>
                <a:solidFill>
                  <a:srgbClr val="939EAF"/>
                </a:solidFill>
              </a:defRPr>
            </a:lvl8pPr>
            <a:lvl9pPr lvl="8" rtl="0">
              <a:buNone/>
              <a:defRPr>
                <a:solidFill>
                  <a:srgbClr val="939EAF"/>
                </a:solidFill>
              </a:defRPr>
            </a:lvl9pPr>
          </a:lstStyle>
          <a:p>
            <a:fld id="{00000000-1234-1234-1234-123412341234}" type="slidenum">
              <a:rPr lang="en-US" altLang="ja" smtClean="0"/>
              <a:pPr/>
              <a:t>‹#›</a:t>
            </a:fld>
            <a:endParaRPr lang="ja" altLang="en-US"/>
          </a:p>
        </p:txBody>
      </p:sp>
      <p:sp>
        <p:nvSpPr>
          <p:cNvPr id="48" name="Google Shape;48;p7"/>
          <p:cNvSpPr txBox="1"/>
          <p:nvPr/>
        </p:nvSpPr>
        <p:spPr>
          <a:xfrm>
            <a:off x="145525" y="4796297"/>
            <a:ext cx="5804400" cy="26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800" b="0" i="0">
                <a:solidFill>
                  <a:srgbClr val="CFD4DC"/>
                </a:solidFill>
                <a:latin typeface="Meiryo UI" panose="020B0604030504040204" pitchFamily="34" charset="-128"/>
                <a:ea typeface="Meiryo UI" panose="020B0604030504040204" pitchFamily="34" charset="-128"/>
              </a:rPr>
              <a:t>©︎ ARアドバンストテクノロジ株式会社 All Rights Reserved.</a:t>
            </a:r>
            <a:endParaRPr sz="800" b="0" i="0">
              <a:solidFill>
                <a:srgbClr val="CFD4DC"/>
              </a:solidFill>
              <a:latin typeface="Meiryo UI" panose="020B0604030504040204" pitchFamily="34" charset="-128"/>
              <a:ea typeface="Meiryo UI" panose="020B0604030504040204" pitchFamily="34" charset="-128"/>
            </a:endParaRPr>
          </a:p>
        </p:txBody>
      </p:sp>
      <p:sp>
        <p:nvSpPr>
          <p:cNvPr id="49" name="Google Shape;49;p7"/>
          <p:cNvSpPr txBox="1">
            <a:spLocks noGrp="1"/>
          </p:cNvSpPr>
          <p:nvPr>
            <p:ph type="title"/>
          </p:nvPr>
        </p:nvSpPr>
        <p:spPr>
          <a:xfrm>
            <a:off x="228600" y="57150"/>
            <a:ext cx="7163400" cy="526800"/>
          </a:xfrm>
          <a:prstGeom prst="rect">
            <a:avLst/>
          </a:prstGeom>
        </p:spPr>
        <p:txBody>
          <a:bodyPr spcFirstLastPara="1" wrap="square" lIns="0" tIns="0" rIns="0" bIns="0" anchor="ctr" anchorCtr="0">
            <a:noAutofit/>
          </a:bodyPr>
          <a:lstStyle>
            <a:lvl1pPr lvl="0" rtl="0">
              <a:spcBef>
                <a:spcPts val="0"/>
              </a:spcBef>
              <a:spcAft>
                <a:spcPts val="0"/>
              </a:spcAft>
              <a:buClr>
                <a:srgbClr val="0F2950"/>
              </a:buClr>
              <a:buSzPts val="1400"/>
              <a:buFont typeface="HiraKakuPro-W3"/>
              <a:buNone/>
              <a:defRPr sz="1400" b="0" i="0">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algn="ctr" rtl="0">
              <a:spcBef>
                <a:spcPts val="0"/>
              </a:spcBef>
              <a:spcAft>
                <a:spcPts val="0"/>
              </a:spcAft>
              <a:buClr>
                <a:srgbClr val="0F2950"/>
              </a:buClr>
              <a:buSzPts val="3600"/>
              <a:buNone/>
              <a:defRPr sz="3600" b="1">
                <a:solidFill>
                  <a:srgbClr val="0F2950"/>
                </a:solidFill>
              </a:defRPr>
            </a:lvl2pPr>
            <a:lvl3pPr lvl="2" algn="ctr" rtl="0">
              <a:spcBef>
                <a:spcPts val="0"/>
              </a:spcBef>
              <a:spcAft>
                <a:spcPts val="0"/>
              </a:spcAft>
              <a:buClr>
                <a:srgbClr val="0F2950"/>
              </a:buClr>
              <a:buSzPts val="3600"/>
              <a:buNone/>
              <a:defRPr sz="3600" b="1">
                <a:solidFill>
                  <a:srgbClr val="0F2950"/>
                </a:solidFill>
              </a:defRPr>
            </a:lvl3pPr>
            <a:lvl4pPr lvl="3" algn="ctr" rtl="0">
              <a:spcBef>
                <a:spcPts val="0"/>
              </a:spcBef>
              <a:spcAft>
                <a:spcPts val="0"/>
              </a:spcAft>
              <a:buClr>
                <a:srgbClr val="0F2950"/>
              </a:buClr>
              <a:buSzPts val="3600"/>
              <a:buNone/>
              <a:defRPr sz="3600" b="1">
                <a:solidFill>
                  <a:srgbClr val="0F2950"/>
                </a:solidFill>
              </a:defRPr>
            </a:lvl4pPr>
            <a:lvl5pPr lvl="4" algn="ctr" rtl="0">
              <a:spcBef>
                <a:spcPts val="0"/>
              </a:spcBef>
              <a:spcAft>
                <a:spcPts val="0"/>
              </a:spcAft>
              <a:buClr>
                <a:srgbClr val="0F2950"/>
              </a:buClr>
              <a:buSzPts val="3600"/>
              <a:buNone/>
              <a:defRPr sz="3600" b="1">
                <a:solidFill>
                  <a:srgbClr val="0F2950"/>
                </a:solidFill>
              </a:defRPr>
            </a:lvl5pPr>
            <a:lvl6pPr lvl="5" algn="ctr" rtl="0">
              <a:spcBef>
                <a:spcPts val="0"/>
              </a:spcBef>
              <a:spcAft>
                <a:spcPts val="0"/>
              </a:spcAft>
              <a:buClr>
                <a:srgbClr val="0F2950"/>
              </a:buClr>
              <a:buSzPts val="3600"/>
              <a:buNone/>
              <a:defRPr sz="3600" b="1">
                <a:solidFill>
                  <a:srgbClr val="0F2950"/>
                </a:solidFill>
              </a:defRPr>
            </a:lvl6pPr>
            <a:lvl7pPr lvl="6" algn="ctr" rtl="0">
              <a:spcBef>
                <a:spcPts val="0"/>
              </a:spcBef>
              <a:spcAft>
                <a:spcPts val="0"/>
              </a:spcAft>
              <a:buClr>
                <a:srgbClr val="0F2950"/>
              </a:buClr>
              <a:buSzPts val="3600"/>
              <a:buNone/>
              <a:defRPr sz="3600" b="1">
                <a:solidFill>
                  <a:srgbClr val="0F2950"/>
                </a:solidFill>
              </a:defRPr>
            </a:lvl7pPr>
            <a:lvl8pPr lvl="7" algn="ctr" rtl="0">
              <a:spcBef>
                <a:spcPts val="0"/>
              </a:spcBef>
              <a:spcAft>
                <a:spcPts val="0"/>
              </a:spcAft>
              <a:buClr>
                <a:srgbClr val="0F2950"/>
              </a:buClr>
              <a:buSzPts val="3600"/>
              <a:buNone/>
              <a:defRPr sz="3600" b="1">
                <a:solidFill>
                  <a:srgbClr val="0F2950"/>
                </a:solidFill>
              </a:defRPr>
            </a:lvl8pPr>
            <a:lvl9pPr lvl="8" algn="ctr" rtl="0">
              <a:spcBef>
                <a:spcPts val="0"/>
              </a:spcBef>
              <a:spcAft>
                <a:spcPts val="0"/>
              </a:spcAft>
              <a:buClr>
                <a:srgbClr val="0F2950"/>
              </a:buClr>
              <a:buSzPts val="3600"/>
              <a:buNone/>
              <a:defRPr sz="3600" b="1">
                <a:solidFill>
                  <a:srgbClr val="0F2950"/>
                </a:solidFill>
              </a:defRPr>
            </a:lvl9pPr>
          </a:lstStyle>
          <a:p>
            <a:endParaRPr/>
          </a:p>
        </p:txBody>
      </p:sp>
      <p:cxnSp>
        <p:nvCxnSpPr>
          <p:cNvPr id="50" name="Google Shape;50;p7"/>
          <p:cNvCxnSpPr/>
          <p:nvPr/>
        </p:nvCxnSpPr>
        <p:spPr>
          <a:xfrm>
            <a:off x="0" y="628650"/>
            <a:ext cx="9163200" cy="0"/>
          </a:xfrm>
          <a:prstGeom prst="straightConnector1">
            <a:avLst/>
          </a:prstGeom>
          <a:noFill/>
          <a:ln w="19050" cap="flat" cmpd="sng">
            <a:solidFill>
              <a:srgbClr val="EFEFEF"/>
            </a:solidFill>
            <a:prstDash val="solid"/>
            <a:round/>
            <a:headEnd type="none" w="med" len="med"/>
            <a:tailEnd type="none" w="med" len="med"/>
          </a:ln>
        </p:spPr>
      </p:cxnSp>
      <p:pic>
        <p:nvPicPr>
          <p:cNvPr id="51" name="Google Shape;51;p7"/>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834263" y="112400"/>
            <a:ext cx="1085012" cy="291600"/>
          </a:xfrm>
          <a:prstGeom prst="rect">
            <a:avLst/>
          </a:prstGeom>
          <a:noFill/>
          <a:ln>
            <a:noFill/>
          </a:ln>
        </p:spPr>
      </p:pic>
    </p:spTree>
  </p:cSld>
  <p:clrMapOvr>
    <a:masterClrMapping/>
  </p:clrMapOvr>
  <p:extLst>
    <p:ext uri="{DCECCB84-F9BA-43D5-87BE-67443E8EF086}">
      <p15:sldGuideLst xmlns:p15="http://schemas.microsoft.com/office/powerpoint/2012/main">
        <p15:guide id="1" pos="5510">
          <p15:clr>
            <a:srgbClr val="FA7B17"/>
          </p15:clr>
        </p15:guide>
        <p15:guide id="2" pos="248">
          <p15:clr>
            <a:srgbClr val="FA7B17"/>
          </p15:clr>
        </p15:guide>
        <p15:guide id="3" orient="horz" pos="2992">
          <p15:clr>
            <a:srgbClr val="FA7B17"/>
          </p15:clr>
        </p15:guide>
        <p15:guide id="4" orient="horz" pos="580">
          <p15:clr>
            <a:srgbClr val="FA7B17"/>
          </p15:clr>
        </p15:guide>
        <p15:guide id="5" pos="405">
          <p15:clr>
            <a:srgbClr val="FA7B17"/>
          </p15:clr>
        </p15:guide>
        <p15:guide id="6" pos="5355">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2"/>
        <p:cNvGrpSpPr/>
        <p:nvPr/>
      </p:nvGrpSpPr>
      <p:grpSpPr>
        <a:xfrm>
          <a:off x="0" y="0"/>
          <a:ext cx="0" cy="0"/>
          <a:chOff x="0" y="0"/>
          <a:chExt cx="0" cy="0"/>
        </a:xfrm>
      </p:grpSpPr>
      <p:sp>
        <p:nvSpPr>
          <p:cNvPr id="53" name="Google Shape;53;p8"/>
          <p:cNvSpPr txBox="1">
            <a:spLocks noGrp="1"/>
          </p:cNvSpPr>
          <p:nvPr>
            <p:ph type="sldNum" idx="12"/>
          </p:nvPr>
        </p:nvSpPr>
        <p:spPr>
          <a:xfrm>
            <a:off x="8472458" y="4749892"/>
            <a:ext cx="548700" cy="393600"/>
          </a:xfrm>
          <a:prstGeom prst="rect">
            <a:avLst/>
          </a:prstGeom>
        </p:spPr>
        <p:txBody>
          <a:bodyPr spcFirstLastPara="1" wrap="square" lIns="91425" tIns="91425" rIns="91425" bIns="91425" anchor="ctr" anchorCtr="0">
            <a:noAutofit/>
          </a:bodyPr>
          <a:lstStyle>
            <a:lvl1pPr lvl="0" rtl="0">
              <a:buNone/>
              <a:defRPr b="0" i="0">
                <a:solidFill>
                  <a:srgbClr val="939EAF"/>
                </a:solidFill>
              </a:defRPr>
            </a:lvl1pPr>
            <a:lvl2pPr lvl="1" rtl="0">
              <a:buNone/>
              <a:defRPr>
                <a:solidFill>
                  <a:srgbClr val="939EAF"/>
                </a:solidFill>
              </a:defRPr>
            </a:lvl2pPr>
            <a:lvl3pPr lvl="2" rtl="0">
              <a:buNone/>
              <a:defRPr>
                <a:solidFill>
                  <a:srgbClr val="939EAF"/>
                </a:solidFill>
              </a:defRPr>
            </a:lvl3pPr>
            <a:lvl4pPr lvl="3" rtl="0">
              <a:buNone/>
              <a:defRPr>
                <a:solidFill>
                  <a:srgbClr val="939EAF"/>
                </a:solidFill>
              </a:defRPr>
            </a:lvl4pPr>
            <a:lvl5pPr lvl="4" rtl="0">
              <a:buNone/>
              <a:defRPr>
                <a:solidFill>
                  <a:srgbClr val="939EAF"/>
                </a:solidFill>
              </a:defRPr>
            </a:lvl5pPr>
            <a:lvl6pPr lvl="5" rtl="0">
              <a:buNone/>
              <a:defRPr>
                <a:solidFill>
                  <a:srgbClr val="939EAF"/>
                </a:solidFill>
              </a:defRPr>
            </a:lvl6pPr>
            <a:lvl7pPr lvl="6" rtl="0">
              <a:buNone/>
              <a:defRPr>
                <a:solidFill>
                  <a:srgbClr val="939EAF"/>
                </a:solidFill>
              </a:defRPr>
            </a:lvl7pPr>
            <a:lvl8pPr lvl="7" rtl="0">
              <a:buNone/>
              <a:defRPr>
                <a:solidFill>
                  <a:srgbClr val="939EAF"/>
                </a:solidFill>
              </a:defRPr>
            </a:lvl8pPr>
            <a:lvl9pPr lvl="8" rtl="0">
              <a:buNone/>
              <a:defRPr>
                <a:solidFill>
                  <a:srgbClr val="939EAF"/>
                </a:solidFill>
              </a:defRPr>
            </a:lvl9pPr>
          </a:lstStyle>
          <a:p>
            <a:fld id="{00000000-1234-1234-1234-123412341234}" type="slidenum">
              <a:rPr lang="en-US" altLang="ja" smtClean="0"/>
              <a:pPr/>
              <a:t>‹#›</a:t>
            </a:fld>
            <a:endParaRPr lang="ja" altLang="en-US"/>
          </a:p>
        </p:txBody>
      </p:sp>
      <p:sp>
        <p:nvSpPr>
          <p:cNvPr id="54" name="Google Shape;54;p8"/>
          <p:cNvSpPr txBox="1"/>
          <p:nvPr/>
        </p:nvSpPr>
        <p:spPr>
          <a:xfrm>
            <a:off x="145525" y="4796297"/>
            <a:ext cx="5804400" cy="26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ja" sz="800" b="0" i="0">
                <a:solidFill>
                  <a:srgbClr val="CFD4DC"/>
                </a:solidFill>
                <a:latin typeface="Meiryo UI" panose="020B0604030504040204" pitchFamily="34" charset="-128"/>
                <a:ea typeface="Meiryo UI" panose="020B0604030504040204" pitchFamily="34" charset="-128"/>
              </a:rPr>
              <a:t>©︎ ARアドバンストテクノロジ株式会社 All Rights Reserved.</a:t>
            </a:r>
            <a:endParaRPr sz="800" b="0" i="0">
              <a:solidFill>
                <a:srgbClr val="CFD4DC"/>
              </a:solidFill>
              <a:latin typeface="Meiryo UI" panose="020B0604030504040204" pitchFamily="34" charset="-128"/>
              <a:ea typeface="Meiryo UI" panose="020B0604030504040204" pitchFamily="34" charset="-128"/>
            </a:endParaRPr>
          </a:p>
        </p:txBody>
      </p:sp>
      <p:sp>
        <p:nvSpPr>
          <p:cNvPr id="55" name="Google Shape;55;p8"/>
          <p:cNvSpPr txBox="1">
            <a:spLocks noGrp="1"/>
          </p:cNvSpPr>
          <p:nvPr>
            <p:ph type="title"/>
          </p:nvPr>
        </p:nvSpPr>
        <p:spPr>
          <a:xfrm>
            <a:off x="228600" y="57150"/>
            <a:ext cx="7163400" cy="526800"/>
          </a:xfrm>
          <a:prstGeom prst="rect">
            <a:avLst/>
          </a:prstGeom>
        </p:spPr>
        <p:txBody>
          <a:bodyPr spcFirstLastPara="1" wrap="square" lIns="0" tIns="0" rIns="0" bIns="0" anchor="ctr" anchorCtr="0">
            <a:noAutofit/>
          </a:bodyPr>
          <a:lstStyle>
            <a:lvl1pPr lvl="0" rtl="0">
              <a:spcBef>
                <a:spcPts val="0"/>
              </a:spcBef>
              <a:spcAft>
                <a:spcPts val="0"/>
              </a:spcAft>
              <a:buClr>
                <a:srgbClr val="0F2950"/>
              </a:buClr>
              <a:buSzPts val="1400"/>
              <a:buFont typeface="HiraKakuPro-W3"/>
              <a:buNone/>
              <a:defRPr sz="1400" b="0" i="0">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lvl="1" algn="ctr" rtl="0">
              <a:spcBef>
                <a:spcPts val="0"/>
              </a:spcBef>
              <a:spcAft>
                <a:spcPts val="0"/>
              </a:spcAft>
              <a:buClr>
                <a:srgbClr val="0F2950"/>
              </a:buClr>
              <a:buSzPts val="3600"/>
              <a:buNone/>
              <a:defRPr sz="3600" b="1">
                <a:solidFill>
                  <a:srgbClr val="0F2950"/>
                </a:solidFill>
              </a:defRPr>
            </a:lvl2pPr>
            <a:lvl3pPr lvl="2" algn="ctr" rtl="0">
              <a:spcBef>
                <a:spcPts val="0"/>
              </a:spcBef>
              <a:spcAft>
                <a:spcPts val="0"/>
              </a:spcAft>
              <a:buClr>
                <a:srgbClr val="0F2950"/>
              </a:buClr>
              <a:buSzPts val="3600"/>
              <a:buNone/>
              <a:defRPr sz="3600" b="1">
                <a:solidFill>
                  <a:srgbClr val="0F2950"/>
                </a:solidFill>
              </a:defRPr>
            </a:lvl3pPr>
            <a:lvl4pPr lvl="3" algn="ctr" rtl="0">
              <a:spcBef>
                <a:spcPts val="0"/>
              </a:spcBef>
              <a:spcAft>
                <a:spcPts val="0"/>
              </a:spcAft>
              <a:buClr>
                <a:srgbClr val="0F2950"/>
              </a:buClr>
              <a:buSzPts val="3600"/>
              <a:buNone/>
              <a:defRPr sz="3600" b="1">
                <a:solidFill>
                  <a:srgbClr val="0F2950"/>
                </a:solidFill>
              </a:defRPr>
            </a:lvl4pPr>
            <a:lvl5pPr lvl="4" algn="ctr" rtl="0">
              <a:spcBef>
                <a:spcPts val="0"/>
              </a:spcBef>
              <a:spcAft>
                <a:spcPts val="0"/>
              </a:spcAft>
              <a:buClr>
                <a:srgbClr val="0F2950"/>
              </a:buClr>
              <a:buSzPts val="3600"/>
              <a:buNone/>
              <a:defRPr sz="3600" b="1">
                <a:solidFill>
                  <a:srgbClr val="0F2950"/>
                </a:solidFill>
              </a:defRPr>
            </a:lvl5pPr>
            <a:lvl6pPr lvl="5" algn="ctr" rtl="0">
              <a:spcBef>
                <a:spcPts val="0"/>
              </a:spcBef>
              <a:spcAft>
                <a:spcPts val="0"/>
              </a:spcAft>
              <a:buClr>
                <a:srgbClr val="0F2950"/>
              </a:buClr>
              <a:buSzPts val="3600"/>
              <a:buNone/>
              <a:defRPr sz="3600" b="1">
                <a:solidFill>
                  <a:srgbClr val="0F2950"/>
                </a:solidFill>
              </a:defRPr>
            </a:lvl6pPr>
            <a:lvl7pPr lvl="6" algn="ctr" rtl="0">
              <a:spcBef>
                <a:spcPts val="0"/>
              </a:spcBef>
              <a:spcAft>
                <a:spcPts val="0"/>
              </a:spcAft>
              <a:buClr>
                <a:srgbClr val="0F2950"/>
              </a:buClr>
              <a:buSzPts val="3600"/>
              <a:buNone/>
              <a:defRPr sz="3600" b="1">
                <a:solidFill>
                  <a:srgbClr val="0F2950"/>
                </a:solidFill>
              </a:defRPr>
            </a:lvl7pPr>
            <a:lvl8pPr lvl="7" algn="ctr" rtl="0">
              <a:spcBef>
                <a:spcPts val="0"/>
              </a:spcBef>
              <a:spcAft>
                <a:spcPts val="0"/>
              </a:spcAft>
              <a:buClr>
                <a:srgbClr val="0F2950"/>
              </a:buClr>
              <a:buSzPts val="3600"/>
              <a:buNone/>
              <a:defRPr sz="3600" b="1">
                <a:solidFill>
                  <a:srgbClr val="0F2950"/>
                </a:solidFill>
              </a:defRPr>
            </a:lvl8pPr>
            <a:lvl9pPr lvl="8" algn="ctr" rtl="0">
              <a:spcBef>
                <a:spcPts val="0"/>
              </a:spcBef>
              <a:spcAft>
                <a:spcPts val="0"/>
              </a:spcAft>
              <a:buClr>
                <a:srgbClr val="0F2950"/>
              </a:buClr>
              <a:buSzPts val="3600"/>
              <a:buNone/>
              <a:defRPr sz="3600" b="1">
                <a:solidFill>
                  <a:srgbClr val="0F2950"/>
                </a:solidFill>
              </a:defRPr>
            </a:lvl9pPr>
          </a:lstStyle>
          <a:p>
            <a:endParaRPr/>
          </a:p>
        </p:txBody>
      </p:sp>
      <p:cxnSp>
        <p:nvCxnSpPr>
          <p:cNvPr id="56" name="Google Shape;56;p8"/>
          <p:cNvCxnSpPr/>
          <p:nvPr/>
        </p:nvCxnSpPr>
        <p:spPr>
          <a:xfrm>
            <a:off x="0" y="628650"/>
            <a:ext cx="9163200" cy="0"/>
          </a:xfrm>
          <a:prstGeom prst="straightConnector1">
            <a:avLst/>
          </a:prstGeom>
          <a:noFill/>
          <a:ln w="19050" cap="flat" cmpd="sng">
            <a:solidFill>
              <a:srgbClr val="EFEFEF"/>
            </a:solidFill>
            <a:prstDash val="solid"/>
            <a:round/>
            <a:headEnd type="none" w="med" len="med"/>
            <a:tailEnd type="none" w="med" len="med"/>
          </a:ln>
        </p:spPr>
      </p:cxnSp>
      <p:pic>
        <p:nvPicPr>
          <p:cNvPr id="57" name="Google Shape;57;p8"/>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7834263" y="112400"/>
            <a:ext cx="1085012" cy="291600"/>
          </a:xfrm>
          <a:prstGeom prst="rect">
            <a:avLst/>
          </a:prstGeom>
          <a:noFill/>
          <a:ln>
            <a:noFill/>
          </a:ln>
        </p:spPr>
      </p:pic>
    </p:spTree>
  </p:cSld>
  <p:clrMapOvr>
    <a:masterClrMapping/>
  </p:clrMapOvr>
  <p:extLst>
    <p:ext uri="{DCECCB84-F9BA-43D5-87BE-67443E8EF086}">
      <p15:sldGuideLst xmlns:p15="http://schemas.microsoft.com/office/powerpoint/2012/main">
        <p15:guide id="1" pos="248">
          <p15:clr>
            <a:srgbClr val="FA7B17"/>
          </p15:clr>
        </p15:guide>
        <p15:guide id="2" orient="horz" pos="2992">
          <p15:clr>
            <a:srgbClr val="FA7B17"/>
          </p15:clr>
        </p15:guide>
        <p15:guide id="3" pos="5510">
          <p15:clr>
            <a:srgbClr val="FA7B17"/>
          </p15:clr>
        </p15:guide>
        <p15:guide id="4" orient="horz" pos="580">
          <p15:clr>
            <a:srgbClr val="FA7B17"/>
          </p15:clr>
        </p15:guide>
        <p15:guide id="5" pos="5355">
          <p15:clr>
            <a:srgbClr val="FA7B17"/>
          </p15:clr>
        </p15:guide>
        <p15:guide id="6" pos="405">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背表紙" type="blank">
  <p:cSld name="背表紙">
    <p:spTree>
      <p:nvGrpSpPr>
        <p:cNvPr id="1" name="Shape 58"/>
        <p:cNvGrpSpPr/>
        <p:nvPr/>
      </p:nvGrpSpPr>
      <p:grpSpPr>
        <a:xfrm>
          <a:off x="0" y="0"/>
          <a:ext cx="0" cy="0"/>
          <a:chOff x="0" y="0"/>
          <a:chExt cx="0" cy="0"/>
        </a:xfrm>
      </p:grpSpPr>
      <p:sp>
        <p:nvSpPr>
          <p:cNvPr id="59" name="Google Shape;59;p9"/>
          <p:cNvSpPr txBox="1"/>
          <p:nvPr/>
        </p:nvSpPr>
        <p:spPr>
          <a:xfrm>
            <a:off x="3026388" y="2265225"/>
            <a:ext cx="3091200" cy="356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1000" b="0" i="0">
                <a:solidFill>
                  <a:srgbClr val="0F2950"/>
                </a:solidFill>
                <a:latin typeface="Meiryo UI" panose="020B0604030504040204" pitchFamily="34" charset="-128"/>
                <a:ea typeface="Meiryo UI" panose="020B0604030504040204" pitchFamily="34" charset="-128"/>
              </a:rPr>
              <a:t>ARアドバンストテクノロジ株式会社</a:t>
            </a:r>
            <a:endParaRPr sz="1000" b="0" i="0">
              <a:solidFill>
                <a:srgbClr val="0F2950"/>
              </a:solidFill>
              <a:latin typeface="Meiryo UI" panose="020B0604030504040204" pitchFamily="34" charset="-128"/>
              <a:ea typeface="Meiryo UI" panose="020B0604030504040204" pitchFamily="34" charset="-128"/>
            </a:endParaRPr>
          </a:p>
        </p:txBody>
      </p:sp>
      <p:sp>
        <p:nvSpPr>
          <p:cNvPr id="60" name="Google Shape;60;p9"/>
          <p:cNvSpPr txBox="1"/>
          <p:nvPr/>
        </p:nvSpPr>
        <p:spPr>
          <a:xfrm>
            <a:off x="2499900" y="2632000"/>
            <a:ext cx="4144200" cy="801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ja" sz="900" b="0" i="0">
                <a:solidFill>
                  <a:srgbClr val="9FA9B9"/>
                </a:solidFill>
                <a:latin typeface="Meiryo" panose="020B0604030504040204" pitchFamily="34" charset="-128"/>
                <a:ea typeface="Meiryo" panose="020B0604030504040204" pitchFamily="34" charset="-128"/>
                <a:cs typeface="HiraKakuPro-W3"/>
                <a:sym typeface="HiraKakuPro-W3"/>
              </a:rPr>
              <a:t>〒160-0000 東京都新宿区◯◯◯◯◯◯</a:t>
            </a:r>
            <a:endParaRPr sz="900" b="0" i="0">
              <a:solidFill>
                <a:srgbClr val="9FA9B9"/>
              </a:solidFill>
              <a:latin typeface="Meiryo" panose="020B0604030504040204" pitchFamily="34" charset="-128"/>
              <a:ea typeface="Meiryo" panose="020B0604030504040204" pitchFamily="34" charset="-128"/>
              <a:cs typeface="HiraKakuPro-W3"/>
              <a:sym typeface="HiraKakuPro-W3"/>
            </a:endParaRPr>
          </a:p>
          <a:p>
            <a:pPr marL="0" lvl="0" indent="0" algn="ctr" rtl="0">
              <a:lnSpc>
                <a:spcPct val="115000"/>
              </a:lnSpc>
              <a:spcBef>
                <a:spcPts val="0"/>
              </a:spcBef>
              <a:spcAft>
                <a:spcPts val="0"/>
              </a:spcAft>
              <a:buNone/>
            </a:pPr>
            <a:r>
              <a:rPr lang="ja" sz="900" b="0" i="0">
                <a:solidFill>
                  <a:srgbClr val="9FA9B9"/>
                </a:solidFill>
                <a:latin typeface="Meiryo" panose="020B0604030504040204" pitchFamily="34" charset="-128"/>
                <a:ea typeface="Meiryo" panose="020B0604030504040204" pitchFamily="34" charset="-128"/>
                <a:cs typeface="HiraKakuPro-W3"/>
                <a:sym typeface="HiraKakuPro-W3"/>
              </a:rPr>
              <a:t>tel : </a:t>
            </a:r>
            <a:r>
              <a:rPr lang="en-US" altLang="ja" sz="900" b="0" i="0">
                <a:solidFill>
                  <a:srgbClr val="9FA9B9"/>
                </a:solidFill>
                <a:latin typeface="Meiryo" panose="020B0604030504040204" pitchFamily="34" charset="-128"/>
                <a:ea typeface="Meiryo" panose="020B0604030504040204" pitchFamily="34" charset="-128"/>
                <a:cs typeface="HiraKakuPro-W3"/>
                <a:sym typeface="HiraKakuPro-W3"/>
              </a:rPr>
              <a:t>04</a:t>
            </a:r>
            <a:r>
              <a:rPr lang="ja" sz="900" b="0" i="0">
                <a:solidFill>
                  <a:srgbClr val="9FA9B9"/>
                </a:solidFill>
                <a:latin typeface="Meiryo" panose="020B0604030504040204" pitchFamily="34" charset="-128"/>
                <a:ea typeface="Meiryo" panose="020B0604030504040204" pitchFamily="34" charset="-128"/>
                <a:cs typeface="HiraKakuPro-W3"/>
                <a:sym typeface="HiraKakuPro-W3"/>
              </a:rPr>
              <a:t>-0000-0000  /  url : https://◯◯◯◯◯◯</a:t>
            </a:r>
            <a:endParaRPr sz="900" b="0" i="0">
              <a:solidFill>
                <a:srgbClr val="9FA9B9"/>
              </a:solidFill>
              <a:latin typeface="Meiryo" panose="020B0604030504040204" pitchFamily="34" charset="-128"/>
              <a:ea typeface="Meiryo" panose="020B0604030504040204" pitchFamily="34" charset="-128"/>
              <a:cs typeface="HiraKakuPro-W3"/>
              <a:sym typeface="HiraKakuPro-W3"/>
            </a:endParaRPr>
          </a:p>
        </p:txBody>
      </p:sp>
      <p:sp>
        <p:nvSpPr>
          <p:cNvPr id="61" name="Google Shape;61;p9"/>
          <p:cNvSpPr txBox="1"/>
          <p:nvPr/>
        </p:nvSpPr>
        <p:spPr>
          <a:xfrm>
            <a:off x="1669800" y="4744225"/>
            <a:ext cx="58044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ja" sz="800" b="0" i="0">
                <a:solidFill>
                  <a:srgbClr val="CFD4DC"/>
                </a:solidFill>
                <a:latin typeface="Meiryo UI" panose="020B0604030504040204" pitchFamily="34" charset="-128"/>
                <a:ea typeface="Meiryo UI" panose="020B0604030504040204" pitchFamily="34" charset="-128"/>
              </a:rPr>
              <a:t>©︎ ARアドバンストテクノロジ株式会社  All Rights Reserved.</a:t>
            </a:r>
            <a:endParaRPr sz="800" b="0" i="0">
              <a:solidFill>
                <a:srgbClr val="CFD4DC"/>
              </a:solidFill>
              <a:latin typeface="Meiryo UI" panose="020B0604030504040204" pitchFamily="34" charset="-128"/>
              <a:ea typeface="Meiryo UI" panose="020B0604030504040204" pitchFamily="34" charset="-128"/>
            </a:endParaRPr>
          </a:p>
        </p:txBody>
      </p:sp>
      <p:pic>
        <p:nvPicPr>
          <p:cNvPr id="62" name="Google Shape;62;p9"/>
          <p:cNvPicPr preferRelativeResize="0"/>
          <p:nvPr/>
        </p:nvPicPr>
        <p:blipFill>
          <a:blip r:embed="rId2" cstate="screen">
            <a:alphaModFix/>
            <a:extLst>
              <a:ext uri="{28A0092B-C50C-407E-A947-70E740481C1C}">
                <a14:useLocalDpi xmlns:a14="http://schemas.microsoft.com/office/drawing/2010/main"/>
              </a:ext>
            </a:extLst>
          </a:blip>
          <a:stretch>
            <a:fillRect/>
          </a:stretch>
        </p:blipFill>
        <p:spPr>
          <a:xfrm>
            <a:off x="3674820" y="1649138"/>
            <a:ext cx="1754875" cy="4716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ブランク">
  <p:cSld name="ブランク">
    <p:spTree>
      <p:nvGrpSpPr>
        <p:cNvPr id="1" name="Shape 6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1600"/>
              </a:spcBef>
              <a:spcAft>
                <a:spcPts val="0"/>
              </a:spcAft>
              <a:buClr>
                <a:schemeClr val="dk2"/>
              </a:buClr>
              <a:buSzPts val="1400"/>
              <a:buChar char="○"/>
              <a:defRPr>
                <a:solidFill>
                  <a:schemeClr val="dk2"/>
                </a:solidFill>
              </a:defRPr>
            </a:lvl2pPr>
            <a:lvl3pPr marL="1371600" lvl="2" indent="-317500" rtl="0">
              <a:lnSpc>
                <a:spcPct val="115000"/>
              </a:lnSpc>
              <a:spcBef>
                <a:spcPts val="1600"/>
              </a:spcBef>
              <a:spcAft>
                <a:spcPts val="0"/>
              </a:spcAft>
              <a:buClr>
                <a:schemeClr val="dk2"/>
              </a:buClr>
              <a:buSzPts val="1400"/>
              <a:buChar char="■"/>
              <a:defRPr>
                <a:solidFill>
                  <a:schemeClr val="dk2"/>
                </a:solidFill>
              </a:defRPr>
            </a:lvl3pPr>
            <a:lvl4pPr marL="1828800" lvl="3" indent="-317500" rtl="0">
              <a:lnSpc>
                <a:spcPct val="115000"/>
              </a:lnSpc>
              <a:spcBef>
                <a:spcPts val="1600"/>
              </a:spcBef>
              <a:spcAft>
                <a:spcPts val="0"/>
              </a:spcAft>
              <a:buClr>
                <a:schemeClr val="dk2"/>
              </a:buClr>
              <a:buSzPts val="1400"/>
              <a:buChar char="●"/>
              <a:defRPr>
                <a:solidFill>
                  <a:schemeClr val="dk2"/>
                </a:solidFill>
              </a:defRPr>
            </a:lvl4pPr>
            <a:lvl5pPr marL="2286000" lvl="4" indent="-317500" rtl="0">
              <a:lnSpc>
                <a:spcPct val="115000"/>
              </a:lnSpc>
              <a:spcBef>
                <a:spcPts val="1600"/>
              </a:spcBef>
              <a:spcAft>
                <a:spcPts val="0"/>
              </a:spcAft>
              <a:buClr>
                <a:schemeClr val="dk2"/>
              </a:buClr>
              <a:buSzPts val="1400"/>
              <a:buChar char="○"/>
              <a:defRPr>
                <a:solidFill>
                  <a:schemeClr val="dk2"/>
                </a:solidFill>
              </a:defRPr>
            </a:lvl5pPr>
            <a:lvl6pPr marL="2743200" lvl="5" indent="-317500" rtl="0">
              <a:lnSpc>
                <a:spcPct val="115000"/>
              </a:lnSpc>
              <a:spcBef>
                <a:spcPts val="1600"/>
              </a:spcBef>
              <a:spcAft>
                <a:spcPts val="0"/>
              </a:spcAft>
              <a:buClr>
                <a:schemeClr val="dk2"/>
              </a:buClr>
              <a:buSzPts val="1400"/>
              <a:buChar char="■"/>
              <a:defRPr>
                <a:solidFill>
                  <a:schemeClr val="dk2"/>
                </a:solidFill>
              </a:defRPr>
            </a:lvl6pPr>
            <a:lvl7pPr marL="3200400" lvl="6" indent="-317500" rtl="0">
              <a:lnSpc>
                <a:spcPct val="115000"/>
              </a:lnSpc>
              <a:spcBef>
                <a:spcPts val="1600"/>
              </a:spcBef>
              <a:spcAft>
                <a:spcPts val="0"/>
              </a:spcAft>
              <a:buClr>
                <a:schemeClr val="dk2"/>
              </a:buClr>
              <a:buSzPts val="1400"/>
              <a:buChar char="●"/>
              <a:defRPr>
                <a:solidFill>
                  <a:schemeClr val="dk2"/>
                </a:solidFill>
              </a:defRPr>
            </a:lvl7pPr>
            <a:lvl8pPr marL="3657600" lvl="7" indent="-317500" rtl="0">
              <a:lnSpc>
                <a:spcPct val="115000"/>
              </a:lnSpc>
              <a:spcBef>
                <a:spcPts val="1600"/>
              </a:spcBef>
              <a:spcAft>
                <a:spcPts val="0"/>
              </a:spcAft>
              <a:buClr>
                <a:schemeClr val="dk2"/>
              </a:buClr>
              <a:buSzPts val="1400"/>
              <a:buChar char="○"/>
              <a:defRPr>
                <a:solidFill>
                  <a:schemeClr val="dk2"/>
                </a:solidFill>
              </a:defRPr>
            </a:lvl8pPr>
            <a:lvl9pPr marL="4114800" lvl="8" indent="-317500" rtl="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b="0" i="0">
                <a:solidFill>
                  <a:schemeClr val="dk2"/>
                </a:solidFill>
                <a:latin typeface="Meiryo UI" panose="020B0604030504040204" pitchFamily="34" charset="-128"/>
                <a:ea typeface="Meiryo UI" panose="020B0604030504040204" pitchFamily="34" charset="-128"/>
              </a:defRPr>
            </a:lvl1pPr>
            <a:lvl2pPr lvl="1" algn="r" rtl="0">
              <a:buNone/>
              <a:defRPr sz="1000">
                <a:solidFill>
                  <a:schemeClr val="dk2"/>
                </a:solidFill>
              </a:defRPr>
            </a:lvl2pPr>
            <a:lvl3pPr lvl="2" algn="r" rtl="0">
              <a:buNone/>
              <a:defRPr sz="1000">
                <a:solidFill>
                  <a:schemeClr val="dk2"/>
                </a:solidFill>
              </a:defRPr>
            </a:lvl3pPr>
            <a:lvl4pPr lvl="3" algn="r" rtl="0">
              <a:buNone/>
              <a:defRPr sz="1000">
                <a:solidFill>
                  <a:schemeClr val="dk2"/>
                </a:solidFill>
              </a:defRPr>
            </a:lvl4pPr>
            <a:lvl5pPr lvl="4" algn="r" rtl="0">
              <a:buNone/>
              <a:defRPr sz="1000">
                <a:solidFill>
                  <a:schemeClr val="dk2"/>
                </a:solidFill>
              </a:defRPr>
            </a:lvl5pPr>
            <a:lvl6pPr lvl="5" algn="r" rtl="0">
              <a:buNone/>
              <a:defRPr sz="1000">
                <a:solidFill>
                  <a:schemeClr val="dk2"/>
                </a:solidFill>
              </a:defRPr>
            </a:lvl6pPr>
            <a:lvl7pPr lvl="6" algn="r" rtl="0">
              <a:buNone/>
              <a:defRPr sz="1000">
                <a:solidFill>
                  <a:schemeClr val="dk2"/>
                </a:solidFill>
              </a:defRPr>
            </a:lvl7pPr>
            <a:lvl8pPr lvl="7" algn="r" rtl="0">
              <a:buNone/>
              <a:defRPr sz="1000">
                <a:solidFill>
                  <a:schemeClr val="dk2"/>
                </a:solidFill>
              </a:defRPr>
            </a:lvl8pPr>
            <a:lvl9pPr lvl="8" algn="r" rtl="0">
              <a:buNone/>
              <a:defRPr sz="1000">
                <a:solidFill>
                  <a:schemeClr val="dk2"/>
                </a:solidFill>
              </a:defRPr>
            </a:lvl9pPr>
          </a:lstStyle>
          <a:p>
            <a:fld id="{00000000-1234-1234-1234-123412341234}" type="slidenum">
              <a:rPr lang="en-US" altLang="ja" smtClean="0"/>
              <a:pPr/>
              <a:t>‹#›</a:t>
            </a:fld>
            <a:endParaRPr lang="ja" alt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eiryo UI" panose="020B0604030504040204" pitchFamily="34" charset="-128"/>
          <a:ea typeface="Meiryo UI" panose="020B0604030504040204"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eiryo UI" panose="020B0604030504040204" pitchFamily="34" charset="-128"/>
          <a:ea typeface="Meiryo UI" panose="020B0604030504040204"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hyperlink" Target="http://maff.go.jp/" TargetMode="External"/><Relationship Id="rId13" Type="http://schemas.openxmlformats.org/officeDocument/2006/relationships/hyperlink" Target="http://env.go.jp/" TargetMode="External"/><Relationship Id="rId3" Type="http://schemas.openxmlformats.org/officeDocument/2006/relationships/hyperlink" Target="http://mext.go.jp/" TargetMode="External"/><Relationship Id="rId7" Type="http://schemas.openxmlformats.org/officeDocument/2006/relationships/hyperlink" Target="http://mof.go.jp/" TargetMode="External"/><Relationship Id="rId12" Type="http://schemas.openxmlformats.org/officeDocument/2006/relationships/hyperlink" Target="http://soumu.go.jp/" TargetMode="External"/><Relationship Id="rId2" Type="http://schemas.openxmlformats.org/officeDocument/2006/relationships/notesSlide" Target="../notesSlides/notesSlide11.xml"/><Relationship Id="rId16" Type="http://schemas.openxmlformats.org/officeDocument/2006/relationships/hyperlink" Target="http://moj.go.jp/" TargetMode="External"/><Relationship Id="rId1" Type="http://schemas.openxmlformats.org/officeDocument/2006/relationships/slideLayout" Target="../slideLayouts/slideLayout6.xml"/><Relationship Id="rId6" Type="http://schemas.openxmlformats.org/officeDocument/2006/relationships/hyperlink" Target="http://jma.go.jp/" TargetMode="External"/><Relationship Id="rId11" Type="http://schemas.openxmlformats.org/officeDocument/2006/relationships/hyperlink" Target="http://digital.go.jp/" TargetMode="External"/><Relationship Id="rId5" Type="http://schemas.openxmlformats.org/officeDocument/2006/relationships/hyperlink" Target="http://meti.go.jp/" TargetMode="External"/><Relationship Id="rId15" Type="http://schemas.openxmlformats.org/officeDocument/2006/relationships/hyperlink" Target="http://mofa.go.jp/" TargetMode="External"/><Relationship Id="rId10" Type="http://schemas.openxmlformats.org/officeDocument/2006/relationships/hyperlink" Target="http://mod.go.jp/" TargetMode="External"/><Relationship Id="rId4" Type="http://schemas.openxmlformats.org/officeDocument/2006/relationships/hyperlink" Target="http://mlit.go.jp/" TargetMode="External"/><Relationship Id="rId9" Type="http://schemas.openxmlformats.org/officeDocument/2006/relationships/hyperlink" Target="http://reconstruction.go.jp/" TargetMode="External"/><Relationship Id="rId14" Type="http://schemas.openxmlformats.org/officeDocument/2006/relationships/hyperlink" Target="http://mhlw.go.jp/"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1"/>
          <p:cNvSpPr txBox="1">
            <a:spLocks noGrp="1"/>
          </p:cNvSpPr>
          <p:nvPr>
            <p:ph type="ctrTitle"/>
          </p:nvPr>
        </p:nvSpPr>
        <p:spPr>
          <a:xfrm>
            <a:off x="886500" y="2077967"/>
            <a:ext cx="7371000" cy="854803"/>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役務実施月報</a:t>
            </a:r>
            <a:br>
              <a:rPr lang="en-US" altLang="ja"/>
            </a:br>
            <a:r>
              <a:rPr lang="ja" altLang="en-US" sz="2400"/>
              <a:t>＜</a:t>
            </a:r>
            <a:r>
              <a:rPr lang="en-US" altLang="ja-JP" sz="2400"/>
              <a:t>2025</a:t>
            </a:r>
            <a:r>
              <a:rPr lang="ja-JP" altLang="en-US" sz="2400"/>
              <a:t>年</a:t>
            </a:r>
            <a:r>
              <a:rPr lang="en-US" altLang="ja-JP" sz="2400"/>
              <a:t>10</a:t>
            </a:r>
            <a:r>
              <a:rPr lang="ja-JP" altLang="en-US" sz="2400"/>
              <a:t>月分</a:t>
            </a:r>
            <a:r>
              <a:rPr lang="ja" altLang="en-US" sz="2400"/>
              <a:t>＞</a:t>
            </a:r>
            <a:endParaRPr/>
          </a:p>
        </p:txBody>
      </p:sp>
      <p:sp>
        <p:nvSpPr>
          <p:cNvPr id="69" name="Google Shape;69;p11"/>
          <p:cNvSpPr txBox="1">
            <a:spLocks noGrp="1"/>
          </p:cNvSpPr>
          <p:nvPr>
            <p:ph type="subTitle" idx="1"/>
          </p:nvPr>
        </p:nvSpPr>
        <p:spPr>
          <a:xfrm>
            <a:off x="886500" y="1710118"/>
            <a:ext cx="7371000" cy="291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t>防衛省</a:t>
            </a:r>
            <a:r>
              <a:rPr lang="ja" altLang="en-US"/>
              <a:t>様</a:t>
            </a:r>
            <a:endParaRPr/>
          </a:p>
        </p:txBody>
      </p:sp>
      <p:sp>
        <p:nvSpPr>
          <p:cNvPr id="2" name="スライド番号プレースホルダー 1">
            <a:extLst>
              <a:ext uri="{FF2B5EF4-FFF2-40B4-BE49-F238E27FC236}">
                <a16:creationId xmlns:a16="http://schemas.microsoft.com/office/drawing/2014/main" id="{C0D7F904-9269-AD41-B2B8-6560C3065CA4}"/>
              </a:ext>
            </a:extLst>
          </p:cNvPr>
          <p:cNvSpPr>
            <a:spLocks noGrp="1"/>
          </p:cNvSpPr>
          <p:nvPr>
            <p:ph type="sldNum" idx="12"/>
          </p:nvPr>
        </p:nvSpPr>
        <p:spPr/>
        <p:txBody>
          <a:bodyPr/>
          <a:lstStyle/>
          <a:p>
            <a:fld id="{00000000-1234-1234-1234-123412341234}" type="slidenum">
              <a:rPr lang="en-US" altLang="ja" smtClean="0"/>
              <a:pPr/>
              <a:t>0</a:t>
            </a:fld>
            <a:endParaRPr lang="ja" altLang="en-US">
              <a:solidFill>
                <a:srgbClr val="4E5F7A"/>
              </a:solidFill>
            </a:endParaRPr>
          </a:p>
        </p:txBody>
      </p:sp>
    </p:spTree>
    <p:extLst>
      <p:ext uri="{BB962C8B-B14F-4D97-AF65-F5344CB8AC3E}">
        <p14:creationId xmlns:p14="http://schemas.microsoft.com/office/powerpoint/2010/main" val="173687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1"/>
          <p:cNvSpPr txBox="1">
            <a:spLocks noGrp="1"/>
          </p:cNvSpPr>
          <p:nvPr>
            <p:ph type="ctrTitle"/>
          </p:nvPr>
        </p:nvSpPr>
        <p:spPr>
          <a:xfrm>
            <a:off x="886500" y="2281050"/>
            <a:ext cx="7371000" cy="581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勤務時間</a:t>
            </a:r>
            <a:endParaRPr/>
          </a:p>
        </p:txBody>
      </p:sp>
      <p:sp>
        <p:nvSpPr>
          <p:cNvPr id="2" name="スライド番号プレースホルダー 1">
            <a:extLst>
              <a:ext uri="{FF2B5EF4-FFF2-40B4-BE49-F238E27FC236}">
                <a16:creationId xmlns:a16="http://schemas.microsoft.com/office/drawing/2014/main" id="{AE18EF55-2F23-0545-ADD4-54630BE06B10}"/>
              </a:ext>
            </a:extLst>
          </p:cNvPr>
          <p:cNvSpPr>
            <a:spLocks noGrp="1"/>
          </p:cNvSpPr>
          <p:nvPr>
            <p:ph type="sldNum" idx="12"/>
          </p:nvPr>
        </p:nvSpPr>
        <p:spPr/>
        <p:txBody>
          <a:bodyPr/>
          <a:lstStyle/>
          <a:p>
            <a:fld id="{00000000-1234-1234-1234-123412341234}" type="slidenum">
              <a:rPr lang="en-US" altLang="ja" smtClean="0"/>
              <a:pPr/>
              <a:t>1</a:t>
            </a:fld>
            <a:endParaRPr lang="ja" altLang="en-US">
              <a:solidFill>
                <a:srgbClr val="4E5F7A"/>
              </a:solidFill>
            </a:endParaRPr>
          </a:p>
        </p:txBody>
      </p:sp>
      <p:sp>
        <p:nvSpPr>
          <p:cNvPr id="4" name="Google Shape;69;p11">
            <a:extLst>
              <a:ext uri="{FF2B5EF4-FFF2-40B4-BE49-F238E27FC236}">
                <a16:creationId xmlns:a16="http://schemas.microsoft.com/office/drawing/2014/main" id="{86820352-2BB3-B144-F4FC-0E92995C2D17}"/>
              </a:ext>
            </a:extLst>
          </p:cNvPr>
          <p:cNvSpPr txBox="1">
            <a:spLocks noGrp="1"/>
          </p:cNvSpPr>
          <p:nvPr>
            <p:ph type="subTitle" idx="1"/>
          </p:nvPr>
        </p:nvSpPr>
        <p:spPr>
          <a:xfrm>
            <a:off x="886500" y="1918505"/>
            <a:ext cx="7371000" cy="291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JP" altLang="en-US"/>
              <a:t>刷新および維持管理業務の共通事項</a:t>
            </a:r>
            <a:endParaRPr/>
          </a:p>
        </p:txBody>
      </p:sp>
    </p:spTree>
    <p:extLst>
      <p:ext uri="{BB962C8B-B14F-4D97-AF65-F5344CB8AC3E}">
        <p14:creationId xmlns:p14="http://schemas.microsoft.com/office/powerpoint/2010/main" val="1236658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C740D076-F894-EEC7-7AA5-27AC7B18AAFE}"/>
            </a:ext>
          </a:extLst>
        </p:cNvPr>
        <p:cNvGrpSpPr/>
        <p:nvPr/>
      </p:nvGrpSpPr>
      <p:grpSpPr>
        <a:xfrm>
          <a:off x="0" y="0"/>
          <a:ext cx="0" cy="0"/>
          <a:chOff x="0" y="0"/>
          <a:chExt cx="0" cy="0"/>
        </a:xfrm>
      </p:grpSpPr>
      <p:sp>
        <p:nvSpPr>
          <p:cNvPr id="93" name="Google Shape;93;p13">
            <a:extLst>
              <a:ext uri="{FF2B5EF4-FFF2-40B4-BE49-F238E27FC236}">
                <a16:creationId xmlns:a16="http://schemas.microsoft.com/office/drawing/2014/main" id="{5A287459-A884-483F-3F6A-08C3FCA97160}"/>
              </a:ext>
            </a:extLst>
          </p:cNvPr>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ja" altLang="en-US"/>
              <a:t>勤務時間集計</a:t>
            </a:r>
            <a:endParaRPr/>
          </a:p>
        </p:txBody>
      </p:sp>
      <p:sp>
        <p:nvSpPr>
          <p:cNvPr id="14" name="Google Shape;13;p2">
            <a:extLst>
              <a:ext uri="{FF2B5EF4-FFF2-40B4-BE49-F238E27FC236}">
                <a16:creationId xmlns:a16="http://schemas.microsoft.com/office/drawing/2014/main" id="{603BC4F0-1E6F-6AAE-024D-E0F4ABE1D3BC}"/>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2</a:t>
            </a:fld>
            <a:endParaRPr lang="ja" altLang="en-US">
              <a:solidFill>
                <a:srgbClr val="4E5F7A"/>
              </a:solidFill>
            </a:endParaRPr>
          </a:p>
        </p:txBody>
      </p:sp>
      <p:graphicFrame>
        <p:nvGraphicFramePr>
          <p:cNvPr id="7" name="Table 6">
            <a:extLst>
              <a:ext uri="{FF2B5EF4-FFF2-40B4-BE49-F238E27FC236}">
                <a16:creationId xmlns:a16="http://schemas.microsoft.com/office/drawing/2014/main" id="{A9045D33-1ACD-0C50-837B-F9AB5C7EF507}"/>
              </a:ext>
            </a:extLst>
          </p:cNvPr>
          <p:cNvGraphicFramePr>
            <a:graphicFrameLocks noGrp="1"/>
          </p:cNvGraphicFramePr>
          <p:nvPr>
            <p:extLst>
              <p:ext uri="{D42A27DB-BD31-4B8C-83A1-F6EECF244321}">
                <p14:modId xmlns:p14="http://schemas.microsoft.com/office/powerpoint/2010/main" val="3287046274"/>
              </p:ext>
            </p:extLst>
          </p:nvPr>
        </p:nvGraphicFramePr>
        <p:xfrm>
          <a:off x="1162049" y="988102"/>
          <a:ext cx="6819901" cy="3467100"/>
        </p:xfrm>
        <a:graphic>
          <a:graphicData uri="http://schemas.openxmlformats.org/drawingml/2006/table">
            <a:tbl>
              <a:tblPr bandRow="1">
                <a:tableStyleId>{5C22544A-7EE6-4342-B048-85BDC9FD1C3A}</a:tableStyleId>
              </a:tblPr>
              <a:tblGrid>
                <a:gridCol w="1628633">
                  <a:extLst>
                    <a:ext uri="{9D8B030D-6E8A-4147-A177-3AD203B41FA5}">
                      <a16:colId xmlns:a16="http://schemas.microsoft.com/office/drawing/2014/main" val="959574207"/>
                    </a:ext>
                  </a:extLst>
                </a:gridCol>
                <a:gridCol w="1628633">
                  <a:extLst>
                    <a:ext uri="{9D8B030D-6E8A-4147-A177-3AD203B41FA5}">
                      <a16:colId xmlns:a16="http://schemas.microsoft.com/office/drawing/2014/main" val="1711940927"/>
                    </a:ext>
                  </a:extLst>
                </a:gridCol>
                <a:gridCol w="827040">
                  <a:extLst>
                    <a:ext uri="{9D8B030D-6E8A-4147-A177-3AD203B41FA5}">
                      <a16:colId xmlns:a16="http://schemas.microsoft.com/office/drawing/2014/main" val="3156074950"/>
                    </a:ext>
                  </a:extLst>
                </a:gridCol>
                <a:gridCol w="890659">
                  <a:extLst>
                    <a:ext uri="{9D8B030D-6E8A-4147-A177-3AD203B41FA5}">
                      <a16:colId xmlns:a16="http://schemas.microsoft.com/office/drawing/2014/main" val="3076856294"/>
                    </a:ext>
                  </a:extLst>
                </a:gridCol>
                <a:gridCol w="1285093">
                  <a:extLst>
                    <a:ext uri="{9D8B030D-6E8A-4147-A177-3AD203B41FA5}">
                      <a16:colId xmlns:a16="http://schemas.microsoft.com/office/drawing/2014/main" val="1329905019"/>
                    </a:ext>
                  </a:extLst>
                </a:gridCol>
                <a:gridCol w="559843">
                  <a:extLst>
                    <a:ext uri="{9D8B030D-6E8A-4147-A177-3AD203B41FA5}">
                      <a16:colId xmlns:a16="http://schemas.microsoft.com/office/drawing/2014/main" val="2095941926"/>
                    </a:ext>
                  </a:extLst>
                </a:gridCol>
              </a:tblGrid>
              <a:tr h="266700">
                <a:tc>
                  <a:txBody>
                    <a:bodyPr/>
                    <a:lstStyle/>
                    <a:p>
                      <a:pPr algn="ctr" fontAlgn="ctr">
                        <a:buNone/>
                      </a:pPr>
                      <a:r>
                        <a:rPr lang="en-US" altLang="ja-JP" sz="1200">
                          <a:effectLst/>
                          <a:latin typeface="Meiryo" panose="020B0604030504040204" pitchFamily="34" charset="-128"/>
                          <a:ea typeface="Meiryo" panose="020B0604030504040204" pitchFamily="34" charset="-128"/>
                        </a:rPr>
                        <a:t>2025</a:t>
                      </a:r>
                      <a:r>
                        <a:rPr lang="ja-JP" altLang="en-US" sz="1200">
                          <a:effectLst/>
                          <a:latin typeface="Meiryo" panose="020B0604030504040204" pitchFamily="34" charset="-128"/>
                          <a:ea typeface="Meiryo" panose="020B0604030504040204" pitchFamily="34" charset="-128"/>
                        </a:rPr>
                        <a:t>年</a:t>
                      </a:r>
                      <a:r>
                        <a:rPr lang="en-US" altLang="ja-JP" sz="1200">
                          <a:effectLst/>
                          <a:latin typeface="Meiryo" panose="020B0604030504040204" pitchFamily="34" charset="-128"/>
                          <a:ea typeface="Meiryo" panose="020B0604030504040204" pitchFamily="34" charset="-128"/>
                        </a:rPr>
                        <a:t>10</a:t>
                      </a:r>
                      <a:r>
                        <a:rPr lang="ja-JP" altLang="en-US" sz="1200">
                          <a:effectLst/>
                          <a:latin typeface="Meiryo" panose="020B0604030504040204" pitchFamily="34" charset="-128"/>
                          <a:ea typeface="Meiryo" panose="020B0604030504040204" pitchFamily="34" charset="-128"/>
                        </a:rPr>
                        <a:t>月 勤務実績</a:t>
                      </a:r>
                    </a:p>
                  </a:txBody>
                  <a:tcPr marL="9525" marR="9525" marT="9525" anchor="ctr">
                    <a:lnL>
                      <a:noFill/>
                    </a:lnL>
                    <a:lnR>
                      <a:noFill/>
                    </a:lnR>
                    <a:lnT>
                      <a:noFill/>
                    </a:lnT>
                    <a:lnB>
                      <a:noFill/>
                    </a:lnB>
                    <a:noFill/>
                  </a:tcPr>
                </a:tc>
                <a:tc>
                  <a:txBody>
                    <a:bodyPr/>
                    <a:lstStyle/>
                    <a:p>
                      <a:pPr fontAlgn="ctr">
                        <a:buNone/>
                      </a:pPr>
                      <a:endParaRPr lang="en-US" sz="1000">
                        <a:effectLst/>
                        <a:latin typeface="Meiryo" panose="020B0604030504040204" pitchFamily="34" charset="-128"/>
                        <a:ea typeface="Meiryo" panose="020B0604030504040204" pitchFamily="34" charset="-128"/>
                      </a:endParaRPr>
                    </a:p>
                  </a:txBody>
                  <a:tcPr marL="9525" marR="9525" marT="9525" anchor="ctr">
                    <a:lnL>
                      <a:noFill/>
                    </a:lnL>
                    <a:lnR>
                      <a:noFill/>
                    </a:lnR>
                    <a:lnT>
                      <a:noFill/>
                    </a:lnT>
                    <a:lnB>
                      <a:noFill/>
                    </a:lnB>
                    <a:noFill/>
                  </a:tcPr>
                </a:tc>
                <a:tc>
                  <a:txBody>
                    <a:bodyPr/>
                    <a:lstStyle/>
                    <a:p>
                      <a:pPr fontAlgn="ctr">
                        <a:buNone/>
                      </a:pPr>
                      <a:endParaRPr lang="en-US" sz="1000">
                        <a:effectLst/>
                        <a:latin typeface="Meiryo" panose="020B0604030504040204" pitchFamily="34" charset="-128"/>
                        <a:ea typeface="Meiryo" panose="020B0604030504040204" pitchFamily="34" charset="-128"/>
                      </a:endParaRPr>
                    </a:p>
                  </a:txBody>
                  <a:tcPr marL="9525" marR="9525" marT="9525" anchor="ctr">
                    <a:lnL>
                      <a:noFill/>
                    </a:lnL>
                    <a:lnR>
                      <a:noFill/>
                    </a:lnR>
                    <a:lnT>
                      <a:noFill/>
                    </a:lnT>
                    <a:lnB>
                      <a:noFill/>
                    </a:lnB>
                    <a:noFill/>
                  </a:tcPr>
                </a:tc>
                <a:tc>
                  <a:txBody>
                    <a:bodyPr/>
                    <a:lstStyle/>
                    <a:p>
                      <a:pPr fontAlgn="ctr">
                        <a:buNone/>
                      </a:pPr>
                      <a:endParaRPr lang="en-US" sz="1000">
                        <a:effectLst/>
                        <a:latin typeface="Meiryo" panose="020B0604030504040204" pitchFamily="34" charset="-128"/>
                        <a:ea typeface="Meiryo" panose="020B0604030504040204" pitchFamily="34" charset="-128"/>
                      </a:endParaRPr>
                    </a:p>
                  </a:txBody>
                  <a:tcPr marL="9525" marR="9525" marT="9525" anchor="ctr">
                    <a:lnL>
                      <a:noFill/>
                    </a:lnL>
                    <a:lnR>
                      <a:noFill/>
                    </a:lnR>
                    <a:lnT>
                      <a:noFill/>
                    </a:lnT>
                    <a:lnB>
                      <a:noFill/>
                    </a:lnB>
                    <a:noFill/>
                  </a:tcPr>
                </a:tc>
                <a:tc>
                  <a:txBody>
                    <a:bodyPr/>
                    <a:lstStyle/>
                    <a:p>
                      <a:pPr fontAlgn="ctr">
                        <a:buNone/>
                      </a:pPr>
                      <a:endParaRPr lang="en-US" sz="1000">
                        <a:effectLst/>
                        <a:latin typeface="Meiryo" panose="020B0604030504040204" pitchFamily="34" charset="-128"/>
                        <a:ea typeface="Meiryo" panose="020B0604030504040204" pitchFamily="34" charset="-128"/>
                      </a:endParaRPr>
                    </a:p>
                  </a:txBody>
                  <a:tcPr marL="9525" marR="9525" marT="9525" anchor="ctr">
                    <a:lnL>
                      <a:noFill/>
                    </a:lnL>
                    <a:lnR>
                      <a:noFill/>
                    </a:lnR>
                    <a:lnT>
                      <a:noFill/>
                    </a:lnT>
                    <a:lnB>
                      <a:noFill/>
                    </a:lnB>
                    <a:noFill/>
                  </a:tcPr>
                </a:tc>
                <a:tc>
                  <a:txBody>
                    <a:bodyPr/>
                    <a:lstStyle/>
                    <a:p>
                      <a:pPr fontAlgn="ctr">
                        <a:buNone/>
                      </a:pPr>
                      <a:endParaRPr lang="en-US" sz="1000">
                        <a:effectLst/>
                        <a:latin typeface="Meiryo" panose="020B0604030504040204" pitchFamily="34" charset="-128"/>
                        <a:ea typeface="Meiryo" panose="020B0604030504040204" pitchFamily="34" charset="-128"/>
                      </a:endParaRPr>
                    </a:p>
                  </a:txBody>
                  <a:tcPr marL="9525" marR="9525" marT="9525" anchor="ctr">
                    <a:lnL>
                      <a:noFill/>
                    </a:lnL>
                    <a:lnR>
                      <a:noFill/>
                    </a:lnR>
                    <a:lnT>
                      <a:noFill/>
                    </a:lnT>
                    <a:lnB>
                      <a:noFill/>
                    </a:lnB>
                    <a:noFill/>
                  </a:tcPr>
                </a:tc>
                <a:extLst>
                  <a:ext uri="{0D108BD9-81ED-4DB2-BD59-A6C34878D82A}">
                    <a16:rowId xmlns:a16="http://schemas.microsoft.com/office/drawing/2014/main" val="3049952140"/>
                  </a:ext>
                </a:extLst>
              </a:tr>
              <a:tr h="266700">
                <a:tc rowSpan="2">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氏名 </a:t>
                      </a:r>
                      <a:r>
                        <a:rPr lang="en-US" altLang="ja-JP" sz="1000">
                          <a:solidFill>
                            <a:srgbClr val="FFFFFF"/>
                          </a:solidFill>
                          <a:effectLst/>
                          <a:latin typeface="Meiryo" panose="020B0604030504040204" pitchFamily="34" charset="-128"/>
                          <a:ea typeface="Meiryo" panose="020B0604030504040204" pitchFamily="34" charset="-128"/>
                        </a:rPr>
                        <a:t>/ </a:t>
                      </a:r>
                      <a:r>
                        <a:rPr lang="ja-JP" altLang="en-US" sz="1000">
                          <a:solidFill>
                            <a:srgbClr val="FFFFFF"/>
                          </a:solidFill>
                          <a:effectLst/>
                          <a:latin typeface="Meiryo" panose="020B0604030504040204" pitchFamily="34" charset="-128"/>
                          <a:ea typeface="Meiryo" panose="020B0604030504040204" pitchFamily="34" charset="-128"/>
                        </a:rPr>
                        <a:t>社名</a:t>
                      </a:r>
                    </a:p>
                  </a:txBody>
                  <a:tcPr marL="9525" marR="9525" marT="9525" anchor="ctr">
                    <a:lnL>
                      <a:noFill/>
                    </a:lnL>
                    <a:lnR w="6350" cap="flat" cmpd="sng" algn="ctr">
                      <a:solidFill>
                        <a:srgbClr val="D9D9D9"/>
                      </a:solidFill>
                      <a:prstDash val="solid"/>
                      <a:round/>
                      <a:headEnd type="none" w="med" len="med"/>
                      <a:tailEnd type="none" w="med" len="med"/>
                    </a:lnR>
                    <a:lnT>
                      <a:noFill/>
                    </a:lnT>
                    <a:lnB>
                      <a:noFill/>
                    </a:lnB>
                    <a:solidFill>
                      <a:srgbClr val="404040"/>
                    </a:solidFill>
                  </a:tcPr>
                </a:tc>
                <a:tc rowSpan="2">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役割</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solidFill>
                      <a:srgbClr val="434343"/>
                    </a:solidFill>
                  </a:tcPr>
                </a:tc>
                <a:tc rowSpan="2">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勤務時間</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solidFill>
                      <a:srgbClr val="404040"/>
                    </a:solidFill>
                  </a:tcPr>
                </a:tc>
                <a:tc gridSpan="3">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維持管理</a:t>
                      </a:r>
                    </a:p>
                  </a:txBody>
                  <a:tcPr marL="9525" marR="9525" marT="9525" anchor="ctr">
                    <a:lnL w="6350" cap="flat" cmpd="sng" algn="ctr">
                      <a:solidFill>
                        <a:srgbClr val="D9D9D9"/>
                      </a:solidFill>
                      <a:prstDash val="solid"/>
                      <a:round/>
                      <a:headEnd type="none" w="med" len="med"/>
                      <a:tailEnd type="none" w="med" len="med"/>
                    </a:lnL>
                    <a:lnR>
                      <a:noFill/>
                    </a:lnR>
                    <a:lnT>
                      <a:noFill/>
                    </a:lnT>
                    <a:lnB w="6350" cap="flat" cmpd="sng" algn="ctr">
                      <a:solidFill>
                        <a:srgbClr val="D9D9D9"/>
                      </a:solidFill>
                      <a:prstDash val="solid"/>
                      <a:round/>
                      <a:headEnd type="none" w="med" len="med"/>
                      <a:tailEnd type="none" w="med" len="med"/>
                    </a:lnB>
                    <a:solidFill>
                      <a:srgbClr val="99999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8460322"/>
                  </a:ext>
                </a:extLst>
              </a:tr>
              <a:tr h="2667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維持運用役務</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99999"/>
                    </a:solidFill>
                  </a:tcPr>
                </a:tc>
                <a:tc>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分析・改善提案役務</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99999"/>
                    </a:solidFill>
                  </a:tcPr>
                </a:tc>
                <a:tc>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管理</a:t>
                      </a:r>
                    </a:p>
                  </a:txBody>
                  <a:tcPr marL="9525" marR="9525" marT="9525"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99999"/>
                    </a:solidFill>
                  </a:tcPr>
                </a:tc>
                <a:extLst>
                  <a:ext uri="{0D108BD9-81ED-4DB2-BD59-A6C34878D82A}">
                    <a16:rowId xmlns:a16="http://schemas.microsoft.com/office/drawing/2014/main" val="3806719173"/>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立石</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役務実施責任者</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80:00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20:00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30:00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30:00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501452035"/>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時田</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ディレクター（常駐）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176:00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116:00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30:00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30:00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87231541"/>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森下</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制作員（常駐）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162:45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162:45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216921338"/>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岩崎</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制作員（常駐）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170:00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170:00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778244"/>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安部</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制作員（非常駐）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660907623"/>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大藤</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制作員（非常駐）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415730443"/>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岡本</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制作員（非常駐）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477008"/>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髙谷</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制作員（非常駐）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7:45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7:45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14914433"/>
                  </a:ext>
                </a:extLst>
              </a:tr>
              <a:tr h="266700">
                <a:tc>
                  <a:txBody>
                    <a:bodyPr/>
                    <a:lstStyle/>
                    <a:p>
                      <a:pPr algn="ctr" fontAlgn="ctr">
                        <a:buNone/>
                      </a:pPr>
                      <a:r>
                        <a:rPr lang="ja-JP" altLang="en-US" sz="1100">
                          <a:effectLst/>
                          <a:latin typeface="Meiryo" panose="020B0604030504040204" pitchFamily="34" charset="-128"/>
                          <a:ea typeface="Meiryo" panose="020B0604030504040204" pitchFamily="34" charset="-128"/>
                        </a:rPr>
                        <a:t>安蒜</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fontAlgn="ctr">
                        <a:buNone/>
                      </a:pPr>
                      <a:r>
                        <a:rPr lang="ja-JP" altLang="en-US" sz="1100">
                          <a:effectLst/>
                          <a:latin typeface="Meiryo" panose="020B0604030504040204" pitchFamily="34" charset="-128"/>
                          <a:ea typeface="Meiryo" panose="020B0604030504040204" pitchFamily="34" charset="-128"/>
                        </a:rPr>
                        <a:t>制作員（非常駐）</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7:45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r>
                        <a:rPr lang="en-US" sz="1100">
                          <a:solidFill>
                            <a:srgbClr val="595959"/>
                          </a:solidFill>
                          <a:effectLst/>
                          <a:latin typeface="Meiryo" panose="020B0604030504040204" pitchFamily="34" charset="-128"/>
                          <a:ea typeface="Meiryo" panose="020B0604030504040204" pitchFamily="34" charset="-128"/>
                        </a:rPr>
                        <a:t>7:45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ctr">
                        <a:buNone/>
                      </a:pPr>
                      <a:endParaRPr lang="en-US" sz="1100">
                        <a:solidFill>
                          <a:srgbClr val="595959"/>
                        </a:solidFill>
                        <a:effectLst/>
                        <a:latin typeface="Meiryo" panose="020B0604030504040204" pitchFamily="34" charset="-128"/>
                        <a:ea typeface="Meiryo" panose="020B0604030504040204" pitchFamily="34" charset="-128"/>
                      </a:endParaRP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210935077"/>
                  </a:ext>
                </a:extLst>
              </a:tr>
              <a:tr h="266700">
                <a:tc gridSpan="2">
                  <a:txBody>
                    <a:bodyPr/>
                    <a:lstStyle/>
                    <a:p>
                      <a:pPr algn="ctr" fontAlgn="ctr">
                        <a:buNone/>
                      </a:pPr>
                      <a:r>
                        <a:rPr lang="ja-JP" altLang="en-US" sz="1000">
                          <a:solidFill>
                            <a:srgbClr val="FFFFFF"/>
                          </a:solidFill>
                          <a:effectLst/>
                          <a:latin typeface="Meiryo" panose="020B0604030504040204" pitchFamily="34" charset="-128"/>
                          <a:ea typeface="Meiryo" panose="020B0604030504040204" pitchFamily="34" charset="-128"/>
                        </a:rPr>
                        <a:t>勤務合計時間</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hMerge="1">
                  <a:txBody>
                    <a:bodyPr/>
                    <a:lstStyle/>
                    <a:p>
                      <a:endParaRPr lang="en-US"/>
                    </a:p>
                  </a:txBody>
                  <a:tcPr/>
                </a:tc>
                <a:tc>
                  <a:txBody>
                    <a:bodyPr/>
                    <a:lstStyle/>
                    <a:p>
                      <a:pPr algn="r" fontAlgn="ctr">
                        <a:buNone/>
                      </a:pPr>
                      <a:r>
                        <a:rPr lang="en-US" sz="1100">
                          <a:solidFill>
                            <a:srgbClr val="FFFFFF"/>
                          </a:solidFill>
                          <a:effectLst/>
                          <a:latin typeface="Meiryo" panose="020B0604030504040204" pitchFamily="34" charset="-128"/>
                          <a:ea typeface="Meiryo" panose="020B0604030504040204" pitchFamily="34" charset="-128"/>
                        </a:rPr>
                        <a:t>604:15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r" fontAlgn="ctr">
                        <a:buNone/>
                      </a:pPr>
                      <a:r>
                        <a:rPr lang="en-US" sz="1100">
                          <a:solidFill>
                            <a:srgbClr val="FFFFFF"/>
                          </a:solidFill>
                          <a:effectLst/>
                          <a:latin typeface="Meiryo" panose="020B0604030504040204" pitchFamily="34" charset="-128"/>
                          <a:ea typeface="Meiryo" panose="020B0604030504040204" pitchFamily="34" charset="-128"/>
                        </a:rPr>
                        <a:t>484:15</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99999"/>
                    </a:solidFill>
                  </a:tcPr>
                </a:tc>
                <a:tc>
                  <a:txBody>
                    <a:bodyPr/>
                    <a:lstStyle/>
                    <a:p>
                      <a:pPr algn="r" fontAlgn="ctr">
                        <a:buNone/>
                      </a:pPr>
                      <a:r>
                        <a:rPr lang="en-US" sz="1100">
                          <a:solidFill>
                            <a:srgbClr val="FFFFFF"/>
                          </a:solidFill>
                          <a:effectLst/>
                          <a:latin typeface="Meiryo" panose="020B0604030504040204" pitchFamily="34" charset="-128"/>
                          <a:ea typeface="Meiryo" panose="020B0604030504040204" pitchFamily="34" charset="-128"/>
                        </a:rPr>
                        <a:t>60:00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99999"/>
                    </a:solidFill>
                  </a:tcPr>
                </a:tc>
                <a:tc>
                  <a:txBody>
                    <a:bodyPr/>
                    <a:lstStyle/>
                    <a:p>
                      <a:pPr algn="r" fontAlgn="ctr">
                        <a:buNone/>
                      </a:pPr>
                      <a:r>
                        <a:rPr lang="en-US" sz="1100">
                          <a:solidFill>
                            <a:srgbClr val="FFFFFF"/>
                          </a:solidFill>
                          <a:effectLst/>
                          <a:latin typeface="Meiryo" panose="020B0604030504040204" pitchFamily="34" charset="-128"/>
                          <a:ea typeface="Meiryo" panose="020B0604030504040204" pitchFamily="34" charset="-128"/>
                        </a:rPr>
                        <a:t>60:00</a:t>
                      </a:r>
                    </a:p>
                  </a:txBody>
                  <a:tcPr marL="9525" marR="9525" marT="9525"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999999"/>
                    </a:solidFill>
                  </a:tcPr>
                </a:tc>
                <a:extLst>
                  <a:ext uri="{0D108BD9-81ED-4DB2-BD59-A6C34878D82A}">
                    <a16:rowId xmlns:a16="http://schemas.microsoft.com/office/drawing/2014/main" val="2076012789"/>
                  </a:ext>
                </a:extLst>
              </a:tr>
            </a:tbl>
          </a:graphicData>
        </a:graphic>
      </p:graphicFrame>
    </p:spTree>
    <p:extLst>
      <p:ext uri="{BB962C8B-B14F-4D97-AF65-F5344CB8AC3E}">
        <p14:creationId xmlns:p14="http://schemas.microsoft.com/office/powerpoint/2010/main" val="3704807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
        <p:cNvGrpSpPr/>
        <p:nvPr/>
      </p:nvGrpSpPr>
      <p:grpSpPr>
        <a:xfrm>
          <a:off x="0" y="0"/>
          <a:ext cx="0" cy="0"/>
          <a:chOff x="0" y="0"/>
          <a:chExt cx="0" cy="0"/>
        </a:xfrm>
      </p:grpSpPr>
      <p:sp>
        <p:nvSpPr>
          <p:cNvPr id="93" name="Google Shape;93;p13"/>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ja" altLang="en-US"/>
              <a:t>勤務時間集計</a:t>
            </a:r>
            <a:endParaRPr/>
          </a:p>
        </p:txBody>
      </p:sp>
      <p:sp>
        <p:nvSpPr>
          <p:cNvPr id="14" name="Google Shape;13;p2">
            <a:extLst>
              <a:ext uri="{FF2B5EF4-FFF2-40B4-BE49-F238E27FC236}">
                <a16:creationId xmlns:a16="http://schemas.microsoft.com/office/drawing/2014/main" id="{795A24D1-B742-CE4B-A681-E03E1D7AE7F4}"/>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3</a:t>
            </a:fld>
            <a:endParaRPr lang="ja" altLang="en-US">
              <a:solidFill>
                <a:srgbClr val="4E5F7A"/>
              </a:solidFill>
            </a:endParaRPr>
          </a:p>
        </p:txBody>
      </p:sp>
      <p:sp>
        <p:nvSpPr>
          <p:cNvPr id="9" name="Google Shape;114;p14">
            <a:extLst>
              <a:ext uri="{FF2B5EF4-FFF2-40B4-BE49-F238E27FC236}">
                <a16:creationId xmlns:a16="http://schemas.microsoft.com/office/drawing/2014/main" id="{675B7A0A-1BF8-3648-A15E-B1ECC92DD4BF}"/>
              </a:ext>
            </a:extLst>
          </p:cNvPr>
          <p:cNvSpPr txBox="1"/>
          <p:nvPr/>
        </p:nvSpPr>
        <p:spPr>
          <a:xfrm>
            <a:off x="598217" y="813760"/>
            <a:ext cx="846386" cy="211596"/>
          </a:xfrm>
          <a:prstGeom prst="rect">
            <a:avLst/>
          </a:prstGeom>
          <a:noFill/>
          <a:ln>
            <a:noFill/>
          </a:ln>
        </p:spPr>
        <p:txBody>
          <a:bodyPr spcFirstLastPara="1" wrap="none" lIns="0" tIns="0" rIns="0" bIns="0" anchor="t" anchorCtr="0">
            <a:spAutoFit/>
          </a:bodyPr>
          <a:lstStyle>
            <a:defPPr marR="0" lvl="0" algn="l" rtl="0">
              <a:lnSpc>
                <a:spcPct val="100000"/>
              </a:lnSpc>
              <a:spcBef>
                <a:spcPts val="0"/>
              </a:spcBef>
              <a:spcAft>
                <a:spcPts val="0"/>
              </a:spcAft>
            </a:defPPr>
            <a:lvl1pPr marL="0" indent="0">
              <a:lnSpc>
                <a:spcPct val="125000"/>
              </a:lnSpc>
              <a:buNone/>
              <a:defRPr sz="800">
                <a:solidFill>
                  <a:srgbClr val="595959"/>
                </a:solidFill>
                <a:latin typeface="Meiryo UI" panose="020B0604030504040204" pitchFamily="34" charset="-128"/>
                <a:ea typeface="Meiryo UI" panose="020B0604030504040204" pitchFamily="34" charset="-128"/>
              </a:defRPr>
            </a:lvl1pPr>
          </a:lstStyle>
          <a:p>
            <a:r>
              <a:rPr lang="ja-JP" altLang="en-US" sz="1100"/>
              <a:t>月別勤務時間</a:t>
            </a:r>
            <a:endParaRPr sz="1100"/>
          </a:p>
        </p:txBody>
      </p:sp>
      <p:sp>
        <p:nvSpPr>
          <p:cNvPr id="27" name="Google Shape;114;p14">
            <a:extLst>
              <a:ext uri="{FF2B5EF4-FFF2-40B4-BE49-F238E27FC236}">
                <a16:creationId xmlns:a16="http://schemas.microsoft.com/office/drawing/2014/main" id="{90A2D195-3728-F247-91AC-E596C930E643}"/>
              </a:ext>
            </a:extLst>
          </p:cNvPr>
          <p:cNvSpPr txBox="1"/>
          <p:nvPr/>
        </p:nvSpPr>
        <p:spPr>
          <a:xfrm>
            <a:off x="6416100" y="4638419"/>
            <a:ext cx="1955365" cy="21159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0" indent="0">
              <a:lnSpc>
                <a:spcPct val="125000"/>
              </a:lnSpc>
              <a:buNone/>
              <a:defRPr sz="800">
                <a:solidFill>
                  <a:srgbClr val="595959"/>
                </a:solidFill>
                <a:latin typeface="Meiryo UI" panose="020B0604030504040204" pitchFamily="34" charset="-128"/>
                <a:ea typeface="Meiryo UI" panose="020B0604030504040204" pitchFamily="34" charset="-128"/>
              </a:defRPr>
            </a:lvl1pPr>
          </a:lstStyle>
          <a:p>
            <a:pPr algn="r"/>
            <a:r>
              <a:rPr lang="ja-JP" altLang="en-US" sz="700"/>
              <a:t>　年間勤務時間累計　</a:t>
            </a:r>
            <a:r>
              <a:rPr lang="en-US" altLang="ja-JP" sz="1100" b="1"/>
              <a:t>4169</a:t>
            </a:r>
            <a:r>
              <a:rPr lang="ja-JP" altLang="en-US" sz="1100" b="1"/>
              <a:t>時間</a:t>
            </a:r>
            <a:r>
              <a:rPr lang="en-US" altLang="ja-JP" sz="1100" b="1"/>
              <a:t>45</a:t>
            </a:r>
            <a:r>
              <a:rPr lang="ja-JP" altLang="en-US" sz="1100" b="1"/>
              <a:t>分</a:t>
            </a:r>
            <a:endParaRPr lang="en-US" altLang="ja-JP" sz="1100" b="1"/>
          </a:p>
        </p:txBody>
      </p:sp>
      <p:graphicFrame>
        <p:nvGraphicFramePr>
          <p:cNvPr id="4" name="表 3">
            <a:extLst>
              <a:ext uri="{FF2B5EF4-FFF2-40B4-BE49-F238E27FC236}">
                <a16:creationId xmlns:a16="http://schemas.microsoft.com/office/drawing/2014/main" id="{731F62BA-F1D6-2D88-2797-557334020A03}"/>
              </a:ext>
            </a:extLst>
          </p:cNvPr>
          <p:cNvGraphicFramePr>
            <a:graphicFrameLocks noGrp="1"/>
          </p:cNvGraphicFramePr>
          <p:nvPr/>
        </p:nvGraphicFramePr>
        <p:xfrm>
          <a:off x="1708236" y="1152527"/>
          <a:ext cx="5727528" cy="3416296"/>
        </p:xfrm>
        <a:graphic>
          <a:graphicData uri="http://schemas.openxmlformats.org/drawingml/2006/table">
            <a:tbl>
              <a:tblPr/>
              <a:tblGrid>
                <a:gridCol w="440292">
                  <a:extLst>
                    <a:ext uri="{9D8B030D-6E8A-4147-A177-3AD203B41FA5}">
                      <a16:colId xmlns:a16="http://schemas.microsoft.com/office/drawing/2014/main" val="3580611402"/>
                    </a:ext>
                  </a:extLst>
                </a:gridCol>
                <a:gridCol w="440292">
                  <a:extLst>
                    <a:ext uri="{9D8B030D-6E8A-4147-A177-3AD203B41FA5}">
                      <a16:colId xmlns:a16="http://schemas.microsoft.com/office/drawing/2014/main" val="2791031136"/>
                    </a:ext>
                  </a:extLst>
                </a:gridCol>
                <a:gridCol w="1069014">
                  <a:extLst>
                    <a:ext uri="{9D8B030D-6E8A-4147-A177-3AD203B41FA5}">
                      <a16:colId xmlns:a16="http://schemas.microsoft.com/office/drawing/2014/main" val="141648910"/>
                    </a:ext>
                  </a:extLst>
                </a:gridCol>
                <a:gridCol w="436561">
                  <a:extLst>
                    <a:ext uri="{9D8B030D-6E8A-4147-A177-3AD203B41FA5}">
                      <a16:colId xmlns:a16="http://schemas.microsoft.com/office/drawing/2014/main" val="3868221441"/>
                    </a:ext>
                  </a:extLst>
                </a:gridCol>
                <a:gridCol w="436561">
                  <a:extLst>
                    <a:ext uri="{9D8B030D-6E8A-4147-A177-3AD203B41FA5}">
                      <a16:colId xmlns:a16="http://schemas.microsoft.com/office/drawing/2014/main" val="2866101871"/>
                    </a:ext>
                  </a:extLst>
                </a:gridCol>
                <a:gridCol w="82088">
                  <a:extLst>
                    <a:ext uri="{9D8B030D-6E8A-4147-A177-3AD203B41FA5}">
                      <a16:colId xmlns:a16="http://schemas.microsoft.com/office/drawing/2014/main" val="3104696116"/>
                    </a:ext>
                  </a:extLst>
                </a:gridCol>
                <a:gridCol w="440292">
                  <a:extLst>
                    <a:ext uri="{9D8B030D-6E8A-4147-A177-3AD203B41FA5}">
                      <a16:colId xmlns:a16="http://schemas.microsoft.com/office/drawing/2014/main" val="1694050767"/>
                    </a:ext>
                  </a:extLst>
                </a:gridCol>
                <a:gridCol w="440292">
                  <a:extLst>
                    <a:ext uri="{9D8B030D-6E8A-4147-A177-3AD203B41FA5}">
                      <a16:colId xmlns:a16="http://schemas.microsoft.com/office/drawing/2014/main" val="2774674004"/>
                    </a:ext>
                  </a:extLst>
                </a:gridCol>
                <a:gridCol w="1069014">
                  <a:extLst>
                    <a:ext uri="{9D8B030D-6E8A-4147-A177-3AD203B41FA5}">
                      <a16:colId xmlns:a16="http://schemas.microsoft.com/office/drawing/2014/main" val="1801152399"/>
                    </a:ext>
                  </a:extLst>
                </a:gridCol>
                <a:gridCol w="436561">
                  <a:extLst>
                    <a:ext uri="{9D8B030D-6E8A-4147-A177-3AD203B41FA5}">
                      <a16:colId xmlns:a16="http://schemas.microsoft.com/office/drawing/2014/main" val="2425485556"/>
                    </a:ext>
                  </a:extLst>
                </a:gridCol>
                <a:gridCol w="436561">
                  <a:extLst>
                    <a:ext uri="{9D8B030D-6E8A-4147-A177-3AD203B41FA5}">
                      <a16:colId xmlns:a16="http://schemas.microsoft.com/office/drawing/2014/main" val="3531908937"/>
                    </a:ext>
                  </a:extLst>
                </a:gridCol>
              </a:tblGrid>
              <a:tr h="131396">
                <a:tc rowSpan="2">
                  <a:txBody>
                    <a:bodyPr/>
                    <a:lstStyle/>
                    <a:p>
                      <a:pPr algn="ctr" fontAlgn="ctr">
                        <a:buNone/>
                      </a:pPr>
                      <a:r>
                        <a:rPr lang="ja-JP" altLang="en-US" sz="600" b="0" i="0" u="none" strike="noStrike">
                          <a:solidFill>
                            <a:srgbClr val="FFFFFF"/>
                          </a:solidFill>
                          <a:effectLst/>
                          <a:latin typeface="Arial" panose="020B0604020202020204" pitchFamily="34" charset="0"/>
                        </a:rPr>
                        <a:t>期間</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rowSpan="2">
                  <a:txBody>
                    <a:bodyPr/>
                    <a:lstStyle/>
                    <a:p>
                      <a:pPr algn="ctr" fontAlgn="ctr">
                        <a:buNone/>
                      </a:pPr>
                      <a:r>
                        <a:rPr lang="ja-JP" altLang="en-US" sz="600" b="0" i="0" u="none" strike="noStrike">
                          <a:solidFill>
                            <a:srgbClr val="FFFFFF"/>
                          </a:solidFill>
                          <a:effectLst/>
                          <a:latin typeface="Arial" panose="020B0604020202020204" pitchFamily="34" charset="0"/>
                        </a:rPr>
                        <a:t>業務種別</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rowSpan="2">
                  <a:txBody>
                    <a:bodyPr/>
                    <a:lstStyle/>
                    <a:p>
                      <a:pPr algn="ctr" fontAlgn="ctr">
                        <a:buNone/>
                      </a:pPr>
                      <a:r>
                        <a:rPr lang="ja-JP" altLang="en-US" sz="600" b="0" i="0" u="none" strike="noStrike">
                          <a:solidFill>
                            <a:srgbClr val="FFFFFF"/>
                          </a:solidFill>
                          <a:effectLst/>
                          <a:latin typeface="Arial" panose="020B0604020202020204" pitchFamily="34" charset="0"/>
                        </a:rPr>
                        <a:t>業務</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gridSpan="2">
                  <a:txBody>
                    <a:bodyPr/>
                    <a:lstStyle/>
                    <a:p>
                      <a:pPr algn="ctr" fontAlgn="ctr">
                        <a:buNone/>
                      </a:pPr>
                      <a:r>
                        <a:rPr lang="ja-JP" altLang="en-US" sz="600" b="0" i="0" u="none" strike="noStrike">
                          <a:solidFill>
                            <a:srgbClr val="FFFFFF"/>
                          </a:solidFill>
                          <a:effectLst/>
                          <a:latin typeface="Arial" panose="020B0604020202020204" pitchFamily="34" charset="0"/>
                        </a:rPr>
                        <a:t>勤務時間</a:t>
                      </a:r>
                    </a:p>
                  </a:txBody>
                  <a:tcPr marL="5615" marR="5615" marT="5615" marB="26953"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34343"/>
                    </a:solidFill>
                  </a:tcPr>
                </a:tc>
                <a:tc hMerge="1">
                  <a:txBody>
                    <a:bodyPr/>
                    <a:lstStyle/>
                    <a:p>
                      <a:endParaRPr kumimoji="1" lang="ja-JP" altLang="en-US"/>
                    </a:p>
                  </a:txBody>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a:noFill/>
                    </a:lnL>
                    <a:lnR w="6350" cap="flat" cmpd="sng" algn="ctr">
                      <a:solidFill>
                        <a:srgbClr val="D9D9D9"/>
                      </a:solidFill>
                      <a:prstDash val="solid"/>
                      <a:round/>
                      <a:headEnd type="none" w="med" len="med"/>
                      <a:tailEnd type="none" w="med" len="med"/>
                    </a:lnR>
                    <a:lnT>
                      <a:noFill/>
                    </a:lnT>
                    <a:lnB>
                      <a:noFill/>
                    </a:lnB>
                    <a:noFill/>
                  </a:tcPr>
                </a:tc>
                <a:tc rowSpan="2">
                  <a:txBody>
                    <a:bodyPr/>
                    <a:lstStyle/>
                    <a:p>
                      <a:pPr algn="ctr" fontAlgn="ctr">
                        <a:buNone/>
                      </a:pPr>
                      <a:r>
                        <a:rPr lang="ja-JP" altLang="en-US" sz="600" b="0" i="0" u="none" strike="noStrike">
                          <a:solidFill>
                            <a:srgbClr val="FFFFFF"/>
                          </a:solidFill>
                          <a:effectLst/>
                          <a:latin typeface="Arial" panose="020B0604020202020204" pitchFamily="34" charset="0"/>
                        </a:rPr>
                        <a:t>期間</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rowSpan="2">
                  <a:txBody>
                    <a:bodyPr/>
                    <a:lstStyle/>
                    <a:p>
                      <a:pPr algn="ctr" fontAlgn="ctr">
                        <a:buNone/>
                      </a:pPr>
                      <a:r>
                        <a:rPr lang="ja-JP" altLang="en-US" sz="600" b="0" i="0" u="none" strike="noStrike">
                          <a:solidFill>
                            <a:srgbClr val="FFFFFF"/>
                          </a:solidFill>
                          <a:effectLst/>
                          <a:latin typeface="Arial" panose="020B0604020202020204" pitchFamily="34" charset="0"/>
                        </a:rPr>
                        <a:t>業務種別</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rowSpan="2">
                  <a:txBody>
                    <a:bodyPr/>
                    <a:lstStyle/>
                    <a:p>
                      <a:pPr algn="ctr" fontAlgn="ctr">
                        <a:buNone/>
                      </a:pPr>
                      <a:r>
                        <a:rPr lang="ja-JP" altLang="en-US" sz="600" b="0" i="0" u="none" strike="noStrike">
                          <a:solidFill>
                            <a:srgbClr val="FFFFFF"/>
                          </a:solidFill>
                          <a:effectLst/>
                          <a:latin typeface="Arial" panose="020B0604020202020204" pitchFamily="34" charset="0"/>
                        </a:rPr>
                        <a:t>業務</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gridSpan="2">
                  <a:txBody>
                    <a:bodyPr/>
                    <a:lstStyle/>
                    <a:p>
                      <a:pPr algn="ctr" fontAlgn="ctr">
                        <a:buNone/>
                      </a:pPr>
                      <a:r>
                        <a:rPr lang="ja-JP" altLang="en-US" sz="600" b="0" i="0" u="none" strike="noStrike">
                          <a:solidFill>
                            <a:srgbClr val="FFFFFF"/>
                          </a:solidFill>
                          <a:effectLst/>
                          <a:latin typeface="Arial" panose="020B0604020202020204" pitchFamily="34" charset="0"/>
                        </a:rPr>
                        <a:t>勤務時間</a:t>
                      </a:r>
                    </a:p>
                  </a:txBody>
                  <a:tcPr marL="5615" marR="5615" marT="5615" marB="26953" anchor="ctr">
                    <a:lnL w="6350" cap="flat" cmpd="sng" algn="ctr">
                      <a:solidFill>
                        <a:srgbClr val="D9D9D9"/>
                      </a:solid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34343"/>
                    </a:solidFill>
                  </a:tcPr>
                </a:tc>
                <a:tc hMerge="1">
                  <a:txBody>
                    <a:bodyPr/>
                    <a:lstStyle/>
                    <a:p>
                      <a:endParaRPr kumimoji="1" lang="ja-JP" altLang="en-US"/>
                    </a:p>
                  </a:txBody>
                  <a:tcPr/>
                </a:tc>
                <a:extLst>
                  <a:ext uri="{0D108BD9-81ED-4DB2-BD59-A6C34878D82A}">
                    <a16:rowId xmlns:a16="http://schemas.microsoft.com/office/drawing/2014/main" val="33002960"/>
                  </a:ext>
                </a:extLst>
              </a:tr>
              <a:tr h="13139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fontAlgn="ctr">
                        <a:buNone/>
                      </a:pPr>
                      <a:r>
                        <a:rPr lang="ja-JP" altLang="en-US" sz="600" b="0" i="0" u="none" strike="noStrike">
                          <a:solidFill>
                            <a:srgbClr val="FFFFFF"/>
                          </a:solidFill>
                          <a:effectLst/>
                          <a:latin typeface="Arial" panose="020B0604020202020204" pitchFamily="34" charset="0"/>
                        </a:rPr>
                        <a:t>予定</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a:txBody>
                    <a:bodyPr/>
                    <a:lstStyle/>
                    <a:p>
                      <a:pPr algn="ctr" fontAlgn="ctr">
                        <a:buNone/>
                      </a:pPr>
                      <a:r>
                        <a:rPr lang="ja-JP" altLang="en-US" sz="600" b="0" i="0" u="none" strike="noStrike">
                          <a:solidFill>
                            <a:srgbClr val="FFFFFF"/>
                          </a:solidFill>
                          <a:effectLst/>
                          <a:latin typeface="Arial" panose="020B0604020202020204" pitchFamily="34" charset="0"/>
                        </a:rPr>
                        <a:t>実績</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ctr" fontAlgn="ctr">
                        <a:buNone/>
                      </a:pPr>
                      <a:r>
                        <a:rPr lang="ja-JP" altLang="en-US" sz="600" b="0" i="0" u="none" strike="noStrike">
                          <a:solidFill>
                            <a:srgbClr val="FFFFFF"/>
                          </a:solidFill>
                          <a:effectLst/>
                          <a:latin typeface="Arial" panose="020B0604020202020204" pitchFamily="34" charset="0"/>
                        </a:rPr>
                        <a:t>予定</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tc>
                  <a:txBody>
                    <a:bodyPr/>
                    <a:lstStyle/>
                    <a:p>
                      <a:pPr algn="ctr" fontAlgn="ctr">
                        <a:buNone/>
                      </a:pPr>
                      <a:r>
                        <a:rPr lang="ja-JP" altLang="en-US" sz="600" b="0" i="0" u="none" strike="noStrike">
                          <a:solidFill>
                            <a:srgbClr val="FFFFFF"/>
                          </a:solidFill>
                          <a:effectLst/>
                          <a:latin typeface="Arial" panose="020B0604020202020204" pitchFamily="34" charset="0"/>
                        </a:rPr>
                        <a:t>実績</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404040"/>
                    </a:solidFill>
                  </a:tcPr>
                </a:tc>
                <a:extLst>
                  <a:ext uri="{0D108BD9-81ED-4DB2-BD59-A6C34878D82A}">
                    <a16:rowId xmlns:a16="http://schemas.microsoft.com/office/drawing/2014/main" val="3899793979"/>
                  </a:ext>
                </a:extLst>
              </a:tr>
              <a:tr h="131396">
                <a:tc rowSpan="4">
                  <a:txBody>
                    <a:bodyPr/>
                    <a:lstStyle/>
                    <a:p>
                      <a:pPr algn="l" fontAlgn="ctr">
                        <a:buNone/>
                      </a:pPr>
                      <a:r>
                        <a:rPr lang="en-US" altLang="ja-JP" sz="600" b="0" i="0" u="none" strike="noStrike">
                          <a:solidFill>
                            <a:srgbClr val="595959"/>
                          </a:solidFill>
                          <a:effectLst/>
                          <a:latin typeface="Arial" panose="020B0604020202020204" pitchFamily="34" charset="0"/>
                        </a:rPr>
                        <a:t>4/1〜4/30</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519:45</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rowSpan="4">
                  <a:txBody>
                    <a:bodyPr/>
                    <a:lstStyle/>
                    <a:p>
                      <a:pPr algn="l" fontAlgn="ctr">
                        <a:buNone/>
                      </a:pPr>
                      <a:r>
                        <a:rPr lang="en-US" altLang="ja-JP" sz="600" b="0" i="0" u="none" strike="noStrike">
                          <a:solidFill>
                            <a:srgbClr val="595959"/>
                          </a:solidFill>
                          <a:effectLst/>
                          <a:latin typeface="Arial" panose="020B0604020202020204" pitchFamily="34" charset="0"/>
                        </a:rPr>
                        <a:t>10/1〜10/31</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484:15</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04105273"/>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35761457"/>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90:00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637527190"/>
                  </a:ext>
                </a:extLst>
              </a:tr>
              <a:tr h="131396">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669:45</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604:15</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668328500"/>
                  </a:ext>
                </a:extLst>
              </a:tr>
              <a:tr h="131396">
                <a:tc rowSpan="4">
                  <a:txBody>
                    <a:bodyPr/>
                    <a:lstStyle/>
                    <a:p>
                      <a:pPr algn="l" fontAlgn="ctr">
                        <a:buNone/>
                      </a:pPr>
                      <a:r>
                        <a:rPr lang="en-US" altLang="ja-JP" sz="600" b="0" i="0" u="none" strike="noStrike">
                          <a:solidFill>
                            <a:srgbClr val="595959"/>
                          </a:solidFill>
                          <a:effectLst/>
                          <a:latin typeface="Arial" panose="020B0604020202020204" pitchFamily="34" charset="0"/>
                        </a:rPr>
                        <a:t>5/1〜5/31</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494:30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rowSpan="4">
                  <a:txBody>
                    <a:bodyPr/>
                    <a:lstStyle/>
                    <a:p>
                      <a:pPr algn="l" fontAlgn="ctr">
                        <a:buNone/>
                      </a:pPr>
                      <a:r>
                        <a:rPr lang="en-US" altLang="ja-JP" sz="600" b="0" i="0" u="none" strike="noStrike">
                          <a:solidFill>
                            <a:srgbClr val="595959"/>
                          </a:solidFill>
                          <a:effectLst/>
                          <a:latin typeface="Arial" panose="020B0604020202020204" pitchFamily="34" charset="0"/>
                        </a:rPr>
                        <a:t>11/1〜11/30</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487099375"/>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425951256"/>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055027617"/>
                  </a:ext>
                </a:extLst>
              </a:tr>
              <a:tr h="131396">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614:30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772961697"/>
                  </a:ext>
                </a:extLst>
              </a:tr>
              <a:tr h="131396">
                <a:tc rowSpan="4">
                  <a:txBody>
                    <a:bodyPr/>
                    <a:lstStyle/>
                    <a:p>
                      <a:pPr algn="l" fontAlgn="ctr">
                        <a:buNone/>
                      </a:pPr>
                      <a:r>
                        <a:rPr lang="en-US" altLang="ja-JP" sz="600" b="0" i="0" u="none" strike="noStrike">
                          <a:solidFill>
                            <a:srgbClr val="595959"/>
                          </a:solidFill>
                          <a:effectLst/>
                          <a:latin typeface="Arial" panose="020B0604020202020204" pitchFamily="34" charset="0"/>
                        </a:rPr>
                        <a:t>6/1〜6/30</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475:30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rowSpan="4">
                  <a:txBody>
                    <a:bodyPr/>
                    <a:lstStyle/>
                    <a:p>
                      <a:pPr algn="l" fontAlgn="ctr">
                        <a:buNone/>
                      </a:pPr>
                      <a:r>
                        <a:rPr lang="en-US" altLang="ja-JP" sz="600" b="0" i="0" u="none" strike="noStrike">
                          <a:solidFill>
                            <a:srgbClr val="595959"/>
                          </a:solidFill>
                          <a:effectLst/>
                          <a:latin typeface="Arial" panose="020B0604020202020204" pitchFamily="34" charset="0"/>
                        </a:rPr>
                        <a:t>12/1〜12/31</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917158640"/>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707292066"/>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33515045"/>
                  </a:ext>
                </a:extLst>
              </a:tr>
              <a:tr h="131396">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595:30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3017568575"/>
                  </a:ext>
                </a:extLst>
              </a:tr>
              <a:tr h="131396">
                <a:tc rowSpan="4">
                  <a:txBody>
                    <a:bodyPr/>
                    <a:lstStyle/>
                    <a:p>
                      <a:pPr algn="l" fontAlgn="ctr">
                        <a:buNone/>
                      </a:pPr>
                      <a:r>
                        <a:rPr lang="en-US" altLang="ja-JP" sz="600" b="0" i="0" u="none" strike="noStrike">
                          <a:solidFill>
                            <a:srgbClr val="595959"/>
                          </a:solidFill>
                          <a:effectLst/>
                          <a:latin typeface="Arial" panose="020B0604020202020204" pitchFamily="34" charset="0"/>
                        </a:rPr>
                        <a:t>7/1〜7/31</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486:45</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rowSpan="4">
                  <a:txBody>
                    <a:bodyPr/>
                    <a:lstStyle/>
                    <a:p>
                      <a:pPr algn="l" fontAlgn="ctr">
                        <a:buNone/>
                      </a:pPr>
                      <a:r>
                        <a:rPr lang="en-US" altLang="ja-JP" sz="600" b="0" i="0" u="none" strike="noStrike">
                          <a:solidFill>
                            <a:srgbClr val="595959"/>
                          </a:solidFill>
                          <a:effectLst/>
                          <a:latin typeface="Arial" panose="020B0604020202020204" pitchFamily="34" charset="0"/>
                        </a:rPr>
                        <a:t>1/1〜1/31</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01340159"/>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93697099"/>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064091462"/>
                  </a:ext>
                </a:extLst>
              </a:tr>
              <a:tr h="131396">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606:45</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685404600"/>
                  </a:ext>
                </a:extLst>
              </a:tr>
              <a:tr h="131396">
                <a:tc rowSpan="4">
                  <a:txBody>
                    <a:bodyPr/>
                    <a:lstStyle/>
                    <a:p>
                      <a:pPr algn="l" fontAlgn="ctr">
                        <a:buNone/>
                      </a:pPr>
                      <a:r>
                        <a:rPr lang="en-US" altLang="ja-JP" sz="600" b="0" i="0" u="none" strike="noStrike">
                          <a:solidFill>
                            <a:srgbClr val="595959"/>
                          </a:solidFill>
                          <a:effectLst/>
                          <a:latin typeface="Arial" panose="020B0604020202020204" pitchFamily="34" charset="0"/>
                        </a:rPr>
                        <a:t>8/1〜8/31</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421:00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rowSpan="4">
                  <a:txBody>
                    <a:bodyPr/>
                    <a:lstStyle/>
                    <a:p>
                      <a:pPr algn="l" fontAlgn="ctr">
                        <a:buNone/>
                      </a:pPr>
                      <a:r>
                        <a:rPr lang="en-US" altLang="ja-JP" sz="600" b="0" i="0" u="none" strike="noStrike">
                          <a:solidFill>
                            <a:srgbClr val="595959"/>
                          </a:solidFill>
                          <a:effectLst/>
                          <a:latin typeface="Arial" panose="020B0604020202020204" pitchFamily="34" charset="0"/>
                        </a:rPr>
                        <a:t>2/1〜2/28</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62635379"/>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498380352"/>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2949905"/>
                  </a:ext>
                </a:extLst>
              </a:tr>
              <a:tr h="131396">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541:00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2104503531"/>
                  </a:ext>
                </a:extLst>
              </a:tr>
              <a:tr h="131396">
                <a:tc rowSpan="4">
                  <a:txBody>
                    <a:bodyPr/>
                    <a:lstStyle/>
                    <a:p>
                      <a:pPr algn="l" fontAlgn="ctr">
                        <a:buNone/>
                      </a:pPr>
                      <a:r>
                        <a:rPr lang="en-US" altLang="ja-JP" sz="600" b="0" i="0" u="none" strike="noStrike">
                          <a:solidFill>
                            <a:srgbClr val="595959"/>
                          </a:solidFill>
                          <a:effectLst/>
                          <a:latin typeface="Arial" panose="020B0604020202020204" pitchFamily="34" charset="0"/>
                        </a:rPr>
                        <a:t>9/1〜9/30</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a:noFill/>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418:00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rowSpan="4">
                  <a:txBody>
                    <a:bodyPr/>
                    <a:lstStyle/>
                    <a:p>
                      <a:pPr algn="l" fontAlgn="ctr">
                        <a:buNone/>
                      </a:pPr>
                      <a:r>
                        <a:rPr lang="en-US" altLang="ja-JP" sz="600" b="0" i="0" u="none" strike="noStrike">
                          <a:solidFill>
                            <a:srgbClr val="595959"/>
                          </a:solidFill>
                          <a:effectLst/>
                          <a:latin typeface="Arial" panose="020B0604020202020204" pitchFamily="34" charset="0"/>
                        </a:rPr>
                        <a:t>3/1〜3/31</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a:noFill/>
                    </a:lnB>
                    <a:noFill/>
                  </a:tcPr>
                </a:tc>
                <a:tc rowSpan="3">
                  <a:txBody>
                    <a:bodyPr/>
                    <a:lstStyle/>
                    <a:p>
                      <a:pPr algn="l" fontAlgn="ctr">
                        <a:buNone/>
                      </a:pPr>
                      <a:r>
                        <a:rPr lang="ja-JP" altLang="en-US" sz="600" b="0" i="0" u="none" strike="noStrike">
                          <a:solidFill>
                            <a:srgbClr val="595959"/>
                          </a:solidFill>
                          <a:effectLst/>
                          <a:latin typeface="Arial" panose="020B0604020202020204" pitchFamily="34" charset="0"/>
                        </a:rPr>
                        <a:t>維持管理</a:t>
                      </a:r>
                    </a:p>
                  </a:txBody>
                  <a:tcPr marL="5615" marR="5615" marT="5615" marB="26953"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r>
                        <a:rPr lang="ja-JP" altLang="en-US" sz="600" b="0" i="0" u="none" strike="noStrike">
                          <a:solidFill>
                            <a:srgbClr val="595959"/>
                          </a:solidFill>
                          <a:effectLst/>
                          <a:latin typeface="Arial" panose="020B0604020202020204" pitchFamily="34" charset="0"/>
                        </a:rPr>
                        <a:t>維持運用役務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480:00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296287504"/>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分析・改善提案役務</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94059877"/>
                  </a:ext>
                </a:extLst>
              </a:tr>
              <a:tr h="131396">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vMerge="1">
                  <a:txBody>
                    <a:bodyPr/>
                    <a:lstStyle/>
                    <a:p>
                      <a:endParaRPr kumimoji="1" lang="ja-JP" altLang="en-US"/>
                    </a:p>
                  </a:txBody>
                  <a:tcPr/>
                </a:tc>
                <a:tc>
                  <a:txBody>
                    <a:bodyPr/>
                    <a:lstStyle/>
                    <a:p>
                      <a:pPr algn="l" fontAlgn="b">
                        <a:buNone/>
                      </a:pPr>
                      <a:r>
                        <a:rPr lang="ja-JP" altLang="en-US" sz="600" b="0" i="0" u="none" strike="noStrike">
                          <a:solidFill>
                            <a:srgbClr val="595959"/>
                          </a:solidFill>
                          <a:effectLst/>
                          <a:latin typeface="Arial" panose="020B0604020202020204" pitchFamily="34" charset="0"/>
                        </a:rPr>
                        <a:t>管理（資料作成・打合せ）</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60:00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r" fontAlgn="b">
                        <a:buNone/>
                      </a:pPr>
                      <a:r>
                        <a:rPr lang="en-US" altLang="ja-JP" sz="600" b="0"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699766140"/>
                  </a:ext>
                </a:extLst>
              </a:tr>
              <a:tr h="131396">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538:00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a:noFill/>
                    </a:lnT>
                    <a:lnB>
                      <a:noFill/>
                    </a:lnB>
                    <a:noFill/>
                  </a:tcPr>
                </a:tc>
                <a:tc vMerge="1">
                  <a:txBody>
                    <a:bodyPr/>
                    <a:lstStyle/>
                    <a:p>
                      <a:endParaRPr kumimoji="1" lang="ja-JP" altLang="en-US"/>
                    </a:p>
                  </a:txBody>
                  <a:tcPr/>
                </a:tc>
                <a:tc gridSpan="2">
                  <a:txBody>
                    <a:bodyPr/>
                    <a:lstStyle/>
                    <a:p>
                      <a:pPr algn="l" fontAlgn="b">
                        <a:buNone/>
                      </a:pPr>
                      <a:r>
                        <a:rPr lang="ja-JP" altLang="en-US" sz="600" b="1" i="0" u="none" strike="noStrike">
                          <a:solidFill>
                            <a:srgbClr val="595959"/>
                          </a:solidFill>
                          <a:effectLst/>
                          <a:latin typeface="Arial" panose="020B0604020202020204" pitchFamily="34" charset="0"/>
                        </a:rPr>
                        <a:t>計</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hMerge="1">
                  <a:txBody>
                    <a:bodyPr/>
                    <a:lstStyle/>
                    <a:p>
                      <a:endParaRPr kumimoji="1" lang="ja-JP" altLang="en-US"/>
                    </a:p>
                  </a:txBody>
                  <a:tcPr/>
                </a:tc>
                <a:tc>
                  <a:txBody>
                    <a:bodyPr/>
                    <a:lstStyle/>
                    <a:p>
                      <a:pPr algn="r" fontAlgn="b">
                        <a:buNone/>
                      </a:pPr>
                      <a:r>
                        <a:rPr lang="en-US" altLang="ja-JP" sz="600" b="1" i="0" u="none" strike="noStrike">
                          <a:solidFill>
                            <a:srgbClr val="595959"/>
                          </a:solidFill>
                          <a:effectLst/>
                          <a:latin typeface="Arial" panose="020B0604020202020204" pitchFamily="34" charset="0"/>
                        </a:rPr>
                        <a:t>600:00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algn="r" fontAlgn="b">
                        <a:buNone/>
                      </a:pPr>
                      <a:r>
                        <a:rPr lang="en-US" altLang="ja-JP" sz="600" b="1" i="0" u="none" strike="noStrike">
                          <a:solidFill>
                            <a:srgbClr val="595959"/>
                          </a:solidFill>
                          <a:effectLst/>
                          <a:latin typeface="Arial" panose="020B0604020202020204" pitchFamily="34" charset="0"/>
                        </a:rPr>
                        <a:t>0:00</a:t>
                      </a:r>
                    </a:p>
                  </a:txBody>
                  <a:tcPr marL="5615" marR="5615" marT="5615" marB="26953" anchor="b">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389434223"/>
                  </a:ext>
                </a:extLst>
              </a:tr>
            </a:tbl>
          </a:graphicData>
        </a:graphic>
      </p:graphicFrame>
    </p:spTree>
    <p:extLst>
      <p:ext uri="{BB962C8B-B14F-4D97-AF65-F5344CB8AC3E}">
        <p14:creationId xmlns:p14="http://schemas.microsoft.com/office/powerpoint/2010/main" val="2693589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1"/>
          <p:cNvSpPr txBox="1">
            <a:spLocks noGrp="1"/>
          </p:cNvSpPr>
          <p:nvPr>
            <p:ph type="ctrTitle"/>
          </p:nvPr>
        </p:nvSpPr>
        <p:spPr>
          <a:xfrm>
            <a:off x="886500" y="2281050"/>
            <a:ext cx="7371000" cy="581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タスク対応状況</a:t>
            </a:r>
            <a:endParaRPr/>
          </a:p>
        </p:txBody>
      </p:sp>
      <p:sp>
        <p:nvSpPr>
          <p:cNvPr id="2" name="スライド番号プレースホルダー 1">
            <a:extLst>
              <a:ext uri="{FF2B5EF4-FFF2-40B4-BE49-F238E27FC236}">
                <a16:creationId xmlns:a16="http://schemas.microsoft.com/office/drawing/2014/main" id="{AE18EF55-2F23-0545-ADD4-54630BE06B10}"/>
              </a:ext>
            </a:extLst>
          </p:cNvPr>
          <p:cNvSpPr>
            <a:spLocks noGrp="1"/>
          </p:cNvSpPr>
          <p:nvPr>
            <p:ph type="sldNum" idx="12"/>
          </p:nvPr>
        </p:nvSpPr>
        <p:spPr/>
        <p:txBody>
          <a:bodyPr/>
          <a:lstStyle/>
          <a:p>
            <a:fld id="{00000000-1234-1234-1234-123412341234}" type="slidenum">
              <a:rPr lang="en-US" altLang="ja" smtClean="0"/>
              <a:pPr/>
              <a:t>4</a:t>
            </a:fld>
            <a:endParaRPr lang="ja" altLang="en-US">
              <a:solidFill>
                <a:srgbClr val="4E5F7A"/>
              </a:solidFill>
            </a:endParaRPr>
          </a:p>
        </p:txBody>
      </p:sp>
      <p:sp>
        <p:nvSpPr>
          <p:cNvPr id="4" name="Google Shape;69;p11">
            <a:extLst>
              <a:ext uri="{FF2B5EF4-FFF2-40B4-BE49-F238E27FC236}">
                <a16:creationId xmlns:a16="http://schemas.microsoft.com/office/drawing/2014/main" id="{86820352-2BB3-B144-F4FC-0E92995C2D17}"/>
              </a:ext>
            </a:extLst>
          </p:cNvPr>
          <p:cNvSpPr txBox="1">
            <a:spLocks noGrp="1"/>
          </p:cNvSpPr>
          <p:nvPr>
            <p:ph type="subTitle" idx="1"/>
          </p:nvPr>
        </p:nvSpPr>
        <p:spPr>
          <a:xfrm>
            <a:off x="886500" y="1918505"/>
            <a:ext cx="7371000" cy="291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維持管理等に関する報告</a:t>
            </a:r>
            <a:endParaRPr/>
          </a:p>
        </p:txBody>
      </p:sp>
    </p:spTree>
    <p:extLst>
      <p:ext uri="{BB962C8B-B14F-4D97-AF65-F5344CB8AC3E}">
        <p14:creationId xmlns:p14="http://schemas.microsoft.com/office/powerpoint/2010/main" val="4057179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93" name="Google Shape;93;p13"/>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ja" altLang="en-US"/>
              <a:t>タスク対応役務</a:t>
            </a:r>
            <a:endParaRPr/>
          </a:p>
        </p:txBody>
      </p:sp>
      <p:sp>
        <p:nvSpPr>
          <p:cNvPr id="20" name="Google Shape;13;p2">
            <a:extLst>
              <a:ext uri="{FF2B5EF4-FFF2-40B4-BE49-F238E27FC236}">
                <a16:creationId xmlns:a16="http://schemas.microsoft.com/office/drawing/2014/main" id="{16BB9381-44E7-6548-BF8D-DB6D4786131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5</a:t>
            </a:fld>
            <a:endParaRPr lang="ja" altLang="en-US">
              <a:solidFill>
                <a:srgbClr val="4E5F7A"/>
              </a:solidFill>
            </a:endParaRPr>
          </a:p>
        </p:txBody>
      </p:sp>
      <p:sp>
        <p:nvSpPr>
          <p:cNvPr id="18" name="Google Shape;114;p14">
            <a:extLst>
              <a:ext uri="{FF2B5EF4-FFF2-40B4-BE49-F238E27FC236}">
                <a16:creationId xmlns:a16="http://schemas.microsoft.com/office/drawing/2014/main" id="{6F7177A9-3970-0841-B822-77A296EA7669}"/>
              </a:ext>
            </a:extLst>
          </p:cNvPr>
          <p:cNvSpPr txBox="1"/>
          <p:nvPr/>
        </p:nvSpPr>
        <p:spPr>
          <a:xfrm>
            <a:off x="848975" y="854235"/>
            <a:ext cx="987450" cy="211596"/>
          </a:xfrm>
          <a:prstGeom prst="rect">
            <a:avLst/>
          </a:prstGeom>
          <a:noFill/>
          <a:ln>
            <a:noFill/>
          </a:ln>
        </p:spPr>
        <p:txBody>
          <a:bodyPr spcFirstLastPara="1" wrap="none" lIns="0" tIns="0" rIns="0" bIns="0" anchor="t" anchorCtr="0">
            <a:spAutoFit/>
          </a:bodyPr>
          <a:lstStyle>
            <a:defPPr marR="0" lvl="0" algn="l" rtl="0">
              <a:lnSpc>
                <a:spcPct val="100000"/>
              </a:lnSpc>
              <a:spcBef>
                <a:spcPts val="0"/>
              </a:spcBef>
              <a:spcAft>
                <a:spcPts val="0"/>
              </a:spcAft>
            </a:defPPr>
            <a:lvl1pPr marL="0" indent="0">
              <a:lnSpc>
                <a:spcPct val="125000"/>
              </a:lnSpc>
              <a:buNone/>
              <a:defRPr sz="800">
                <a:solidFill>
                  <a:srgbClr val="595959"/>
                </a:solidFill>
                <a:latin typeface="Meiryo UI" panose="020B0604030504040204" pitchFamily="34" charset="-128"/>
                <a:ea typeface="Meiryo UI" panose="020B0604030504040204" pitchFamily="34" charset="-128"/>
              </a:defRPr>
            </a:lvl1pPr>
          </a:lstStyle>
          <a:p>
            <a:r>
              <a:rPr lang="ja-JP" altLang="en-US" sz="1100"/>
              <a:t>＜進行管理表＞</a:t>
            </a:r>
            <a:endParaRPr/>
          </a:p>
        </p:txBody>
      </p:sp>
      <p:graphicFrame>
        <p:nvGraphicFramePr>
          <p:cNvPr id="5" name="Table 4">
            <a:extLst>
              <a:ext uri="{FF2B5EF4-FFF2-40B4-BE49-F238E27FC236}">
                <a16:creationId xmlns:a16="http://schemas.microsoft.com/office/drawing/2014/main" id="{1E8C48B4-7B60-DDF3-CAED-F4998539B403}"/>
              </a:ext>
            </a:extLst>
          </p:cNvPr>
          <p:cNvGraphicFramePr>
            <a:graphicFrameLocks noGrp="1"/>
          </p:cNvGraphicFramePr>
          <p:nvPr>
            <p:extLst>
              <p:ext uri="{D42A27DB-BD31-4B8C-83A1-F6EECF244321}">
                <p14:modId xmlns:p14="http://schemas.microsoft.com/office/powerpoint/2010/main" val="1284177972"/>
              </p:ext>
            </p:extLst>
          </p:nvPr>
        </p:nvGraphicFramePr>
        <p:xfrm>
          <a:off x="1530350" y="1286874"/>
          <a:ext cx="6083300" cy="2907030"/>
        </p:xfrm>
        <a:graphic>
          <a:graphicData uri="http://schemas.openxmlformats.org/drawingml/2006/table">
            <a:tbl>
              <a:tblPr bandRow="1">
                <a:tableStyleId>{5C22544A-7EE6-4342-B048-85BDC9FD1C3A}</a:tableStyleId>
              </a:tblPr>
              <a:tblGrid>
                <a:gridCol w="1498600">
                  <a:extLst>
                    <a:ext uri="{9D8B030D-6E8A-4147-A177-3AD203B41FA5}">
                      <a16:colId xmlns:a16="http://schemas.microsoft.com/office/drawing/2014/main" val="1677152356"/>
                    </a:ext>
                  </a:extLst>
                </a:gridCol>
                <a:gridCol w="1473200">
                  <a:extLst>
                    <a:ext uri="{9D8B030D-6E8A-4147-A177-3AD203B41FA5}">
                      <a16:colId xmlns:a16="http://schemas.microsoft.com/office/drawing/2014/main" val="3783657910"/>
                    </a:ext>
                  </a:extLst>
                </a:gridCol>
                <a:gridCol w="927100">
                  <a:extLst>
                    <a:ext uri="{9D8B030D-6E8A-4147-A177-3AD203B41FA5}">
                      <a16:colId xmlns:a16="http://schemas.microsoft.com/office/drawing/2014/main" val="420717610"/>
                    </a:ext>
                  </a:extLst>
                </a:gridCol>
                <a:gridCol w="2184400">
                  <a:extLst>
                    <a:ext uri="{9D8B030D-6E8A-4147-A177-3AD203B41FA5}">
                      <a16:colId xmlns:a16="http://schemas.microsoft.com/office/drawing/2014/main" val="4017619505"/>
                    </a:ext>
                  </a:extLst>
                </a:gridCol>
              </a:tblGrid>
              <a:tr h="190500">
                <a:tc>
                  <a:txBody>
                    <a:bodyPr/>
                    <a:lstStyle/>
                    <a:p>
                      <a:pPr algn="ctr" fontAlgn="b">
                        <a:buNone/>
                      </a:pPr>
                      <a:r>
                        <a:rPr lang="ja-JP" altLang="en-US" sz="1000" b="1">
                          <a:solidFill>
                            <a:srgbClr val="FFFFFF"/>
                          </a:solidFill>
                          <a:effectLst/>
                          <a:latin typeface="Meiryo UI" panose="020B0604030504040204" pitchFamily="34" charset="-128"/>
                          <a:ea typeface="Meiryo UI" panose="020B0604030504040204" pitchFamily="34" charset="-128"/>
                        </a:rPr>
                        <a:t>期間</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04040"/>
                    </a:solidFill>
                  </a:tcPr>
                </a:tc>
                <a:tc>
                  <a:txBody>
                    <a:bodyPr/>
                    <a:lstStyle/>
                    <a:p>
                      <a:pPr algn="ctr" fontAlgn="b">
                        <a:buNone/>
                      </a:pPr>
                      <a:r>
                        <a:rPr lang="ja-JP" altLang="en-US" sz="1000" b="1">
                          <a:solidFill>
                            <a:srgbClr val="FFFFFF"/>
                          </a:solidFill>
                          <a:effectLst/>
                          <a:latin typeface="Meiryo UI" panose="020B0604030504040204" pitchFamily="34" charset="-128"/>
                          <a:ea typeface="Meiryo UI" panose="020B0604030504040204" pitchFamily="34" charset="-128"/>
                        </a:rPr>
                        <a:t>登録数（繰越含む）</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04040"/>
                    </a:solidFill>
                  </a:tcPr>
                </a:tc>
                <a:tc>
                  <a:txBody>
                    <a:bodyPr/>
                    <a:lstStyle/>
                    <a:p>
                      <a:pPr algn="ctr" fontAlgn="b">
                        <a:buNone/>
                      </a:pPr>
                      <a:r>
                        <a:rPr lang="ja-JP" altLang="en-US" sz="1000" b="1">
                          <a:solidFill>
                            <a:srgbClr val="FFFFFF"/>
                          </a:solidFill>
                          <a:effectLst/>
                          <a:latin typeface="Meiryo UI" panose="020B0604030504040204" pitchFamily="34" charset="-128"/>
                          <a:ea typeface="Meiryo UI" panose="020B0604030504040204" pitchFamily="34" charset="-128"/>
                        </a:rPr>
                        <a:t>完了</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04040"/>
                    </a:solidFill>
                  </a:tcPr>
                </a:tc>
                <a:tc>
                  <a:txBody>
                    <a:bodyPr/>
                    <a:lstStyle/>
                    <a:p>
                      <a:pPr algn="ctr" fontAlgn="b">
                        <a:buNone/>
                      </a:pPr>
                      <a:r>
                        <a:rPr lang="ja-JP" altLang="en-US" sz="1000" b="1">
                          <a:solidFill>
                            <a:srgbClr val="FFFFFF"/>
                          </a:solidFill>
                          <a:effectLst/>
                          <a:latin typeface="Meiryo UI" panose="020B0604030504040204" pitchFamily="34" charset="-128"/>
                          <a:ea typeface="Meiryo UI" panose="020B0604030504040204" pitchFamily="34" charset="-128"/>
                        </a:rPr>
                        <a:t>累積未完了タスク</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404040"/>
                    </a:solidFill>
                  </a:tcPr>
                </a:tc>
                <a:extLst>
                  <a:ext uri="{0D108BD9-81ED-4DB2-BD59-A6C34878D82A}">
                    <a16:rowId xmlns:a16="http://schemas.microsoft.com/office/drawing/2014/main" val="1000975707"/>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4/1〜4/30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281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343</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75</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01682130"/>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5/1〜5/29</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367</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376</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101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608241323"/>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6/1〜6/30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478</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522</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169</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798247014"/>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7/1〜7/31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299</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536</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74</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4058849691"/>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8/1〜8/31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290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328</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80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76741390"/>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9/1〜9/30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326</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409</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74</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583034385"/>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10/1〜10/31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319</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486</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r>
                        <a:rPr lang="en-US" sz="1000">
                          <a:effectLst/>
                          <a:latin typeface="Meiryo UI" panose="020B0604030504040204" pitchFamily="34" charset="-128"/>
                          <a:ea typeface="Meiryo UI" panose="020B0604030504040204" pitchFamily="34" charset="-128"/>
                        </a:rPr>
                        <a:t>70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264863503"/>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11/1〜11/30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80935300"/>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12/1〜12/31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310253525"/>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1/1〜1/31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117623617"/>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2/1〜2/28</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234988555"/>
                  </a:ext>
                </a:extLst>
              </a:tr>
              <a:tr h="190500">
                <a:tc>
                  <a:txBody>
                    <a:bodyPr/>
                    <a:lstStyle/>
                    <a:p>
                      <a:pPr algn="ctr" fontAlgn="b">
                        <a:buNone/>
                      </a:pPr>
                      <a:r>
                        <a:rPr lang="en-US" sz="1000">
                          <a:effectLst/>
                          <a:latin typeface="Meiryo UI" panose="020B0604030504040204" pitchFamily="34" charset="-128"/>
                          <a:ea typeface="Meiryo UI" panose="020B0604030504040204" pitchFamily="34" charset="-128"/>
                        </a:rPr>
                        <a:t>3/1〜3/31</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tc>
                  <a:txBody>
                    <a:bodyPr/>
                    <a:lstStyle/>
                    <a:p>
                      <a:pPr algn="ctr" fontAlgn="b">
                        <a:buNone/>
                      </a:pPr>
                      <a:endParaRPr lang="en-US" sz="1000">
                        <a:effectLst/>
                        <a:latin typeface="Meiryo UI" panose="020B0604030504040204" pitchFamily="34" charset="-128"/>
                        <a:ea typeface="Meiryo UI" panose="020B0604030504040204" pitchFamily="34" charset="-128"/>
                      </a:endParaRP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780137839"/>
                  </a:ext>
                </a:extLst>
              </a:tr>
              <a:tr h="190500">
                <a:tc>
                  <a:txBody>
                    <a:bodyPr/>
                    <a:lstStyle/>
                    <a:p>
                      <a:pPr algn="ctr" fontAlgn="b">
                        <a:buNone/>
                      </a:pPr>
                      <a:r>
                        <a:rPr lang="ja-JP" altLang="en-US" sz="1000">
                          <a:effectLst/>
                          <a:latin typeface="Meiryo UI" panose="020B0604030504040204" pitchFamily="34" charset="-128"/>
                          <a:ea typeface="Meiryo UI" panose="020B0604030504040204" pitchFamily="34" charset="-128"/>
                        </a:rPr>
                        <a:t>合計</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b">
                        <a:buNone/>
                      </a:pPr>
                      <a:r>
                        <a:rPr lang="en-US" sz="1000">
                          <a:effectLst/>
                          <a:latin typeface="Meiryo UI" panose="020B0604030504040204" pitchFamily="34" charset="-128"/>
                          <a:ea typeface="Meiryo UI" panose="020B0604030504040204" pitchFamily="34" charset="-128"/>
                        </a:rPr>
                        <a:t>2,360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b">
                        <a:buNone/>
                      </a:pPr>
                      <a:r>
                        <a:rPr lang="en-US" sz="1000">
                          <a:effectLst/>
                          <a:latin typeface="Meiryo UI" panose="020B0604030504040204" pitchFamily="34" charset="-128"/>
                          <a:ea typeface="Meiryo UI" panose="020B0604030504040204" pitchFamily="34" charset="-128"/>
                        </a:rPr>
                        <a:t>3,000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tc>
                  <a:txBody>
                    <a:bodyPr/>
                    <a:lstStyle/>
                    <a:p>
                      <a:pPr algn="ctr" fontAlgn="b">
                        <a:buNone/>
                      </a:pPr>
                      <a:r>
                        <a:rPr lang="en-US" sz="1000">
                          <a:effectLst/>
                          <a:latin typeface="Meiryo UI" panose="020B0604030504040204" pitchFamily="34" charset="-128"/>
                          <a:ea typeface="Meiryo UI" panose="020B0604030504040204" pitchFamily="34" charset="-128"/>
                        </a:rPr>
                        <a:t>70</a:t>
                      </a:r>
                    </a:p>
                  </a:txBody>
                  <a:tcPr marL="9525" marR="9525" marT="9525" anchor="b">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4090322054"/>
                  </a:ext>
                </a:extLst>
              </a:tr>
            </a:tbl>
          </a:graphicData>
        </a:graphic>
      </p:graphicFrame>
    </p:spTree>
    <p:extLst>
      <p:ext uri="{BB962C8B-B14F-4D97-AF65-F5344CB8AC3E}">
        <p14:creationId xmlns:p14="http://schemas.microsoft.com/office/powerpoint/2010/main" val="2147980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E18EF55-2F23-0545-ADD4-54630BE06B10}"/>
              </a:ext>
            </a:extLst>
          </p:cNvPr>
          <p:cNvSpPr>
            <a:spLocks noGrp="1"/>
          </p:cNvSpPr>
          <p:nvPr>
            <p:ph type="sldNum" idx="12"/>
          </p:nvPr>
        </p:nvSpPr>
        <p:spPr/>
        <p:txBody>
          <a:bodyPr/>
          <a:lstStyle/>
          <a:p>
            <a:fld id="{00000000-1234-1234-1234-123412341234}" type="slidenum">
              <a:rPr lang="en-US" altLang="ja" smtClean="0"/>
              <a:pPr/>
              <a:t>6</a:t>
            </a:fld>
            <a:endParaRPr lang="ja" altLang="en-US">
              <a:solidFill>
                <a:srgbClr val="4E5F7A"/>
              </a:solidFill>
            </a:endParaRPr>
          </a:p>
        </p:txBody>
      </p:sp>
      <p:sp>
        <p:nvSpPr>
          <p:cNvPr id="6" name="Google Shape;68;p11">
            <a:extLst>
              <a:ext uri="{FF2B5EF4-FFF2-40B4-BE49-F238E27FC236}">
                <a16:creationId xmlns:a16="http://schemas.microsoft.com/office/drawing/2014/main" id="{7EBA40E8-AFD9-75E9-5B45-6BC4404FC885}"/>
              </a:ext>
            </a:extLst>
          </p:cNvPr>
          <p:cNvSpPr txBox="1">
            <a:spLocks noGrp="1"/>
          </p:cNvSpPr>
          <p:nvPr>
            <p:ph type="ctrTitle"/>
          </p:nvPr>
        </p:nvSpPr>
        <p:spPr>
          <a:xfrm>
            <a:off x="886500" y="2281050"/>
            <a:ext cx="7371000" cy="581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サイト分析</a:t>
            </a:r>
            <a:endParaRPr/>
          </a:p>
        </p:txBody>
      </p:sp>
      <p:sp>
        <p:nvSpPr>
          <p:cNvPr id="7" name="Google Shape;69;p11">
            <a:extLst>
              <a:ext uri="{FF2B5EF4-FFF2-40B4-BE49-F238E27FC236}">
                <a16:creationId xmlns:a16="http://schemas.microsoft.com/office/drawing/2014/main" id="{47B72222-7F6E-19D0-1DB9-2437D328022E}"/>
              </a:ext>
            </a:extLst>
          </p:cNvPr>
          <p:cNvSpPr txBox="1">
            <a:spLocks noGrp="1"/>
          </p:cNvSpPr>
          <p:nvPr>
            <p:ph type="subTitle" idx="1"/>
          </p:nvPr>
        </p:nvSpPr>
        <p:spPr>
          <a:xfrm>
            <a:off x="886500" y="1918505"/>
            <a:ext cx="7371000" cy="291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維持管理等に関する報告</a:t>
            </a:r>
            <a:endParaRPr/>
          </a:p>
        </p:txBody>
      </p:sp>
    </p:spTree>
    <p:extLst>
      <p:ext uri="{BB962C8B-B14F-4D97-AF65-F5344CB8AC3E}">
        <p14:creationId xmlns:p14="http://schemas.microsoft.com/office/powerpoint/2010/main" val="2256411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7" name="図 6">
            <a:extLst>
              <a:ext uri="{FF2B5EF4-FFF2-40B4-BE49-F238E27FC236}">
                <a16:creationId xmlns:a16="http://schemas.microsoft.com/office/drawing/2014/main" id="{F860D61A-1649-45AE-934E-10D52465D13A}"/>
              </a:ext>
            </a:extLst>
          </p:cNvPr>
          <p:cNvPicPr>
            <a:picLocks noChangeAspect="1"/>
          </p:cNvPicPr>
          <p:nvPr/>
        </p:nvPicPr>
        <p:blipFill>
          <a:blip r:embed="rId3"/>
          <a:stretch>
            <a:fillRect/>
          </a:stretch>
        </p:blipFill>
        <p:spPr>
          <a:xfrm>
            <a:off x="303083" y="879896"/>
            <a:ext cx="4635500" cy="2489200"/>
          </a:xfrm>
          <a:prstGeom prst="rect">
            <a:avLst/>
          </a:prstGeom>
        </p:spPr>
      </p:pic>
      <p:sp>
        <p:nvSpPr>
          <p:cNvPr id="125" name="Google Shape;125;p15"/>
          <p:cNvSpPr txBox="1">
            <a:spLocks noGrp="1"/>
          </p:cNvSpPr>
          <p:nvPr>
            <p:ph type="title"/>
          </p:nvPr>
        </p:nvSpPr>
        <p:spPr>
          <a:xfrm>
            <a:off x="228600" y="90612"/>
            <a:ext cx="6562800" cy="526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ja" altLang="en-US"/>
              <a:t>行動フロー（トップページ起点）</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7</a:t>
            </a:fld>
            <a:endParaRPr lang="ja" altLang="en-US">
              <a:solidFill>
                <a:srgbClr val="4E5F7A"/>
              </a:solidFill>
            </a:endParaRPr>
          </a:p>
        </p:txBody>
      </p:sp>
      <p:sp>
        <p:nvSpPr>
          <p:cNvPr id="4" name="テキスト ボックス 3">
            <a:extLst>
              <a:ext uri="{FF2B5EF4-FFF2-40B4-BE49-F238E27FC236}">
                <a16:creationId xmlns:a16="http://schemas.microsoft.com/office/drawing/2014/main" id="{F753FADC-3CCB-E442-ABDD-3A39DDAB4503}"/>
              </a:ext>
            </a:extLst>
          </p:cNvPr>
          <p:cNvSpPr txBox="1"/>
          <p:nvPr/>
        </p:nvSpPr>
        <p:spPr>
          <a:xfrm>
            <a:off x="1446249" y="740380"/>
            <a:ext cx="996479" cy="215444"/>
          </a:xfrm>
          <a:prstGeom prst="rect">
            <a:avLst/>
          </a:prstGeom>
          <a:noFill/>
        </p:spPr>
        <p:txBody>
          <a:bodyPr wrap="square">
            <a:spAutoFit/>
          </a:bodyPr>
          <a:lstStyle/>
          <a:p>
            <a:r>
              <a:rPr lang="ja-JP" altLang="en-US" sz="800" b="1">
                <a:solidFill>
                  <a:srgbClr val="0F59B3"/>
                </a:solidFill>
                <a:latin typeface="Meiryo UI" panose="020B0604030504040204" pitchFamily="34" charset="-128"/>
                <a:ea typeface="Meiryo UI" panose="020B0604030504040204" pitchFamily="34" charset="-128"/>
              </a:rPr>
              <a:t>ランディングページ</a:t>
            </a:r>
            <a:endParaRPr lang="ja-JP" altLang="en-US" b="1">
              <a:solidFill>
                <a:srgbClr val="0F59B3"/>
              </a:solidFill>
            </a:endParaRPr>
          </a:p>
        </p:txBody>
      </p:sp>
      <p:sp>
        <p:nvSpPr>
          <p:cNvPr id="5" name="テキスト ボックス 4">
            <a:extLst>
              <a:ext uri="{FF2B5EF4-FFF2-40B4-BE49-F238E27FC236}">
                <a16:creationId xmlns:a16="http://schemas.microsoft.com/office/drawing/2014/main" id="{EDCECCC8-8B39-780F-83FD-DE64D063C512}"/>
              </a:ext>
            </a:extLst>
          </p:cNvPr>
          <p:cNvSpPr txBox="1"/>
          <p:nvPr/>
        </p:nvSpPr>
        <p:spPr>
          <a:xfrm>
            <a:off x="2620833" y="740380"/>
            <a:ext cx="1075927" cy="215444"/>
          </a:xfrm>
          <a:prstGeom prst="rect">
            <a:avLst/>
          </a:prstGeom>
          <a:noFill/>
        </p:spPr>
        <p:txBody>
          <a:bodyPr wrap="square">
            <a:spAutoFit/>
          </a:bodyPr>
          <a:lstStyle/>
          <a:p>
            <a:r>
              <a:rPr lang="en-US" altLang="ja-JP" sz="800" b="1">
                <a:solidFill>
                  <a:srgbClr val="0F59B3"/>
                </a:solidFill>
                <a:latin typeface="Meiryo UI" panose="020B0604030504040204" pitchFamily="34" charset="-128"/>
                <a:ea typeface="Meiryo UI" panose="020B0604030504040204" pitchFamily="34" charset="-128"/>
              </a:rPr>
              <a:t>TOP</a:t>
            </a:r>
            <a:r>
              <a:rPr lang="ja-JP" altLang="en-US" sz="800" b="1">
                <a:solidFill>
                  <a:srgbClr val="0F59B3"/>
                </a:solidFill>
                <a:latin typeface="Meiryo UI" panose="020B0604030504040204" pitchFamily="34" charset="-128"/>
                <a:ea typeface="Meiryo UI" panose="020B0604030504040204" pitchFamily="34" charset="-128"/>
              </a:rPr>
              <a:t>からの通過地点</a:t>
            </a:r>
            <a:endParaRPr lang="ja-JP" altLang="en-US" b="1">
              <a:solidFill>
                <a:srgbClr val="0F59B3"/>
              </a:solidFill>
            </a:endParaRPr>
          </a:p>
        </p:txBody>
      </p:sp>
      <p:sp>
        <p:nvSpPr>
          <p:cNvPr id="10" name="テキスト ボックス 9">
            <a:extLst>
              <a:ext uri="{FF2B5EF4-FFF2-40B4-BE49-F238E27FC236}">
                <a16:creationId xmlns:a16="http://schemas.microsoft.com/office/drawing/2014/main" id="{483C9288-531E-9CF6-ECB9-BF259233D0C9}"/>
              </a:ext>
            </a:extLst>
          </p:cNvPr>
          <p:cNvSpPr txBox="1"/>
          <p:nvPr/>
        </p:nvSpPr>
        <p:spPr>
          <a:xfrm>
            <a:off x="5149904" y="955824"/>
            <a:ext cx="1080000" cy="1754326"/>
          </a:xfrm>
          <a:prstGeom prst="rect">
            <a:avLst/>
          </a:prstGeom>
          <a:solidFill>
            <a:schemeClr val="bg1"/>
          </a:solidFill>
          <a:ln>
            <a:solidFill>
              <a:schemeClr val="bg1">
                <a:lumMod val="85000"/>
              </a:schemeClr>
            </a:solidFill>
          </a:ln>
        </p:spPr>
        <p:txBody>
          <a:bodyPr wrap="square">
            <a:spAutoFit/>
          </a:bodyPr>
          <a:lstStyle/>
          <a:p>
            <a:pPr fontAlgn="ctr"/>
            <a:r>
              <a:rPr lang="ja-JP" altLang="en-US" sz="600">
                <a:latin typeface="Meiryo UI" panose="020B0604030504040204" pitchFamily="34" charset="-128"/>
                <a:ea typeface="Meiryo UI" panose="020B0604030504040204" pitchFamily="34" charset="-128"/>
              </a:rPr>
              <a:t>防衛省・自衛隊</a:t>
            </a:r>
          </a:p>
          <a:p>
            <a:pPr fontAlgn="ctr"/>
            <a:r>
              <a:rPr lang="en-US" altLang="ja-JP" sz="600">
                <a:latin typeface="Meiryo UI" panose="020B0604030504040204" pitchFamily="34" charset="-128"/>
                <a:ea typeface="Meiryo UI" panose="020B0604030504040204" pitchFamily="34" charset="-128"/>
              </a:rPr>
              <a:t>213346</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政府専用機の運航について</a:t>
            </a:r>
          </a:p>
          <a:p>
            <a:pPr fontAlgn="ctr"/>
            <a:r>
              <a:rPr lang="en-US" altLang="ja-JP" sz="600">
                <a:latin typeface="Meiryo UI" panose="020B0604030504040204" pitchFamily="34" charset="-128"/>
                <a:ea typeface="Meiryo UI" panose="020B0604030504040204" pitchFamily="34" charset="-128"/>
              </a:rPr>
              <a:t>65814</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自衛官の階級</a:t>
            </a:r>
          </a:p>
          <a:p>
            <a:pPr fontAlgn="ctr"/>
            <a:r>
              <a:rPr lang="en-US" altLang="ja-JP" sz="600">
                <a:latin typeface="Meiryo UI" panose="020B0604030504040204" pitchFamily="34" charset="-128"/>
                <a:ea typeface="Meiryo UI" panose="020B0604030504040204" pitchFamily="34" charset="-128"/>
              </a:rPr>
              <a:t>45140</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アメリカ合衆国戦争長官の当省訪問について</a:t>
            </a:r>
          </a:p>
          <a:p>
            <a:pPr fontAlgn="ctr"/>
            <a:r>
              <a:rPr lang="en-US" altLang="ja-JP" sz="600">
                <a:latin typeface="Meiryo UI" panose="020B0604030504040204" pitchFamily="34" charset="-128"/>
                <a:ea typeface="Meiryo UI" panose="020B0604030504040204" pitchFamily="34" charset="-128"/>
              </a:rPr>
              <a:t>42589</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防衛大臣・副大臣・政務官</a:t>
            </a:r>
          </a:p>
          <a:p>
            <a:pPr fontAlgn="ctr"/>
            <a:r>
              <a:rPr lang="en-US" altLang="ja-JP" sz="600">
                <a:latin typeface="Meiryo UI" panose="020B0604030504040204" pitchFamily="34" charset="-128"/>
                <a:ea typeface="Meiryo UI" panose="020B0604030504040204" pitchFamily="34" charset="-128"/>
              </a:rPr>
              <a:t>28546</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イベント・交流活動</a:t>
            </a:r>
          </a:p>
          <a:p>
            <a:pPr fontAlgn="ctr"/>
            <a:r>
              <a:rPr lang="en-US" altLang="ja-JP" sz="600">
                <a:latin typeface="Meiryo UI" panose="020B0604030504040204" pitchFamily="34" charset="-128"/>
                <a:ea typeface="Meiryo UI" panose="020B0604030504040204" pitchFamily="34" charset="-128"/>
              </a:rPr>
              <a:t>22406</a:t>
            </a:r>
            <a:endParaRPr lang="en-US" altLang="ja-JP" sz="600">
              <a:effectLst/>
              <a:latin typeface="Meiryo UI" panose="020B0604030504040204" pitchFamily="34" charset="-128"/>
              <a:ea typeface="Meiryo UI" panose="020B0604030504040204" pitchFamily="34" charset="-128"/>
            </a:endParaRPr>
          </a:p>
        </p:txBody>
      </p:sp>
      <p:sp>
        <p:nvSpPr>
          <p:cNvPr id="15" name="テキスト ボックス 14">
            <a:extLst>
              <a:ext uri="{FF2B5EF4-FFF2-40B4-BE49-F238E27FC236}">
                <a16:creationId xmlns:a16="http://schemas.microsoft.com/office/drawing/2014/main" id="{869F5B1B-A43A-A624-7AA6-EE9745E5561E}"/>
              </a:ext>
            </a:extLst>
          </p:cNvPr>
          <p:cNvSpPr txBox="1"/>
          <p:nvPr/>
        </p:nvSpPr>
        <p:spPr>
          <a:xfrm>
            <a:off x="7426965" y="955825"/>
            <a:ext cx="1080000" cy="1661993"/>
          </a:xfrm>
          <a:prstGeom prst="rect">
            <a:avLst/>
          </a:prstGeom>
          <a:solidFill>
            <a:schemeClr val="bg1"/>
          </a:solidFill>
          <a:ln>
            <a:solidFill>
              <a:schemeClr val="bg1">
                <a:lumMod val="85000"/>
              </a:schemeClr>
            </a:solidFill>
          </a:ln>
        </p:spPr>
        <p:txBody>
          <a:bodyPr wrap="square">
            <a:spAutoFit/>
          </a:bodyPr>
          <a:lstStyle/>
          <a:p>
            <a:pPr fontAlgn="ctr"/>
            <a:r>
              <a:rPr lang="ja-JP" altLang="en-US" sz="600">
                <a:latin typeface="Meiryo UI" panose="020B0604030504040204" pitchFamily="34" charset="-128"/>
                <a:ea typeface="Meiryo UI" panose="020B0604030504040204" pitchFamily="34" charset="-128"/>
              </a:rPr>
              <a:t>防衛省・自衛隊</a:t>
            </a:r>
          </a:p>
          <a:p>
            <a:pPr fontAlgn="ctr"/>
            <a:r>
              <a:rPr lang="en-US" altLang="ja-JP" sz="600">
                <a:latin typeface="Meiryo UI" panose="020B0604030504040204" pitchFamily="34" charset="-128"/>
                <a:ea typeface="Meiryo UI" panose="020B0604030504040204" pitchFamily="34" charset="-128"/>
              </a:rPr>
              <a:t>39307</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報道・白書・広報イベント</a:t>
            </a:r>
          </a:p>
          <a:p>
            <a:pPr fontAlgn="ctr"/>
            <a:r>
              <a:rPr lang="en-US" altLang="ja-JP" sz="600">
                <a:latin typeface="Meiryo UI" panose="020B0604030504040204" pitchFamily="34" charset="-128"/>
                <a:ea typeface="Meiryo UI" panose="020B0604030504040204" pitchFamily="34" charset="-128"/>
              </a:rPr>
              <a:t>7063</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防衛省について</a:t>
            </a:r>
          </a:p>
          <a:p>
            <a:pPr fontAlgn="ctr"/>
            <a:r>
              <a:rPr lang="en-US" altLang="ja-JP" sz="600">
                <a:latin typeface="Meiryo UI" panose="020B0604030504040204" pitchFamily="34" charset="-128"/>
                <a:ea typeface="Meiryo UI" panose="020B0604030504040204" pitchFamily="34" charset="-128"/>
              </a:rPr>
              <a:t>3503</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お知らせ</a:t>
            </a:r>
          </a:p>
          <a:p>
            <a:pPr fontAlgn="ctr"/>
            <a:r>
              <a:rPr lang="en-US" altLang="ja-JP" sz="600">
                <a:latin typeface="Meiryo UI" panose="020B0604030504040204" pitchFamily="34" charset="-128"/>
                <a:ea typeface="Meiryo UI" panose="020B0604030504040204" pitchFamily="34" charset="-128"/>
              </a:rPr>
              <a:t>2817</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予算・調達</a:t>
            </a:r>
          </a:p>
          <a:p>
            <a:pPr fontAlgn="ctr"/>
            <a:r>
              <a:rPr lang="en-US" altLang="ja-JP" sz="600">
                <a:latin typeface="Meiryo UI" panose="020B0604030504040204" pitchFamily="34" charset="-128"/>
                <a:ea typeface="Meiryo UI" panose="020B0604030504040204" pitchFamily="34" charset="-128"/>
              </a:rPr>
              <a:t>2093</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採用情報</a:t>
            </a:r>
          </a:p>
          <a:p>
            <a:pPr fontAlgn="ctr"/>
            <a:r>
              <a:rPr lang="en-US" altLang="ja-JP" sz="600">
                <a:latin typeface="Meiryo UI" panose="020B0604030504040204" pitchFamily="34" charset="-128"/>
                <a:ea typeface="Meiryo UI" panose="020B0604030504040204" pitchFamily="34" charset="-128"/>
              </a:rPr>
              <a:t>2077</a:t>
            </a:r>
            <a:endParaRPr lang="en-US" altLang="ja-JP" sz="600">
              <a:effectLst/>
              <a:latin typeface="Meiryo UI" panose="020B0604030504040204" pitchFamily="34" charset="-128"/>
              <a:ea typeface="Meiryo UI" panose="020B0604030504040204" pitchFamily="34" charset="-128"/>
            </a:endParaRPr>
          </a:p>
        </p:txBody>
      </p:sp>
      <p:sp>
        <p:nvSpPr>
          <p:cNvPr id="16" name="テキスト ボックス 15">
            <a:extLst>
              <a:ext uri="{FF2B5EF4-FFF2-40B4-BE49-F238E27FC236}">
                <a16:creationId xmlns:a16="http://schemas.microsoft.com/office/drawing/2014/main" id="{52184AA1-8B07-F081-C099-298E81353B3B}"/>
              </a:ext>
            </a:extLst>
          </p:cNvPr>
          <p:cNvSpPr txBox="1"/>
          <p:nvPr/>
        </p:nvSpPr>
        <p:spPr>
          <a:xfrm>
            <a:off x="6288435" y="955824"/>
            <a:ext cx="1080000" cy="1661993"/>
          </a:xfrm>
          <a:prstGeom prst="rect">
            <a:avLst/>
          </a:prstGeom>
          <a:solidFill>
            <a:schemeClr val="bg1"/>
          </a:solidFill>
          <a:ln>
            <a:solidFill>
              <a:schemeClr val="bg1">
                <a:lumMod val="85000"/>
              </a:schemeClr>
            </a:solidFill>
          </a:ln>
        </p:spPr>
        <p:txBody>
          <a:bodyPr wrap="square">
            <a:spAutoFit/>
          </a:bodyPr>
          <a:lstStyle/>
          <a:p>
            <a:pPr fontAlgn="ctr"/>
            <a:r>
              <a:rPr lang="ja-JP" altLang="en-US" sz="600">
                <a:latin typeface="Meiryo UI" panose="020B0604030504040204" pitchFamily="34" charset="-128"/>
                <a:ea typeface="Meiryo UI" panose="020B0604030504040204" pitchFamily="34" charset="-128"/>
              </a:rPr>
              <a:t>防衛省・自衛隊</a:t>
            </a:r>
          </a:p>
          <a:p>
            <a:pPr fontAlgn="ctr"/>
            <a:r>
              <a:rPr lang="en-US" altLang="ja-JP" sz="600">
                <a:latin typeface="Meiryo UI" panose="020B0604030504040204" pitchFamily="34" charset="-128"/>
                <a:ea typeface="Meiryo UI" panose="020B0604030504040204" pitchFamily="34" charset="-128"/>
              </a:rPr>
              <a:t>105477</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報道・白書・広報イベント</a:t>
            </a:r>
          </a:p>
          <a:p>
            <a:pPr fontAlgn="ctr"/>
            <a:r>
              <a:rPr lang="en-US" altLang="ja-JP" sz="600">
                <a:latin typeface="Meiryo UI" panose="020B0604030504040204" pitchFamily="34" charset="-128"/>
                <a:ea typeface="Meiryo UI" panose="020B0604030504040204" pitchFamily="34" charset="-128"/>
              </a:rPr>
              <a:t>1386</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人事発令</a:t>
            </a:r>
          </a:p>
          <a:p>
            <a:pPr fontAlgn="ctr"/>
            <a:r>
              <a:rPr lang="en-US" altLang="ja-JP" sz="600">
                <a:latin typeface="Meiryo UI" panose="020B0604030504040204" pitchFamily="34" charset="-128"/>
                <a:ea typeface="Meiryo UI" panose="020B0604030504040204" pitchFamily="34" charset="-128"/>
              </a:rPr>
              <a:t>373</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地方防衛局</a:t>
            </a:r>
          </a:p>
          <a:p>
            <a:pPr fontAlgn="ctr"/>
            <a:r>
              <a:rPr lang="en-US" altLang="ja-JP" sz="600">
                <a:latin typeface="Meiryo UI" panose="020B0604030504040204" pitchFamily="34" charset="-128"/>
                <a:ea typeface="Meiryo UI" panose="020B0604030504040204" pitchFamily="34" charset="-128"/>
              </a:rPr>
              <a:t>373</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更新情報一覧</a:t>
            </a:r>
          </a:p>
          <a:p>
            <a:pPr fontAlgn="ctr"/>
            <a:r>
              <a:rPr lang="en-US" altLang="ja-JP" sz="600">
                <a:latin typeface="Meiryo UI" panose="020B0604030504040204" pitchFamily="34" charset="-128"/>
                <a:ea typeface="Meiryo UI" panose="020B0604030504040204" pitchFamily="34" charset="-128"/>
              </a:rPr>
              <a:t>328</a:t>
            </a:r>
          </a:p>
          <a:p>
            <a:pPr fontAlgn="ctr"/>
            <a:endParaRPr lang="en-US" altLang="ja-JP" sz="600">
              <a:latin typeface="Meiryo UI" panose="020B0604030504040204" pitchFamily="34" charset="-128"/>
              <a:ea typeface="Meiryo UI" panose="020B0604030504040204" pitchFamily="34" charset="-128"/>
            </a:endParaRPr>
          </a:p>
          <a:p>
            <a:pPr fontAlgn="ctr"/>
            <a:r>
              <a:rPr lang="ja-JP" altLang="en-US" sz="600">
                <a:latin typeface="Meiryo UI" panose="020B0604030504040204" pitchFamily="34" charset="-128"/>
                <a:ea typeface="Meiryo UI" panose="020B0604030504040204" pitchFamily="34" charset="-128"/>
              </a:rPr>
              <a:t>検索結果</a:t>
            </a:r>
          </a:p>
          <a:p>
            <a:pPr fontAlgn="ctr"/>
            <a:r>
              <a:rPr lang="en-US" altLang="ja-JP" sz="600">
                <a:latin typeface="Meiryo UI" panose="020B0604030504040204" pitchFamily="34" charset="-128"/>
                <a:ea typeface="Meiryo UI" panose="020B0604030504040204" pitchFamily="34" charset="-128"/>
              </a:rPr>
              <a:t>315</a:t>
            </a:r>
          </a:p>
        </p:txBody>
      </p:sp>
      <p:sp>
        <p:nvSpPr>
          <p:cNvPr id="18" name="テキスト ボックス 17">
            <a:extLst>
              <a:ext uri="{FF2B5EF4-FFF2-40B4-BE49-F238E27FC236}">
                <a16:creationId xmlns:a16="http://schemas.microsoft.com/office/drawing/2014/main" id="{7A83D507-9FA3-7634-D40A-25ABC1FB012E}"/>
              </a:ext>
            </a:extLst>
          </p:cNvPr>
          <p:cNvSpPr txBox="1"/>
          <p:nvPr/>
        </p:nvSpPr>
        <p:spPr>
          <a:xfrm>
            <a:off x="5122194" y="779869"/>
            <a:ext cx="1147440" cy="200055"/>
          </a:xfrm>
          <a:prstGeom prst="rect">
            <a:avLst/>
          </a:prstGeom>
          <a:noFill/>
        </p:spPr>
        <p:txBody>
          <a:bodyPr wrap="square">
            <a:spAutoFit/>
          </a:bodyPr>
          <a:lstStyle/>
          <a:p>
            <a:pPr algn="ctr"/>
            <a:r>
              <a:rPr lang="ja-JP" altLang="en-US" sz="700" b="1">
                <a:solidFill>
                  <a:srgbClr val="0F59B3"/>
                </a:solidFill>
                <a:latin typeface="Meiryo UI" panose="020B0604030504040204" pitchFamily="34" charset="-128"/>
                <a:ea typeface="Meiryo UI" panose="020B0604030504040204" pitchFamily="34" charset="-128"/>
              </a:rPr>
              <a:t>ランディングページ詳細</a:t>
            </a:r>
            <a:endParaRPr lang="ja-JP" altLang="en-US" sz="1200" b="1">
              <a:solidFill>
                <a:srgbClr val="0F59B3"/>
              </a:solidFill>
            </a:endParaRPr>
          </a:p>
        </p:txBody>
      </p:sp>
      <p:sp>
        <p:nvSpPr>
          <p:cNvPr id="19" name="テキスト ボックス 18">
            <a:extLst>
              <a:ext uri="{FF2B5EF4-FFF2-40B4-BE49-F238E27FC236}">
                <a16:creationId xmlns:a16="http://schemas.microsoft.com/office/drawing/2014/main" id="{1D139545-8E5A-513D-8E37-C66D8BB3717A}"/>
              </a:ext>
            </a:extLst>
          </p:cNvPr>
          <p:cNvSpPr txBox="1"/>
          <p:nvPr/>
        </p:nvSpPr>
        <p:spPr>
          <a:xfrm>
            <a:off x="6256651" y="779869"/>
            <a:ext cx="1147440" cy="200055"/>
          </a:xfrm>
          <a:prstGeom prst="rect">
            <a:avLst/>
          </a:prstGeom>
          <a:noFill/>
        </p:spPr>
        <p:txBody>
          <a:bodyPr wrap="square">
            <a:spAutoFit/>
          </a:bodyPr>
          <a:lstStyle/>
          <a:p>
            <a:pPr algn="ctr"/>
            <a:r>
              <a:rPr lang="en-US" altLang="ja-JP" sz="700" b="1">
                <a:solidFill>
                  <a:srgbClr val="0F59B3"/>
                </a:solidFill>
                <a:latin typeface="Meiryo UI" panose="020B0604030504040204" pitchFamily="34" charset="-128"/>
                <a:ea typeface="Meiryo UI" panose="020B0604030504040204" pitchFamily="34" charset="-128"/>
              </a:rPr>
              <a:t>TOP</a:t>
            </a:r>
            <a:r>
              <a:rPr lang="ja-JP" altLang="en-US" sz="700" b="1">
                <a:solidFill>
                  <a:srgbClr val="0F59B3"/>
                </a:solidFill>
                <a:latin typeface="Meiryo UI" panose="020B0604030504040204" pitchFamily="34" charset="-128"/>
                <a:ea typeface="Meiryo UI" panose="020B0604030504040204" pitchFamily="34" charset="-128"/>
              </a:rPr>
              <a:t>からの通過地点詳細</a:t>
            </a:r>
            <a:endParaRPr lang="ja-JP" altLang="en-US" sz="1200" b="1">
              <a:solidFill>
                <a:srgbClr val="0F59B3"/>
              </a:solidFill>
            </a:endParaRPr>
          </a:p>
        </p:txBody>
      </p:sp>
      <p:sp>
        <p:nvSpPr>
          <p:cNvPr id="8" name="テキスト ボックス 7">
            <a:extLst>
              <a:ext uri="{FF2B5EF4-FFF2-40B4-BE49-F238E27FC236}">
                <a16:creationId xmlns:a16="http://schemas.microsoft.com/office/drawing/2014/main" id="{33168D47-7CE7-49F9-D2D5-121FD64E08E5}"/>
              </a:ext>
            </a:extLst>
          </p:cNvPr>
          <p:cNvSpPr txBox="1"/>
          <p:nvPr/>
        </p:nvSpPr>
        <p:spPr>
          <a:xfrm>
            <a:off x="246988" y="740380"/>
            <a:ext cx="996479" cy="215444"/>
          </a:xfrm>
          <a:prstGeom prst="rect">
            <a:avLst/>
          </a:prstGeom>
          <a:noFill/>
        </p:spPr>
        <p:txBody>
          <a:bodyPr wrap="square">
            <a:spAutoFit/>
          </a:bodyPr>
          <a:lstStyle/>
          <a:p>
            <a:r>
              <a:rPr lang="ja-JP" altLang="en-US" sz="800" b="1">
                <a:solidFill>
                  <a:srgbClr val="0F59B3"/>
                </a:solidFill>
                <a:latin typeface="Meiryo UI" panose="020B0604030504040204" pitchFamily="34" charset="-128"/>
                <a:ea typeface="Meiryo UI" panose="020B0604030504040204" pitchFamily="34" charset="-128"/>
              </a:rPr>
              <a:t>セッションスタート</a:t>
            </a:r>
            <a:endParaRPr lang="ja-JP" altLang="en-US" b="1">
              <a:solidFill>
                <a:srgbClr val="0F59B3"/>
              </a:solidFill>
            </a:endParaRPr>
          </a:p>
        </p:txBody>
      </p:sp>
      <p:sp>
        <p:nvSpPr>
          <p:cNvPr id="11" name="テキスト ボックス 10">
            <a:extLst>
              <a:ext uri="{FF2B5EF4-FFF2-40B4-BE49-F238E27FC236}">
                <a16:creationId xmlns:a16="http://schemas.microsoft.com/office/drawing/2014/main" id="{16404F89-461F-0F18-CC93-233BD3B36B83}"/>
              </a:ext>
            </a:extLst>
          </p:cNvPr>
          <p:cNvSpPr txBox="1"/>
          <p:nvPr/>
        </p:nvSpPr>
        <p:spPr>
          <a:xfrm>
            <a:off x="7307444" y="779869"/>
            <a:ext cx="1326535" cy="200055"/>
          </a:xfrm>
          <a:prstGeom prst="rect">
            <a:avLst/>
          </a:prstGeom>
          <a:noFill/>
        </p:spPr>
        <p:txBody>
          <a:bodyPr wrap="square">
            <a:spAutoFit/>
          </a:bodyPr>
          <a:lstStyle/>
          <a:p>
            <a:pPr algn="ctr"/>
            <a:r>
              <a:rPr lang="en-US" altLang="ja-JP" sz="700" b="1">
                <a:solidFill>
                  <a:srgbClr val="0F59B3"/>
                </a:solidFill>
                <a:latin typeface="Meiryo UI" panose="020B0604030504040204" pitchFamily="34" charset="-128"/>
                <a:ea typeface="Meiryo UI" panose="020B0604030504040204" pitchFamily="34" charset="-128"/>
              </a:rPr>
              <a:t>2</a:t>
            </a:r>
            <a:r>
              <a:rPr lang="ja-JP" altLang="en-US" sz="700" b="1">
                <a:solidFill>
                  <a:srgbClr val="0F59B3"/>
                </a:solidFill>
                <a:latin typeface="Meiryo UI" panose="020B0604030504040204" pitchFamily="34" charset="-128"/>
                <a:ea typeface="Meiryo UI" panose="020B0604030504040204" pitchFamily="34" charset="-128"/>
              </a:rPr>
              <a:t>ページ目からの通過地点詳細</a:t>
            </a:r>
            <a:endParaRPr lang="ja-JP" altLang="en-US" sz="1200" b="1">
              <a:solidFill>
                <a:srgbClr val="0F59B3"/>
              </a:solidFill>
            </a:endParaRPr>
          </a:p>
        </p:txBody>
      </p:sp>
      <p:sp>
        <p:nvSpPr>
          <p:cNvPr id="2" name="Google Shape;101;p13">
            <a:extLst>
              <a:ext uri="{FF2B5EF4-FFF2-40B4-BE49-F238E27FC236}">
                <a16:creationId xmlns:a16="http://schemas.microsoft.com/office/drawing/2014/main" id="{BF315487-D816-F58D-94A8-E56F47869FA9}"/>
              </a:ext>
            </a:extLst>
          </p:cNvPr>
          <p:cNvSpPr txBox="1"/>
          <p:nvPr/>
        </p:nvSpPr>
        <p:spPr>
          <a:xfrm>
            <a:off x="779236" y="3837002"/>
            <a:ext cx="7338604" cy="834826"/>
          </a:xfrm>
          <a:prstGeom prst="rect">
            <a:avLst/>
          </a:prstGeom>
          <a:solidFill>
            <a:schemeClr val="bg1"/>
          </a:solidFill>
          <a:ln w="19050">
            <a:solidFill>
              <a:schemeClr val="tx1"/>
            </a:solidFill>
          </a:ln>
        </p:spPr>
        <p:txBody>
          <a:bodyPr spcFirstLastPara="1" wrap="square" lIns="72000" tIns="72000" rIns="72000" bIns="72000" anchor="t" anchorCtr="0">
            <a:spAutoFit/>
          </a:bodyPr>
          <a:lstStyle/>
          <a:p>
            <a:pPr marL="171450" indent="-171450">
              <a:lnSpc>
                <a:spcPct val="140000"/>
              </a:lnSpc>
              <a:buSzPct val="100000"/>
              <a:buFont typeface="Arial" panose="020B0604020202020204" pitchFamily="34" charset="0"/>
              <a:buChar char="•"/>
            </a:pPr>
            <a:r>
              <a:rPr lang="ja-JP" altLang="en-US" sz="800">
                <a:solidFill>
                  <a:schemeClr val="bg2"/>
                </a:solidFill>
                <a:latin typeface="Meiryo UI"/>
                <a:ea typeface="Meiryo UI"/>
              </a:rPr>
              <a:t>「政府専用機の運航」「アメリカ合衆国戦争長官の当省訪問」など、外交・安全保障関連のランディングが目立ち、国際関係への注目が高まっています。</a:t>
            </a:r>
          </a:p>
          <a:p>
            <a:pPr marL="171450" indent="-171450">
              <a:lnSpc>
                <a:spcPct val="140000"/>
              </a:lnSpc>
              <a:buSzPct val="100000"/>
              <a:buFont typeface="Arial" panose="020B0604020202020204" pitchFamily="34" charset="0"/>
              <a:buChar char="•"/>
            </a:pPr>
            <a:r>
              <a:rPr lang="ja-JP" altLang="en-US" sz="800">
                <a:solidFill>
                  <a:schemeClr val="bg2"/>
                </a:solidFill>
                <a:latin typeface="Meiryo UI"/>
                <a:ea typeface="Meiryo UI"/>
              </a:rPr>
              <a:t>「防衛大臣・副大臣・政務官」関連のページも上位に入り、組織トップへの関心が引き続き見られます。</a:t>
            </a:r>
          </a:p>
          <a:p>
            <a:pPr marL="171450" indent="-171450">
              <a:lnSpc>
                <a:spcPct val="140000"/>
              </a:lnSpc>
              <a:buSzPct val="100000"/>
              <a:buFont typeface="Arial" panose="020B0604020202020204" pitchFamily="34" charset="0"/>
              <a:buChar char="•"/>
            </a:pPr>
            <a:r>
              <a:rPr lang="en" altLang="ja-JP" sz="800">
                <a:solidFill>
                  <a:schemeClr val="bg2"/>
                </a:solidFill>
                <a:latin typeface="Meiryo UI"/>
                <a:ea typeface="Meiryo UI"/>
              </a:rPr>
              <a:t>TOP</a:t>
            </a:r>
            <a:r>
              <a:rPr lang="ja-JP" altLang="en-US" sz="800">
                <a:solidFill>
                  <a:schemeClr val="bg2"/>
                </a:solidFill>
                <a:latin typeface="Meiryo UI"/>
                <a:ea typeface="Meiryo UI"/>
              </a:rPr>
              <a:t>ページからの遷移では「報道・白書・広報イベント」への導線が最も多く、広報・公式発信への関心は引き続き高い状態です。</a:t>
            </a:r>
          </a:p>
          <a:p>
            <a:pPr marL="171450" indent="-171450">
              <a:lnSpc>
                <a:spcPct val="140000"/>
              </a:lnSpc>
              <a:buSzPct val="100000"/>
              <a:buFont typeface="Arial" panose="020B0604020202020204" pitchFamily="34" charset="0"/>
              <a:buChar char="•"/>
            </a:pPr>
            <a:r>
              <a:rPr lang="en-US" altLang="ja-JP" sz="800">
                <a:solidFill>
                  <a:schemeClr val="bg2"/>
                </a:solidFill>
                <a:latin typeface="Meiryo UI"/>
                <a:ea typeface="Meiryo UI"/>
              </a:rPr>
              <a:t>2</a:t>
            </a:r>
            <a:r>
              <a:rPr lang="ja-JP" altLang="en-US" sz="800">
                <a:solidFill>
                  <a:schemeClr val="bg2"/>
                </a:solidFill>
                <a:latin typeface="Meiryo UI"/>
                <a:ea typeface="Meiryo UI"/>
              </a:rPr>
              <a:t>ページ目以降では「防衛省について」や「予算・調達」「採用情報」など制度・業務に関する情報へのアクセスが多く、閲覧者の情報探索行動が多様化しています。</a:t>
            </a:r>
          </a:p>
        </p:txBody>
      </p:sp>
    </p:spTree>
    <p:extLst>
      <p:ext uri="{BB962C8B-B14F-4D97-AF65-F5344CB8AC3E}">
        <p14:creationId xmlns:p14="http://schemas.microsoft.com/office/powerpoint/2010/main" val="2418170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10" name="図 9">
            <a:extLst>
              <a:ext uri="{FF2B5EF4-FFF2-40B4-BE49-F238E27FC236}">
                <a16:creationId xmlns:a16="http://schemas.microsoft.com/office/drawing/2014/main" id="{B4993740-87C3-67F1-CDDB-551B6D9F4874}"/>
              </a:ext>
            </a:extLst>
          </p:cNvPr>
          <p:cNvPicPr>
            <a:picLocks noChangeAspect="1"/>
          </p:cNvPicPr>
          <p:nvPr/>
        </p:nvPicPr>
        <p:blipFill>
          <a:blip r:embed="rId3"/>
          <a:stretch>
            <a:fillRect/>
          </a:stretch>
        </p:blipFill>
        <p:spPr>
          <a:xfrm>
            <a:off x="627308" y="675207"/>
            <a:ext cx="7772400" cy="4069010"/>
          </a:xfrm>
          <a:prstGeom prst="rect">
            <a:avLst/>
          </a:prstGeom>
        </p:spPr>
      </p:pic>
      <p:sp>
        <p:nvSpPr>
          <p:cNvPr id="31" name="Google Shape;13;p2">
            <a:extLst>
              <a:ext uri="{FF2B5EF4-FFF2-40B4-BE49-F238E27FC236}">
                <a16:creationId xmlns:a16="http://schemas.microsoft.com/office/drawing/2014/main" id="{086DD73C-A064-4F45-A1B6-BBF968B23CFD}"/>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8</a:t>
            </a:fld>
            <a:endParaRPr lang="ja" altLang="en-US">
              <a:solidFill>
                <a:srgbClr val="4E5F7A"/>
              </a:solidFill>
            </a:endParaRPr>
          </a:p>
        </p:txBody>
      </p:sp>
      <p:sp>
        <p:nvSpPr>
          <p:cNvPr id="39" name="Google Shape;125;p15">
            <a:extLst>
              <a:ext uri="{FF2B5EF4-FFF2-40B4-BE49-F238E27FC236}">
                <a16:creationId xmlns:a16="http://schemas.microsoft.com/office/drawing/2014/main" id="{420754D4-E1DA-2A40-9942-A077C0E0A450}"/>
              </a:ext>
            </a:extLst>
          </p:cNvPr>
          <p:cNvSpPr txBox="1">
            <a:spLocks noGrp="1"/>
          </p:cNvSpPr>
          <p:nvPr>
            <p:ph type="title"/>
          </p:nvPr>
        </p:nvSpPr>
        <p:spPr>
          <a:xfrm>
            <a:off x="228600" y="57150"/>
            <a:ext cx="2333822" cy="526800"/>
          </a:xfrm>
          <a:prstGeom prst="rect">
            <a:avLst/>
          </a:prstGeom>
        </p:spPr>
        <p:txBody>
          <a:bodyPr spcFirstLastPara="1" wrap="square" lIns="0" tIns="0" rIns="0" bIns="0" anchor="ctr" anchorCtr="0">
            <a:noAutofit/>
          </a:bodyPr>
          <a:lstStyle/>
          <a:p>
            <a:pPr lvl="0"/>
            <a:r>
              <a:rPr lang="en-US" altLang="ja-JP"/>
              <a:t>2025</a:t>
            </a:r>
            <a:r>
              <a:rPr lang="ja-JP" altLang="en-US"/>
              <a:t>年</a:t>
            </a:r>
            <a:r>
              <a:rPr lang="en-US" altLang="ja-JP"/>
              <a:t>10</a:t>
            </a:r>
            <a:r>
              <a:rPr lang="ja-JP" altLang="en-US"/>
              <a:t>月の</a:t>
            </a:r>
            <a:r>
              <a:rPr lang="en-US" altLang="ja-JP"/>
              <a:t>KGI/KPI</a:t>
            </a:r>
            <a:r>
              <a:rPr lang="ja-JP" altLang="en-US"/>
              <a:t>指標</a:t>
            </a:r>
            <a:endParaRPr/>
          </a:p>
        </p:txBody>
      </p:sp>
      <p:sp>
        <p:nvSpPr>
          <p:cNvPr id="5" name="Google Shape;105;p13">
            <a:extLst>
              <a:ext uri="{FF2B5EF4-FFF2-40B4-BE49-F238E27FC236}">
                <a16:creationId xmlns:a16="http://schemas.microsoft.com/office/drawing/2014/main" id="{972AF041-2EF2-3CE3-B08C-4C1DFF77CAD9}"/>
              </a:ext>
            </a:extLst>
          </p:cNvPr>
          <p:cNvSpPr txBox="1"/>
          <p:nvPr/>
        </p:nvSpPr>
        <p:spPr>
          <a:xfrm>
            <a:off x="4786759" y="1730145"/>
            <a:ext cx="1897123" cy="24776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lnSpc>
                <a:spcPct val="115000"/>
              </a:lnSpc>
              <a:defRPr>
                <a:solidFill>
                  <a:srgbClr val="0F59B3"/>
                </a:solidFill>
                <a:latin typeface="Meiryo UI" panose="020B0604030504040204" pitchFamily="34" charset="-128"/>
                <a:ea typeface="Meiryo UI" panose="020B0604030504040204" pitchFamily="34" charset="-128"/>
              </a:defRPr>
            </a:lvl1pPr>
          </a:lstStyle>
          <a:p>
            <a:pPr algn="l"/>
            <a:r>
              <a:rPr lang="ja" altLang="en-US"/>
              <a:t> </a:t>
            </a:r>
            <a:r>
              <a:rPr lang="en-US" altLang="ja"/>
              <a:t>KGI</a:t>
            </a:r>
            <a:r>
              <a:rPr lang="en-US" altLang="ja-JP"/>
              <a:t>/KPI</a:t>
            </a:r>
            <a:r>
              <a:rPr lang="ja-JP" altLang="en-US"/>
              <a:t>データの</a:t>
            </a:r>
            <a:r>
              <a:rPr lang="ja" altLang="en-US"/>
              <a:t>概要</a:t>
            </a:r>
            <a:endParaRPr/>
          </a:p>
        </p:txBody>
      </p:sp>
      <p:cxnSp>
        <p:nvCxnSpPr>
          <p:cNvPr id="7" name="Google Shape;106;p13">
            <a:extLst>
              <a:ext uri="{FF2B5EF4-FFF2-40B4-BE49-F238E27FC236}">
                <a16:creationId xmlns:a16="http://schemas.microsoft.com/office/drawing/2014/main" id="{6BD3AC3B-18E6-D7EC-A218-82DF15EB1137}"/>
              </a:ext>
            </a:extLst>
          </p:cNvPr>
          <p:cNvCxnSpPr>
            <a:cxnSpLocks/>
          </p:cNvCxnSpPr>
          <p:nvPr/>
        </p:nvCxnSpPr>
        <p:spPr>
          <a:xfrm>
            <a:off x="4731511" y="1741241"/>
            <a:ext cx="0" cy="200700"/>
          </a:xfrm>
          <a:prstGeom prst="straightConnector1">
            <a:avLst/>
          </a:prstGeom>
          <a:noFill/>
          <a:ln w="38100" cap="flat" cmpd="sng">
            <a:solidFill>
              <a:srgbClr val="0F59B3"/>
            </a:solidFill>
            <a:prstDash val="solid"/>
            <a:round/>
            <a:headEnd type="none" w="med" len="med"/>
            <a:tailEnd type="none" w="med" len="med"/>
          </a:ln>
        </p:spPr>
      </p:cxnSp>
      <p:sp>
        <p:nvSpPr>
          <p:cNvPr id="8" name="Google Shape;101;p13">
            <a:extLst>
              <a:ext uri="{FF2B5EF4-FFF2-40B4-BE49-F238E27FC236}">
                <a16:creationId xmlns:a16="http://schemas.microsoft.com/office/drawing/2014/main" id="{C94ED244-84FF-35E5-DEE3-1E28A67A17E7}"/>
              </a:ext>
            </a:extLst>
          </p:cNvPr>
          <p:cNvSpPr txBox="1"/>
          <p:nvPr/>
        </p:nvSpPr>
        <p:spPr>
          <a:xfrm>
            <a:off x="4712300" y="1975481"/>
            <a:ext cx="3807516" cy="1378839"/>
          </a:xfrm>
          <a:prstGeom prst="rect">
            <a:avLst/>
          </a:prstGeom>
          <a:noFill/>
          <a:ln>
            <a:noFill/>
          </a:ln>
        </p:spPr>
        <p:txBody>
          <a:bodyPr spcFirstLastPara="1" wrap="square" lIns="0" tIns="0" rIns="0" bIns="0" anchor="t" anchorCtr="0">
            <a:spAutoFit/>
          </a:bodyPr>
          <a:lstStyle/>
          <a:p>
            <a:pPr marL="171450" indent="-171450">
              <a:lnSpc>
                <a:spcPct val="140000"/>
              </a:lnSpc>
              <a:buSzPct val="100000"/>
              <a:buFont typeface="Arial" panose="020B0604020202020204" pitchFamily="34" charset="0"/>
              <a:buChar char="•"/>
            </a:pPr>
            <a:r>
              <a:rPr lang="ja-JP" altLang="en-US" sz="800">
                <a:solidFill>
                  <a:schemeClr val="bg2"/>
                </a:solidFill>
                <a:latin typeface="Meiryo UI"/>
                <a:ea typeface="Meiryo UI"/>
              </a:rPr>
              <a:t>全体</a:t>
            </a:r>
            <a:r>
              <a:rPr lang="en" altLang="ja-JP" sz="800" dirty="0">
                <a:solidFill>
                  <a:schemeClr val="bg2"/>
                </a:solidFill>
                <a:latin typeface="Meiryo UI"/>
                <a:ea typeface="Meiryo UI"/>
              </a:rPr>
              <a:t>PV</a:t>
            </a:r>
            <a:r>
              <a:rPr lang="ja-JP" altLang="en-US" sz="800">
                <a:solidFill>
                  <a:schemeClr val="bg2"/>
                </a:solidFill>
                <a:latin typeface="Meiryo UI"/>
                <a:ea typeface="Meiryo UI"/>
              </a:rPr>
              <a:t>数は</a:t>
            </a:r>
            <a:r>
              <a:rPr lang="en-US" altLang="ja-JP" sz="800" dirty="0">
                <a:solidFill>
                  <a:schemeClr val="bg2"/>
                </a:solidFill>
                <a:latin typeface="Meiryo UI"/>
                <a:ea typeface="Meiryo UI"/>
              </a:rPr>
              <a:t>2,158,924</a:t>
            </a:r>
            <a:r>
              <a:rPr lang="ja-JP" altLang="en-US" sz="800">
                <a:solidFill>
                  <a:schemeClr val="bg2"/>
                </a:solidFill>
                <a:latin typeface="Meiryo UI"/>
                <a:ea typeface="Meiryo UI"/>
              </a:rPr>
              <a:t>で前月比</a:t>
            </a:r>
            <a:r>
              <a:rPr lang="en-US" altLang="ja-JP" sz="800" dirty="0">
                <a:solidFill>
                  <a:schemeClr val="bg2"/>
                </a:solidFill>
                <a:latin typeface="Meiryo UI"/>
                <a:ea typeface="Meiryo UI"/>
              </a:rPr>
              <a:t>14.5%</a:t>
            </a:r>
            <a:r>
              <a:rPr lang="ja-JP" altLang="en-US" sz="800">
                <a:solidFill>
                  <a:schemeClr val="bg2"/>
                </a:solidFill>
                <a:latin typeface="Meiryo UI"/>
                <a:ea typeface="Meiryo UI"/>
              </a:rPr>
              <a:t>増、セッション数も</a:t>
            </a:r>
            <a:r>
              <a:rPr lang="en-US" altLang="ja-JP" sz="800" dirty="0">
                <a:solidFill>
                  <a:schemeClr val="bg2"/>
                </a:solidFill>
                <a:latin typeface="Meiryo UI"/>
                <a:ea typeface="Meiryo UI"/>
              </a:rPr>
              <a:t>20.2%</a:t>
            </a:r>
            <a:r>
              <a:rPr lang="ja-JP" altLang="en-US" sz="800">
                <a:solidFill>
                  <a:schemeClr val="bg2"/>
                </a:solidFill>
                <a:latin typeface="Meiryo UI"/>
                <a:ea typeface="Meiryo UI"/>
              </a:rPr>
              <a:t>増と大きく伸長し、新規訪問数（</a:t>
            </a:r>
            <a:r>
              <a:rPr lang="en-US" altLang="ja-JP" sz="800" dirty="0">
                <a:solidFill>
                  <a:schemeClr val="bg2"/>
                </a:solidFill>
                <a:latin typeface="Meiryo UI"/>
                <a:ea typeface="Meiryo UI"/>
              </a:rPr>
              <a:t>+20.9%</a:t>
            </a:r>
            <a:r>
              <a:rPr lang="ja-JP" altLang="en-US" sz="800">
                <a:solidFill>
                  <a:schemeClr val="bg2"/>
                </a:solidFill>
                <a:latin typeface="Meiryo UI"/>
                <a:ea typeface="Meiryo UI"/>
              </a:rPr>
              <a:t>）・再訪問数（</a:t>
            </a:r>
            <a:r>
              <a:rPr lang="en-US" altLang="ja-JP" sz="800" dirty="0">
                <a:solidFill>
                  <a:schemeClr val="bg2"/>
                </a:solidFill>
                <a:latin typeface="Meiryo UI"/>
                <a:ea typeface="Meiryo UI"/>
              </a:rPr>
              <a:t>+17.5%</a:t>
            </a:r>
            <a:r>
              <a:rPr lang="ja-JP" altLang="en-US" sz="800">
                <a:solidFill>
                  <a:schemeClr val="bg2"/>
                </a:solidFill>
                <a:latin typeface="Meiryo UI"/>
                <a:ea typeface="Meiryo UI"/>
              </a:rPr>
              <a:t>）ともにバランスよく増加しました。</a:t>
            </a:r>
          </a:p>
          <a:p>
            <a:pPr marL="171450" indent="-171450">
              <a:lnSpc>
                <a:spcPct val="140000"/>
              </a:lnSpc>
              <a:buSzPct val="100000"/>
              <a:buFont typeface="Arial" panose="020B0604020202020204" pitchFamily="34" charset="0"/>
              <a:buChar char="•"/>
            </a:pPr>
            <a:r>
              <a:rPr lang="ja-JP" altLang="en-US" sz="800">
                <a:solidFill>
                  <a:schemeClr val="bg2"/>
                </a:solidFill>
                <a:latin typeface="Meiryo UI"/>
                <a:ea typeface="Meiryo UI"/>
              </a:rPr>
              <a:t>「防衛省・自衛隊」ページは約</a:t>
            </a:r>
            <a:r>
              <a:rPr lang="en-US" altLang="ja-JP" sz="800" dirty="0">
                <a:solidFill>
                  <a:schemeClr val="bg2"/>
                </a:solidFill>
                <a:latin typeface="Meiryo UI"/>
                <a:ea typeface="Meiryo UI"/>
              </a:rPr>
              <a:t>41</a:t>
            </a:r>
            <a:r>
              <a:rPr lang="ja-JP" altLang="en-US" sz="800">
                <a:solidFill>
                  <a:schemeClr val="bg2"/>
                </a:solidFill>
                <a:latin typeface="Meiryo UI"/>
                <a:ea typeface="Meiryo UI"/>
              </a:rPr>
              <a:t>万回表示、新規訪問者は</a:t>
            </a:r>
            <a:r>
              <a:rPr lang="en-US" altLang="ja-JP" sz="800" dirty="0">
                <a:solidFill>
                  <a:schemeClr val="bg2"/>
                </a:solidFill>
                <a:latin typeface="Meiryo UI"/>
                <a:ea typeface="Meiryo UI"/>
              </a:rPr>
              <a:t>19</a:t>
            </a:r>
            <a:r>
              <a:rPr lang="ja-JP" altLang="en-US" sz="800">
                <a:solidFill>
                  <a:schemeClr val="bg2"/>
                </a:solidFill>
                <a:latin typeface="Meiryo UI"/>
                <a:ea typeface="Meiryo UI"/>
              </a:rPr>
              <a:t>万人超と引き続き最大の流入源となっており、安定した関心を集めています。</a:t>
            </a:r>
          </a:p>
          <a:p>
            <a:pPr marL="171450" indent="-171450">
              <a:lnSpc>
                <a:spcPct val="140000"/>
              </a:lnSpc>
              <a:buSzPct val="100000"/>
              <a:buFont typeface="Arial" panose="020B0604020202020204" pitchFamily="34" charset="0"/>
              <a:buChar char="•"/>
            </a:pPr>
            <a:r>
              <a:rPr lang="ja-JP" altLang="en-US" sz="800">
                <a:solidFill>
                  <a:schemeClr val="bg2"/>
                </a:solidFill>
                <a:latin typeface="Meiryo UI"/>
                <a:ea typeface="Meiryo UI"/>
              </a:rPr>
              <a:t>「政府専用機の運航について」や「自衛官の階級」も</a:t>
            </a:r>
            <a:r>
              <a:rPr lang="en-US" altLang="ja-JP" sz="800" dirty="0">
                <a:solidFill>
                  <a:schemeClr val="bg2"/>
                </a:solidFill>
                <a:latin typeface="Meiryo UI"/>
                <a:ea typeface="Meiryo UI"/>
              </a:rPr>
              <a:t>5</a:t>
            </a:r>
            <a:r>
              <a:rPr lang="ja-JP" altLang="en-US" sz="800">
                <a:solidFill>
                  <a:schemeClr val="bg2"/>
                </a:solidFill>
                <a:latin typeface="Meiryo UI"/>
                <a:ea typeface="Meiryo UI"/>
              </a:rPr>
              <a:t>万近い新規訪問者を獲得しており、検索経由での獲得力が強いコンテンツとなっています。</a:t>
            </a:r>
          </a:p>
          <a:p>
            <a:pPr marL="171450" indent="-171450">
              <a:lnSpc>
                <a:spcPct val="140000"/>
              </a:lnSpc>
              <a:buSzPct val="100000"/>
              <a:buFont typeface="Arial" panose="020B0604020202020204" pitchFamily="34" charset="0"/>
              <a:buChar char="•"/>
            </a:pPr>
            <a:r>
              <a:rPr lang="ja-JP" altLang="en-US" sz="800">
                <a:solidFill>
                  <a:schemeClr val="bg2"/>
                </a:solidFill>
                <a:latin typeface="Meiryo UI"/>
                <a:ea typeface="Meiryo UI"/>
              </a:rPr>
              <a:t>直帰率は</a:t>
            </a:r>
            <a:r>
              <a:rPr lang="en-US" altLang="ja-JP" sz="800" dirty="0">
                <a:solidFill>
                  <a:schemeClr val="bg2"/>
                </a:solidFill>
                <a:latin typeface="Meiryo UI"/>
                <a:ea typeface="Meiryo UI"/>
              </a:rPr>
              <a:t>4.4%</a:t>
            </a:r>
            <a:r>
              <a:rPr lang="ja-JP" altLang="en-US" sz="800">
                <a:solidFill>
                  <a:schemeClr val="bg2"/>
                </a:solidFill>
                <a:latin typeface="Meiryo UI"/>
                <a:ea typeface="Meiryo UI"/>
              </a:rPr>
              <a:t>改善し、</a:t>
            </a:r>
            <a:r>
              <a:rPr lang="en-US" altLang="ja-JP" sz="800" dirty="0">
                <a:solidFill>
                  <a:schemeClr val="bg2"/>
                </a:solidFill>
                <a:latin typeface="Meiryo UI"/>
                <a:ea typeface="Meiryo UI"/>
              </a:rPr>
              <a:t>51.26%</a:t>
            </a:r>
            <a:r>
              <a:rPr lang="ja-JP" altLang="en-US" sz="800">
                <a:solidFill>
                  <a:schemeClr val="bg2"/>
                </a:solidFill>
                <a:latin typeface="Meiryo UI"/>
                <a:ea typeface="Meiryo UI"/>
              </a:rPr>
              <a:t>まで低下。閲覧開始ページからの離脱が減少しており、コンテンツの初動吸引力が高まっていることが読み取れます。</a:t>
            </a:r>
            <a:endParaRPr lang="en-US" altLang="en-US" sz="800" dirty="0">
              <a:solidFill>
                <a:schemeClr val="bg2"/>
              </a:solidFill>
              <a:latin typeface="Meiryo UI"/>
              <a:ea typeface="Meiryo UI"/>
            </a:endParaRPr>
          </a:p>
        </p:txBody>
      </p:sp>
    </p:spTree>
    <p:extLst>
      <p:ext uri="{BB962C8B-B14F-4D97-AF65-F5344CB8AC3E}">
        <p14:creationId xmlns:p14="http://schemas.microsoft.com/office/powerpoint/2010/main" val="4233664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9CA95FDE-83FD-B297-FF85-5DF847F97509}"/>
            </a:ext>
          </a:extLst>
        </p:cNvPr>
        <p:cNvGrpSpPr/>
        <p:nvPr/>
      </p:nvGrpSpPr>
      <p:grpSpPr>
        <a:xfrm>
          <a:off x="0" y="0"/>
          <a:ext cx="0" cy="0"/>
          <a:chOff x="0" y="0"/>
          <a:chExt cx="0" cy="0"/>
        </a:xfrm>
      </p:grpSpPr>
      <p:sp>
        <p:nvSpPr>
          <p:cNvPr id="31" name="Google Shape;13;p2">
            <a:extLst>
              <a:ext uri="{FF2B5EF4-FFF2-40B4-BE49-F238E27FC236}">
                <a16:creationId xmlns:a16="http://schemas.microsoft.com/office/drawing/2014/main" id="{190EF009-9658-6483-5D94-97B451558EB1}"/>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9</a:t>
            </a:fld>
            <a:endParaRPr lang="ja" altLang="en-US">
              <a:solidFill>
                <a:srgbClr val="4E5F7A"/>
              </a:solidFill>
            </a:endParaRPr>
          </a:p>
        </p:txBody>
      </p:sp>
      <p:sp>
        <p:nvSpPr>
          <p:cNvPr id="39" name="Google Shape;125;p15">
            <a:extLst>
              <a:ext uri="{FF2B5EF4-FFF2-40B4-BE49-F238E27FC236}">
                <a16:creationId xmlns:a16="http://schemas.microsoft.com/office/drawing/2014/main" id="{9C40E4B9-A48A-AD79-FD25-FCEC69DFEE42}"/>
              </a:ext>
            </a:extLst>
          </p:cNvPr>
          <p:cNvSpPr txBox="1">
            <a:spLocks noGrp="1"/>
          </p:cNvSpPr>
          <p:nvPr>
            <p:ph type="title"/>
          </p:nvPr>
        </p:nvSpPr>
        <p:spPr>
          <a:xfrm>
            <a:off x="228600" y="57150"/>
            <a:ext cx="2333822" cy="526800"/>
          </a:xfrm>
          <a:prstGeom prst="rect">
            <a:avLst/>
          </a:prstGeom>
        </p:spPr>
        <p:txBody>
          <a:bodyPr spcFirstLastPara="1" wrap="square" lIns="0" tIns="0" rIns="0" bIns="0" anchor="ctr" anchorCtr="0">
            <a:noAutofit/>
          </a:bodyPr>
          <a:lstStyle/>
          <a:p>
            <a:pPr lvl="0"/>
            <a:r>
              <a:rPr lang="en-US" altLang="ja-JP"/>
              <a:t>2025</a:t>
            </a:r>
            <a:r>
              <a:rPr lang="ja-JP" altLang="en-US"/>
              <a:t>年</a:t>
            </a:r>
            <a:r>
              <a:rPr lang="en-US" altLang="ja-JP"/>
              <a:t>10</a:t>
            </a:r>
            <a:r>
              <a:rPr lang="ja-JP" altLang="en-US"/>
              <a:t>月の</a:t>
            </a:r>
            <a:r>
              <a:rPr lang="en-US" altLang="ja-JP"/>
              <a:t>KGI/KPI</a:t>
            </a:r>
            <a:r>
              <a:rPr lang="ja-JP" altLang="en-US"/>
              <a:t>指標</a:t>
            </a:r>
            <a:endParaRPr/>
          </a:p>
        </p:txBody>
      </p:sp>
      <p:sp>
        <p:nvSpPr>
          <p:cNvPr id="2" name="Google Shape;105;p13">
            <a:extLst>
              <a:ext uri="{FF2B5EF4-FFF2-40B4-BE49-F238E27FC236}">
                <a16:creationId xmlns:a16="http://schemas.microsoft.com/office/drawing/2014/main" id="{07D8367A-3A22-09C5-B4A7-97CB11D98EE4}"/>
              </a:ext>
            </a:extLst>
          </p:cNvPr>
          <p:cNvSpPr txBox="1"/>
          <p:nvPr/>
        </p:nvSpPr>
        <p:spPr>
          <a:xfrm>
            <a:off x="378465" y="799885"/>
            <a:ext cx="1883482" cy="24776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algn="ctr">
              <a:lnSpc>
                <a:spcPct val="115000"/>
              </a:lnSpc>
              <a:defRPr>
                <a:solidFill>
                  <a:srgbClr val="0F59B3"/>
                </a:solidFill>
                <a:latin typeface="Meiryo UI" panose="020B0604030504040204" pitchFamily="34" charset="-128"/>
                <a:ea typeface="Meiryo UI" panose="020B0604030504040204" pitchFamily="34" charset="-128"/>
              </a:defRPr>
            </a:lvl1pPr>
          </a:lstStyle>
          <a:p>
            <a:pPr algn="l"/>
            <a:r>
              <a:rPr lang="ja-JP" altLang="en-US"/>
              <a:t>月毎の推移</a:t>
            </a:r>
            <a:endParaRPr/>
          </a:p>
        </p:txBody>
      </p:sp>
      <p:cxnSp>
        <p:nvCxnSpPr>
          <p:cNvPr id="4" name="Google Shape;106;p13">
            <a:extLst>
              <a:ext uri="{FF2B5EF4-FFF2-40B4-BE49-F238E27FC236}">
                <a16:creationId xmlns:a16="http://schemas.microsoft.com/office/drawing/2014/main" id="{CC3B5780-03EC-2660-33A2-414469150FCF}"/>
              </a:ext>
            </a:extLst>
          </p:cNvPr>
          <p:cNvCxnSpPr>
            <a:cxnSpLocks/>
          </p:cNvCxnSpPr>
          <p:nvPr/>
        </p:nvCxnSpPr>
        <p:spPr>
          <a:xfrm>
            <a:off x="257658" y="823415"/>
            <a:ext cx="0" cy="200700"/>
          </a:xfrm>
          <a:prstGeom prst="straightConnector1">
            <a:avLst/>
          </a:prstGeom>
          <a:noFill/>
          <a:ln w="38100" cap="flat" cmpd="sng">
            <a:solidFill>
              <a:srgbClr val="0F59B3"/>
            </a:solidFill>
            <a:prstDash val="solid"/>
            <a:round/>
            <a:headEnd type="none" w="med" len="med"/>
            <a:tailEnd type="none" w="med" len="med"/>
          </a:ln>
        </p:spPr>
      </p:cxnSp>
      <p:graphicFrame>
        <p:nvGraphicFramePr>
          <p:cNvPr id="7" name="表 6">
            <a:extLst>
              <a:ext uri="{FF2B5EF4-FFF2-40B4-BE49-F238E27FC236}">
                <a16:creationId xmlns:a16="http://schemas.microsoft.com/office/drawing/2014/main" id="{E2BB7748-7DE3-BA45-3DEE-2B3EFC45CBD0}"/>
              </a:ext>
            </a:extLst>
          </p:cNvPr>
          <p:cNvGraphicFramePr>
            <a:graphicFrameLocks noGrp="1"/>
          </p:cNvGraphicFramePr>
          <p:nvPr/>
        </p:nvGraphicFramePr>
        <p:xfrm>
          <a:off x="311152" y="1719375"/>
          <a:ext cx="8521696" cy="2282599"/>
        </p:xfrm>
        <a:graphic>
          <a:graphicData uri="http://schemas.openxmlformats.org/drawingml/2006/table">
            <a:tbl>
              <a:tblPr/>
              <a:tblGrid>
                <a:gridCol w="1065212">
                  <a:extLst>
                    <a:ext uri="{9D8B030D-6E8A-4147-A177-3AD203B41FA5}">
                      <a16:colId xmlns:a16="http://schemas.microsoft.com/office/drawing/2014/main" val="3058081626"/>
                    </a:ext>
                  </a:extLst>
                </a:gridCol>
                <a:gridCol w="1065212">
                  <a:extLst>
                    <a:ext uri="{9D8B030D-6E8A-4147-A177-3AD203B41FA5}">
                      <a16:colId xmlns:a16="http://schemas.microsoft.com/office/drawing/2014/main" val="2694764204"/>
                    </a:ext>
                  </a:extLst>
                </a:gridCol>
                <a:gridCol w="1065212">
                  <a:extLst>
                    <a:ext uri="{9D8B030D-6E8A-4147-A177-3AD203B41FA5}">
                      <a16:colId xmlns:a16="http://schemas.microsoft.com/office/drawing/2014/main" val="3866300390"/>
                    </a:ext>
                  </a:extLst>
                </a:gridCol>
                <a:gridCol w="1065212">
                  <a:extLst>
                    <a:ext uri="{9D8B030D-6E8A-4147-A177-3AD203B41FA5}">
                      <a16:colId xmlns:a16="http://schemas.microsoft.com/office/drawing/2014/main" val="1516985421"/>
                    </a:ext>
                  </a:extLst>
                </a:gridCol>
                <a:gridCol w="1065212">
                  <a:extLst>
                    <a:ext uri="{9D8B030D-6E8A-4147-A177-3AD203B41FA5}">
                      <a16:colId xmlns:a16="http://schemas.microsoft.com/office/drawing/2014/main" val="1812087650"/>
                    </a:ext>
                  </a:extLst>
                </a:gridCol>
                <a:gridCol w="1065212">
                  <a:extLst>
                    <a:ext uri="{9D8B030D-6E8A-4147-A177-3AD203B41FA5}">
                      <a16:colId xmlns:a16="http://schemas.microsoft.com/office/drawing/2014/main" val="3824254199"/>
                    </a:ext>
                  </a:extLst>
                </a:gridCol>
                <a:gridCol w="1065212">
                  <a:extLst>
                    <a:ext uri="{9D8B030D-6E8A-4147-A177-3AD203B41FA5}">
                      <a16:colId xmlns:a16="http://schemas.microsoft.com/office/drawing/2014/main" val="4110630265"/>
                    </a:ext>
                  </a:extLst>
                </a:gridCol>
                <a:gridCol w="1065212">
                  <a:extLst>
                    <a:ext uri="{9D8B030D-6E8A-4147-A177-3AD203B41FA5}">
                      <a16:colId xmlns:a16="http://schemas.microsoft.com/office/drawing/2014/main" val="3832278276"/>
                    </a:ext>
                  </a:extLst>
                </a:gridCol>
              </a:tblGrid>
              <a:tr h="258033">
                <a:tc>
                  <a:txBody>
                    <a:bodyPr/>
                    <a:lstStyle/>
                    <a:p>
                      <a:pPr algn="ctr" fontAlgn="ctr">
                        <a:buNone/>
                      </a:pPr>
                      <a:endParaRPr lang="ja-JP" altLang="en-US" sz="800" b="0" i="0" u="none" strike="noStrike">
                        <a:solidFill>
                          <a:srgbClr val="FFFFFF"/>
                        </a:solidFill>
                        <a:effectLst/>
                        <a:latin typeface="&quot;Meiryo UI&quot;"/>
                      </a:endParaRP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tc>
                  <a:txBody>
                    <a:bodyPr/>
                    <a:lstStyle/>
                    <a:p>
                      <a:pPr algn="ctr" fontAlgn="ctr">
                        <a:buNone/>
                      </a:pPr>
                      <a:r>
                        <a:rPr lang="en-US" altLang="ja-JP" sz="800" b="0" i="0" u="none" strike="noStrike">
                          <a:solidFill>
                            <a:srgbClr val="FFFFFF"/>
                          </a:solidFill>
                          <a:effectLst/>
                          <a:latin typeface="Arial" panose="020B0604020202020204" pitchFamily="34" charset="0"/>
                        </a:rPr>
                        <a:t>5/2</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tc>
                  <a:txBody>
                    <a:bodyPr/>
                    <a:lstStyle/>
                    <a:p>
                      <a:pPr algn="ctr" fontAlgn="ctr">
                        <a:buNone/>
                      </a:pPr>
                      <a:r>
                        <a:rPr lang="en-US" altLang="ja-JP" sz="800" b="0" i="0" u="none" strike="noStrike">
                          <a:solidFill>
                            <a:srgbClr val="FFFFFF"/>
                          </a:solidFill>
                          <a:effectLst/>
                          <a:latin typeface="Arial" panose="020B0604020202020204" pitchFamily="34" charset="0"/>
                        </a:rPr>
                        <a:t>6/3</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tc>
                  <a:txBody>
                    <a:bodyPr/>
                    <a:lstStyle/>
                    <a:p>
                      <a:pPr algn="ctr" fontAlgn="ctr">
                        <a:buNone/>
                      </a:pPr>
                      <a:r>
                        <a:rPr lang="en-US" altLang="ja-JP" sz="800" b="0" i="0" u="none" strike="noStrike">
                          <a:solidFill>
                            <a:srgbClr val="FFFFFF"/>
                          </a:solidFill>
                          <a:effectLst/>
                          <a:latin typeface="Arial" panose="020B0604020202020204" pitchFamily="34" charset="0"/>
                        </a:rPr>
                        <a:t>7/1</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tc>
                  <a:txBody>
                    <a:bodyPr/>
                    <a:lstStyle/>
                    <a:p>
                      <a:pPr algn="ctr" fontAlgn="ctr">
                        <a:buNone/>
                      </a:pPr>
                      <a:r>
                        <a:rPr lang="en-US" altLang="ja-JP" sz="800" b="0" i="0" u="none" strike="noStrike">
                          <a:solidFill>
                            <a:srgbClr val="FFFFFF"/>
                          </a:solidFill>
                          <a:effectLst/>
                          <a:latin typeface="Arial" panose="020B0604020202020204" pitchFamily="34" charset="0"/>
                        </a:rPr>
                        <a:t>8/1</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tc>
                  <a:txBody>
                    <a:bodyPr/>
                    <a:lstStyle/>
                    <a:p>
                      <a:pPr algn="ctr" fontAlgn="ctr">
                        <a:buNone/>
                      </a:pPr>
                      <a:r>
                        <a:rPr lang="en-US" altLang="ja-JP" sz="800" b="0" i="0" u="none" strike="noStrike">
                          <a:solidFill>
                            <a:srgbClr val="FFFFFF"/>
                          </a:solidFill>
                          <a:effectLst/>
                          <a:latin typeface="Arial" panose="020B0604020202020204" pitchFamily="34" charset="0"/>
                        </a:rPr>
                        <a:t>9/1</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tc>
                  <a:txBody>
                    <a:bodyPr/>
                    <a:lstStyle/>
                    <a:p>
                      <a:pPr algn="ctr" fontAlgn="ctr">
                        <a:buNone/>
                      </a:pPr>
                      <a:r>
                        <a:rPr lang="en-US" altLang="ja-JP" sz="800" b="0" i="0" u="none" strike="noStrike">
                          <a:solidFill>
                            <a:srgbClr val="FFFFFF"/>
                          </a:solidFill>
                          <a:effectLst/>
                          <a:latin typeface="Arial" panose="020B0604020202020204" pitchFamily="34" charset="0"/>
                        </a:rPr>
                        <a:t>10/1</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tc>
                  <a:txBody>
                    <a:bodyPr/>
                    <a:lstStyle/>
                    <a:p>
                      <a:pPr algn="ctr" fontAlgn="ctr">
                        <a:buNone/>
                      </a:pPr>
                      <a:r>
                        <a:rPr lang="en-US" altLang="ja-JP" sz="800" b="0" i="0" u="none" strike="noStrike">
                          <a:solidFill>
                            <a:srgbClr val="FFFFFF"/>
                          </a:solidFill>
                          <a:effectLst/>
                          <a:latin typeface="Arial" panose="020B0604020202020204" pitchFamily="34" charset="0"/>
                        </a:rPr>
                        <a:t>11/5</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78909C"/>
                    </a:solidFill>
                  </a:tcPr>
                </a:tc>
                <a:extLst>
                  <a:ext uri="{0D108BD9-81ED-4DB2-BD59-A6C34878D82A}">
                    <a16:rowId xmlns:a16="http://schemas.microsoft.com/office/drawing/2014/main" val="345556790"/>
                  </a:ext>
                </a:extLst>
              </a:tr>
              <a:tr h="688088">
                <a:tc>
                  <a:txBody>
                    <a:bodyPr/>
                    <a:lstStyle/>
                    <a:p>
                      <a:pPr algn="ctr" fontAlgn="ctr">
                        <a:buNone/>
                      </a:pPr>
                      <a:r>
                        <a:rPr lang="en" sz="800" b="0" i="0" u="none" strike="noStrike">
                          <a:solidFill>
                            <a:srgbClr val="000000"/>
                          </a:solidFill>
                          <a:effectLst/>
                          <a:latin typeface="&quot;Meiryo UI&quot;"/>
                        </a:rPr>
                        <a:t>HTML</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14,300</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14,390</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15,100</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14,660</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15,220</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14,030</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14,680</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extLst>
                  <a:ext uri="{0D108BD9-81ED-4DB2-BD59-A6C34878D82A}">
                    <a16:rowId xmlns:a16="http://schemas.microsoft.com/office/drawing/2014/main" val="3621606564"/>
                  </a:ext>
                </a:extLst>
              </a:tr>
              <a:tr h="688088">
                <a:tc>
                  <a:txBody>
                    <a:bodyPr/>
                    <a:lstStyle/>
                    <a:p>
                      <a:pPr algn="ctr" fontAlgn="ctr">
                        <a:buNone/>
                      </a:pPr>
                      <a:r>
                        <a:rPr lang="en" sz="800" b="0" i="0" u="none" strike="noStrike">
                          <a:solidFill>
                            <a:srgbClr val="000000"/>
                          </a:solidFill>
                          <a:effectLst/>
                          <a:latin typeface="&quot;Meiryo UI&quot;"/>
                        </a:rPr>
                        <a:t>PDF</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12,474</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12,407</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12,179</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12,299</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13,204</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12,405</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tc>
                  <a:txBody>
                    <a:bodyPr/>
                    <a:lstStyle/>
                    <a:p>
                      <a:pPr algn="ctr" fontAlgn="ctr">
                        <a:buNone/>
                      </a:pPr>
                      <a:r>
                        <a:rPr lang="en-US" altLang="ja-JP" sz="800" b="0" i="0" u="none" strike="noStrike">
                          <a:solidFill>
                            <a:srgbClr val="000000"/>
                          </a:solidFill>
                          <a:effectLst/>
                          <a:latin typeface="Arial" panose="020B0604020202020204" pitchFamily="34" charset="0"/>
                        </a:rPr>
                        <a:t>12,078</a:t>
                      </a:r>
                    </a:p>
                  </a:txBody>
                  <a:tcPr marL="6616" marR="6616" marT="6616" marB="31758"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EEF"/>
                    </a:solidFill>
                  </a:tcPr>
                </a:tc>
                <a:extLst>
                  <a:ext uri="{0D108BD9-81ED-4DB2-BD59-A6C34878D82A}">
                    <a16:rowId xmlns:a16="http://schemas.microsoft.com/office/drawing/2014/main" val="3641830243"/>
                  </a:ext>
                </a:extLst>
              </a:tr>
              <a:tr h="324195">
                <a:tc rowSpan="2">
                  <a:txBody>
                    <a:bodyPr/>
                    <a:lstStyle/>
                    <a:p>
                      <a:pPr algn="ctr" fontAlgn="ctr">
                        <a:buNone/>
                      </a:pPr>
                      <a:r>
                        <a:rPr lang="en" sz="800" b="0" i="0" u="none" strike="noStrike">
                          <a:solidFill>
                            <a:srgbClr val="000000"/>
                          </a:solidFill>
                          <a:effectLst/>
                          <a:latin typeface="&quot;Meiryo UI&quot;"/>
                        </a:rPr>
                        <a:t>PV</a:t>
                      </a:r>
                    </a:p>
                  </a:txBody>
                  <a:tcPr marL="6616" marR="6616" marT="6616" marB="31758" anchor="ctr">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6DBDE"/>
                    </a:solidFill>
                  </a:tcPr>
                </a:tc>
                <a:tc>
                  <a:txBody>
                    <a:bodyPr/>
                    <a:lstStyle/>
                    <a:p>
                      <a:pPr algn="ctr" fontAlgn="b">
                        <a:buNone/>
                      </a:pPr>
                      <a:r>
                        <a:rPr lang="en-US" altLang="ja-JP" sz="800" b="0" i="0" u="none" strike="noStrike">
                          <a:solidFill>
                            <a:srgbClr val="000000"/>
                          </a:solidFill>
                          <a:effectLst/>
                          <a:latin typeface="Arial" panose="020B0604020202020204" pitchFamily="34" charset="0"/>
                        </a:rPr>
                        <a:t>2,673,720 </a:t>
                      </a:r>
                    </a:p>
                  </a:txBody>
                  <a:tcPr marL="6616" marR="6616" marT="6616" marB="31758"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6DBDE"/>
                    </a:solidFill>
                  </a:tcPr>
                </a:tc>
                <a:tc>
                  <a:txBody>
                    <a:bodyPr/>
                    <a:lstStyle/>
                    <a:p>
                      <a:pPr algn="ctr" fontAlgn="b">
                        <a:buNone/>
                      </a:pPr>
                      <a:r>
                        <a:rPr lang="en-US" altLang="ja-JP" sz="800" b="0" i="0" u="none" strike="noStrike">
                          <a:solidFill>
                            <a:srgbClr val="000000"/>
                          </a:solidFill>
                          <a:effectLst/>
                          <a:latin typeface="Arial" panose="020B0604020202020204" pitchFamily="34" charset="0"/>
                        </a:rPr>
                        <a:t>2,021,887 </a:t>
                      </a:r>
                    </a:p>
                  </a:txBody>
                  <a:tcPr marL="6616" marR="6616" marT="6616" marB="31758"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6DBDE"/>
                    </a:solidFill>
                  </a:tcPr>
                </a:tc>
                <a:tc>
                  <a:txBody>
                    <a:bodyPr/>
                    <a:lstStyle/>
                    <a:p>
                      <a:pPr algn="ctr" fontAlgn="b">
                        <a:buNone/>
                      </a:pPr>
                      <a:r>
                        <a:rPr lang="en-US" altLang="ja-JP" sz="800" b="0" i="0" u="none" strike="noStrike">
                          <a:solidFill>
                            <a:srgbClr val="000000"/>
                          </a:solidFill>
                          <a:effectLst/>
                          <a:latin typeface="Arial" panose="020B0604020202020204" pitchFamily="34" charset="0"/>
                        </a:rPr>
                        <a:t>2,185,898 </a:t>
                      </a:r>
                    </a:p>
                  </a:txBody>
                  <a:tcPr marL="6616" marR="6616" marT="6616" marB="31758"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6DBDE"/>
                    </a:solidFill>
                  </a:tcPr>
                </a:tc>
                <a:tc>
                  <a:txBody>
                    <a:bodyPr/>
                    <a:lstStyle/>
                    <a:p>
                      <a:pPr algn="ctr" fontAlgn="b">
                        <a:buNone/>
                      </a:pPr>
                      <a:r>
                        <a:rPr lang="en-US" altLang="ja-JP" sz="800" b="0" i="0" u="none" strike="noStrike">
                          <a:solidFill>
                            <a:srgbClr val="000000"/>
                          </a:solidFill>
                          <a:effectLst/>
                          <a:latin typeface="Arial" panose="020B0604020202020204" pitchFamily="34" charset="0"/>
                        </a:rPr>
                        <a:t>3,046,478 </a:t>
                      </a:r>
                    </a:p>
                  </a:txBody>
                  <a:tcPr marL="6616" marR="6616" marT="6616" marB="31758"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6DBDE"/>
                    </a:solidFill>
                  </a:tcPr>
                </a:tc>
                <a:tc>
                  <a:txBody>
                    <a:bodyPr/>
                    <a:lstStyle/>
                    <a:p>
                      <a:pPr algn="ctr" fontAlgn="b">
                        <a:buNone/>
                      </a:pPr>
                      <a:r>
                        <a:rPr lang="en-US" altLang="ja-JP" sz="800" b="0" i="0" u="none" strike="noStrike">
                          <a:solidFill>
                            <a:srgbClr val="000000"/>
                          </a:solidFill>
                          <a:effectLst/>
                          <a:latin typeface="Arial" panose="020B0604020202020204" pitchFamily="34" charset="0"/>
                        </a:rPr>
                        <a:t>1,971,926 </a:t>
                      </a:r>
                    </a:p>
                  </a:txBody>
                  <a:tcPr marL="6616" marR="6616" marT="6616" marB="31758"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6DBDE"/>
                    </a:solidFill>
                  </a:tcPr>
                </a:tc>
                <a:tc>
                  <a:txBody>
                    <a:bodyPr/>
                    <a:lstStyle/>
                    <a:p>
                      <a:pPr algn="ctr" fontAlgn="b">
                        <a:buNone/>
                      </a:pPr>
                      <a:r>
                        <a:rPr lang="en-US" altLang="ja-JP" sz="800" b="0" i="0" u="none" strike="noStrike">
                          <a:solidFill>
                            <a:srgbClr val="000000"/>
                          </a:solidFill>
                          <a:effectLst/>
                          <a:latin typeface="Arial" panose="020B0604020202020204" pitchFamily="34" charset="0"/>
                        </a:rPr>
                        <a:t>1,829,541 </a:t>
                      </a:r>
                    </a:p>
                  </a:txBody>
                  <a:tcPr marL="6616" marR="6616" marT="6616" marB="31758"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6DBDE"/>
                    </a:solidFill>
                  </a:tcPr>
                </a:tc>
                <a:tc>
                  <a:txBody>
                    <a:bodyPr/>
                    <a:lstStyle/>
                    <a:p>
                      <a:pPr algn="ctr" fontAlgn="b">
                        <a:buNone/>
                      </a:pPr>
                      <a:r>
                        <a:rPr lang="en-US" altLang="ja-JP" sz="800" b="0" i="0" u="none" strike="noStrike">
                          <a:solidFill>
                            <a:srgbClr val="000000"/>
                          </a:solidFill>
                          <a:effectLst/>
                          <a:latin typeface="Arial" panose="020B0604020202020204" pitchFamily="34" charset="0"/>
                        </a:rPr>
                        <a:t>2,158,924 </a:t>
                      </a:r>
                    </a:p>
                  </a:txBody>
                  <a:tcPr marL="6616" marR="6616" marT="6616" marB="31758"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D6DBDE"/>
                    </a:solidFill>
                  </a:tcPr>
                </a:tc>
                <a:extLst>
                  <a:ext uri="{0D108BD9-81ED-4DB2-BD59-A6C34878D82A}">
                    <a16:rowId xmlns:a16="http://schemas.microsoft.com/office/drawing/2014/main" val="471781020"/>
                  </a:ext>
                </a:extLst>
              </a:tr>
              <a:tr h="324195">
                <a:tc vMerge="1">
                  <a:txBody>
                    <a:bodyPr/>
                    <a:lstStyle/>
                    <a:p>
                      <a:endParaRPr kumimoji="1" lang="ja-JP" altLang="en-US"/>
                    </a:p>
                  </a:txBody>
                  <a:tcPr/>
                </a:tc>
                <a:tc>
                  <a:txBody>
                    <a:bodyPr/>
                    <a:lstStyle/>
                    <a:p>
                      <a:pPr algn="ctr" fontAlgn="t">
                        <a:buNone/>
                      </a:pPr>
                      <a:r>
                        <a:rPr lang="en-US" altLang="ja-JP" sz="800" b="0" i="0" u="none" strike="noStrike">
                          <a:solidFill>
                            <a:srgbClr val="000000"/>
                          </a:solidFill>
                          <a:effectLst/>
                          <a:latin typeface="Arial" panose="020B0604020202020204" pitchFamily="34" charset="0"/>
                        </a:rPr>
                        <a:t>(4</a:t>
                      </a:r>
                      <a:r>
                        <a:rPr lang="ja-JP" altLang="en-US" sz="800" b="0" i="0" u="none" strike="noStrike">
                          <a:solidFill>
                            <a:srgbClr val="000000"/>
                          </a:solidFill>
                          <a:effectLst/>
                          <a:latin typeface="Arial" panose="020B0604020202020204" pitchFamily="34" charset="0"/>
                        </a:rPr>
                        <a:t>月</a:t>
                      </a:r>
                      <a:r>
                        <a:rPr lang="en-US" altLang="ja-JP" sz="800" b="0" i="0" u="none" strike="noStrike">
                          <a:solidFill>
                            <a:srgbClr val="000000"/>
                          </a:solidFill>
                          <a:effectLst/>
                          <a:latin typeface="Arial" panose="020B0604020202020204" pitchFamily="34" charset="0"/>
                        </a:rPr>
                        <a:t>)</a:t>
                      </a:r>
                    </a:p>
                  </a:txBody>
                  <a:tcPr marL="6616" marR="6616" marT="6616" marB="3175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t">
                        <a:buNone/>
                      </a:pPr>
                      <a:r>
                        <a:rPr lang="en-US" altLang="ja-JP" sz="800" b="0" i="0" u="none" strike="noStrike">
                          <a:solidFill>
                            <a:srgbClr val="000000"/>
                          </a:solidFill>
                          <a:effectLst/>
                          <a:latin typeface="Arial" panose="020B0604020202020204" pitchFamily="34" charset="0"/>
                        </a:rPr>
                        <a:t>(5</a:t>
                      </a:r>
                      <a:r>
                        <a:rPr lang="ja-JP" altLang="en-US" sz="800" b="0" i="0" u="none" strike="noStrike">
                          <a:solidFill>
                            <a:srgbClr val="000000"/>
                          </a:solidFill>
                          <a:effectLst/>
                          <a:latin typeface="Arial" panose="020B0604020202020204" pitchFamily="34" charset="0"/>
                        </a:rPr>
                        <a:t>月</a:t>
                      </a:r>
                      <a:r>
                        <a:rPr lang="en-US" altLang="ja-JP" sz="800" b="0" i="0" u="none" strike="noStrike">
                          <a:solidFill>
                            <a:srgbClr val="000000"/>
                          </a:solidFill>
                          <a:effectLst/>
                          <a:latin typeface="Arial" panose="020B0604020202020204" pitchFamily="34" charset="0"/>
                        </a:rPr>
                        <a:t>)</a:t>
                      </a:r>
                    </a:p>
                  </a:txBody>
                  <a:tcPr marL="6616" marR="6616" marT="6616" marB="3175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t">
                        <a:buNone/>
                      </a:pPr>
                      <a:r>
                        <a:rPr lang="en-US" altLang="ja-JP" sz="800" b="0" i="0" u="none" strike="noStrike">
                          <a:solidFill>
                            <a:srgbClr val="000000"/>
                          </a:solidFill>
                          <a:effectLst/>
                          <a:latin typeface="Arial" panose="020B0604020202020204" pitchFamily="34" charset="0"/>
                        </a:rPr>
                        <a:t>(6</a:t>
                      </a:r>
                      <a:r>
                        <a:rPr lang="ja-JP" altLang="en-US" sz="800" b="0" i="0" u="none" strike="noStrike">
                          <a:solidFill>
                            <a:srgbClr val="000000"/>
                          </a:solidFill>
                          <a:effectLst/>
                          <a:latin typeface="Arial" panose="020B0604020202020204" pitchFamily="34" charset="0"/>
                        </a:rPr>
                        <a:t>月</a:t>
                      </a:r>
                      <a:r>
                        <a:rPr lang="en-US" altLang="ja-JP" sz="800" b="0" i="0" u="none" strike="noStrike">
                          <a:solidFill>
                            <a:srgbClr val="000000"/>
                          </a:solidFill>
                          <a:effectLst/>
                          <a:latin typeface="Arial" panose="020B0604020202020204" pitchFamily="34" charset="0"/>
                        </a:rPr>
                        <a:t>)</a:t>
                      </a:r>
                    </a:p>
                  </a:txBody>
                  <a:tcPr marL="6616" marR="6616" marT="6616" marB="3175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t">
                        <a:buNone/>
                      </a:pPr>
                      <a:r>
                        <a:rPr lang="en-US" altLang="ja-JP" sz="800" b="0" i="0" u="none" strike="noStrike">
                          <a:solidFill>
                            <a:srgbClr val="000000"/>
                          </a:solidFill>
                          <a:effectLst/>
                          <a:latin typeface="Arial" panose="020B0604020202020204" pitchFamily="34" charset="0"/>
                        </a:rPr>
                        <a:t>(7</a:t>
                      </a:r>
                      <a:r>
                        <a:rPr lang="ja-JP" altLang="en-US" sz="800" b="0" i="0" u="none" strike="noStrike">
                          <a:solidFill>
                            <a:srgbClr val="000000"/>
                          </a:solidFill>
                          <a:effectLst/>
                          <a:latin typeface="Arial" panose="020B0604020202020204" pitchFamily="34" charset="0"/>
                        </a:rPr>
                        <a:t>月</a:t>
                      </a:r>
                      <a:r>
                        <a:rPr lang="en-US" altLang="ja-JP" sz="800" b="0" i="0" u="none" strike="noStrike">
                          <a:solidFill>
                            <a:srgbClr val="000000"/>
                          </a:solidFill>
                          <a:effectLst/>
                          <a:latin typeface="Arial" panose="020B0604020202020204" pitchFamily="34" charset="0"/>
                        </a:rPr>
                        <a:t>)</a:t>
                      </a:r>
                    </a:p>
                  </a:txBody>
                  <a:tcPr marL="6616" marR="6616" marT="6616" marB="3175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t">
                        <a:buNone/>
                      </a:pPr>
                      <a:r>
                        <a:rPr lang="en-US" altLang="ja-JP" sz="800" b="0" i="0" u="none" strike="noStrike">
                          <a:solidFill>
                            <a:srgbClr val="000000"/>
                          </a:solidFill>
                          <a:effectLst/>
                          <a:latin typeface="Arial" panose="020B0604020202020204" pitchFamily="34" charset="0"/>
                        </a:rPr>
                        <a:t>(8</a:t>
                      </a:r>
                      <a:r>
                        <a:rPr lang="ja-JP" altLang="en-US" sz="800" b="0" i="0" u="none" strike="noStrike">
                          <a:solidFill>
                            <a:srgbClr val="000000"/>
                          </a:solidFill>
                          <a:effectLst/>
                          <a:latin typeface="Arial" panose="020B0604020202020204" pitchFamily="34" charset="0"/>
                        </a:rPr>
                        <a:t>月</a:t>
                      </a:r>
                      <a:r>
                        <a:rPr lang="en-US" altLang="ja-JP" sz="800" b="0" i="0" u="none" strike="noStrike">
                          <a:solidFill>
                            <a:srgbClr val="000000"/>
                          </a:solidFill>
                          <a:effectLst/>
                          <a:latin typeface="Arial" panose="020B0604020202020204" pitchFamily="34" charset="0"/>
                        </a:rPr>
                        <a:t>)</a:t>
                      </a:r>
                    </a:p>
                  </a:txBody>
                  <a:tcPr marL="6616" marR="6616" marT="6616" marB="3175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t">
                        <a:buNone/>
                      </a:pPr>
                      <a:r>
                        <a:rPr lang="en-US" altLang="ja-JP" sz="800" b="0" i="0" u="none" strike="noStrike">
                          <a:solidFill>
                            <a:srgbClr val="000000"/>
                          </a:solidFill>
                          <a:effectLst/>
                          <a:latin typeface="Arial" panose="020B0604020202020204" pitchFamily="34" charset="0"/>
                        </a:rPr>
                        <a:t>(9</a:t>
                      </a:r>
                      <a:r>
                        <a:rPr lang="ja-JP" altLang="en-US" sz="800" b="0" i="0" u="none" strike="noStrike">
                          <a:solidFill>
                            <a:srgbClr val="000000"/>
                          </a:solidFill>
                          <a:effectLst/>
                          <a:latin typeface="Arial" panose="020B0604020202020204" pitchFamily="34" charset="0"/>
                        </a:rPr>
                        <a:t>月</a:t>
                      </a:r>
                      <a:r>
                        <a:rPr lang="en-US" altLang="ja-JP" sz="800" b="0" i="0" u="none" strike="noStrike">
                          <a:solidFill>
                            <a:srgbClr val="000000"/>
                          </a:solidFill>
                          <a:effectLst/>
                          <a:latin typeface="Arial" panose="020B0604020202020204" pitchFamily="34" charset="0"/>
                        </a:rPr>
                        <a:t>)</a:t>
                      </a:r>
                    </a:p>
                  </a:txBody>
                  <a:tcPr marL="6616" marR="6616" marT="6616" marB="3175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tc>
                  <a:txBody>
                    <a:bodyPr/>
                    <a:lstStyle/>
                    <a:p>
                      <a:pPr algn="ctr" fontAlgn="t">
                        <a:buNone/>
                      </a:pPr>
                      <a:r>
                        <a:rPr lang="en-US" altLang="ja-JP" sz="800" b="0" i="0" u="none" strike="noStrike">
                          <a:solidFill>
                            <a:srgbClr val="000000"/>
                          </a:solidFill>
                          <a:effectLst/>
                          <a:latin typeface="Arial" panose="020B0604020202020204" pitchFamily="34" charset="0"/>
                        </a:rPr>
                        <a:t>(10</a:t>
                      </a:r>
                      <a:r>
                        <a:rPr lang="ja-JP" altLang="en-US" sz="800" b="0" i="0" u="none" strike="noStrike">
                          <a:solidFill>
                            <a:srgbClr val="000000"/>
                          </a:solidFill>
                          <a:effectLst/>
                          <a:latin typeface="Arial" panose="020B0604020202020204" pitchFamily="34" charset="0"/>
                        </a:rPr>
                        <a:t>月</a:t>
                      </a:r>
                      <a:r>
                        <a:rPr lang="en-US" altLang="ja-JP" sz="800" b="0" i="0" u="none" strike="noStrike">
                          <a:solidFill>
                            <a:srgbClr val="000000"/>
                          </a:solidFill>
                          <a:effectLst/>
                          <a:latin typeface="Arial" panose="020B0604020202020204" pitchFamily="34" charset="0"/>
                        </a:rPr>
                        <a:t>)</a:t>
                      </a:r>
                    </a:p>
                  </a:txBody>
                  <a:tcPr marL="6616" marR="6616" marT="6616" marB="31758">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6DBDE"/>
                    </a:solidFill>
                  </a:tcPr>
                </a:tc>
                <a:extLst>
                  <a:ext uri="{0D108BD9-81ED-4DB2-BD59-A6C34878D82A}">
                    <a16:rowId xmlns:a16="http://schemas.microsoft.com/office/drawing/2014/main" val="3993798864"/>
                  </a:ext>
                </a:extLst>
              </a:tr>
            </a:tbl>
          </a:graphicData>
        </a:graphic>
      </p:graphicFrame>
    </p:spTree>
    <p:extLst>
      <p:ext uri="{BB962C8B-B14F-4D97-AF65-F5344CB8AC3E}">
        <p14:creationId xmlns:p14="http://schemas.microsoft.com/office/powerpoint/2010/main" val="1705373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31" name="Google Shape;13;p2">
            <a:extLst>
              <a:ext uri="{FF2B5EF4-FFF2-40B4-BE49-F238E27FC236}">
                <a16:creationId xmlns:a16="http://schemas.microsoft.com/office/drawing/2014/main" id="{086DD73C-A064-4F45-A1B6-BBF968B23CFD}"/>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10</a:t>
            </a:fld>
            <a:endParaRPr lang="ja" altLang="en-US">
              <a:solidFill>
                <a:srgbClr val="4E5F7A"/>
              </a:solidFill>
            </a:endParaRPr>
          </a:p>
        </p:txBody>
      </p:sp>
      <p:sp>
        <p:nvSpPr>
          <p:cNvPr id="39" name="Google Shape;125;p15">
            <a:extLst>
              <a:ext uri="{FF2B5EF4-FFF2-40B4-BE49-F238E27FC236}">
                <a16:creationId xmlns:a16="http://schemas.microsoft.com/office/drawing/2014/main" id="{420754D4-E1DA-2A40-9942-A077C0E0A450}"/>
              </a:ext>
            </a:extLst>
          </p:cNvPr>
          <p:cNvSpPr txBox="1">
            <a:spLocks noGrp="1"/>
          </p:cNvSpPr>
          <p:nvPr>
            <p:ph type="title"/>
          </p:nvPr>
        </p:nvSpPr>
        <p:spPr>
          <a:xfrm>
            <a:off x="228600" y="57150"/>
            <a:ext cx="2333822" cy="526800"/>
          </a:xfrm>
          <a:prstGeom prst="rect">
            <a:avLst/>
          </a:prstGeom>
        </p:spPr>
        <p:txBody>
          <a:bodyPr spcFirstLastPara="1" wrap="square" lIns="0" tIns="0" rIns="0" bIns="0" anchor="ctr" anchorCtr="0">
            <a:noAutofit/>
          </a:bodyPr>
          <a:lstStyle/>
          <a:p>
            <a:pPr lvl="0"/>
            <a:r>
              <a:rPr lang="ja-JP" altLang="en-US"/>
              <a:t>参考：他省庁のアクセス数</a:t>
            </a:r>
            <a:endParaRPr/>
          </a:p>
        </p:txBody>
      </p:sp>
      <p:sp>
        <p:nvSpPr>
          <p:cNvPr id="2" name="Google Shape;114;p14">
            <a:extLst>
              <a:ext uri="{FF2B5EF4-FFF2-40B4-BE49-F238E27FC236}">
                <a16:creationId xmlns:a16="http://schemas.microsoft.com/office/drawing/2014/main" id="{56369020-517C-BEA5-0F7A-6C190DA3A389}"/>
              </a:ext>
            </a:extLst>
          </p:cNvPr>
          <p:cNvSpPr txBox="1"/>
          <p:nvPr/>
        </p:nvSpPr>
        <p:spPr>
          <a:xfrm>
            <a:off x="228600" y="712534"/>
            <a:ext cx="7842147" cy="346249"/>
          </a:xfrm>
          <a:prstGeom prst="rect">
            <a:avLst/>
          </a:prstGeom>
          <a:noFill/>
          <a:ln>
            <a:noFill/>
          </a:ln>
        </p:spPr>
        <p:txBody>
          <a:bodyPr spcFirstLastPara="1" wrap="square" lIns="0" tIns="0" rIns="0" bIns="0" anchor="t" anchorCtr="0">
            <a:spAutoFit/>
          </a:bodyPr>
          <a:lstStyle/>
          <a:p>
            <a:pPr>
              <a:lnSpc>
                <a:spcPct val="125000"/>
              </a:lnSpc>
            </a:pPr>
            <a:r>
              <a:rPr lang="ja-JP" altLang="en-US" sz="900">
                <a:solidFill>
                  <a:schemeClr val="bg2"/>
                </a:solidFill>
                <a:latin typeface="Meiryo UI" panose="020B0604030504040204" pitchFamily="34" charset="-128"/>
                <a:ea typeface="Meiryo UI" panose="020B0604030504040204" pitchFamily="34" charset="-128"/>
              </a:rPr>
              <a:t>参考値として、「</a:t>
            </a:r>
            <a:r>
              <a:rPr lang="en-US" altLang="ja-JP" sz="900" err="1">
                <a:solidFill>
                  <a:schemeClr val="bg2"/>
                </a:solidFill>
                <a:latin typeface="Meiryo UI" panose="020B0604030504040204" pitchFamily="34" charset="-128"/>
                <a:ea typeface="Meiryo UI" panose="020B0604030504040204" pitchFamily="34" charset="-128"/>
              </a:rPr>
              <a:t>SimilarWeb</a:t>
            </a:r>
            <a:r>
              <a:rPr lang="ja-JP" altLang="en-US" sz="900">
                <a:solidFill>
                  <a:schemeClr val="bg2"/>
                </a:solidFill>
                <a:latin typeface="Meiryo UI" panose="020B0604030504040204" pitchFamily="34" charset="-128"/>
                <a:ea typeface="Meiryo UI" panose="020B0604030504040204" pitchFamily="34" charset="-128"/>
              </a:rPr>
              <a:t>」で他省庁のアクセス数を調査した。</a:t>
            </a:r>
          </a:p>
          <a:p>
            <a:pPr>
              <a:lnSpc>
                <a:spcPct val="125000"/>
              </a:lnSpc>
            </a:pPr>
            <a:r>
              <a:rPr lang="ja-JP" altLang="en-US" sz="900">
                <a:solidFill>
                  <a:schemeClr val="bg2"/>
                </a:solidFill>
                <a:latin typeface="Meiryo UI" panose="020B0604030504040204" pitchFamily="34" charset="-128"/>
                <a:ea typeface="Meiryo UI" panose="020B0604030504040204" pitchFamily="34" charset="-128"/>
              </a:rPr>
              <a:t>（データ取得期間：</a:t>
            </a:r>
            <a:r>
              <a:rPr lang="en-US" altLang="ja-JP" sz="900">
                <a:solidFill>
                  <a:schemeClr val="bg2"/>
                </a:solidFill>
                <a:latin typeface="Meiryo UI" panose="020B0604030504040204" pitchFamily="34" charset="-128"/>
                <a:ea typeface="Meiryo UI" panose="020B0604030504040204" pitchFamily="34" charset="-128"/>
              </a:rPr>
              <a:t>2025</a:t>
            </a:r>
            <a:r>
              <a:rPr lang="ja-JP" altLang="en-US" sz="900">
                <a:solidFill>
                  <a:schemeClr val="bg2"/>
                </a:solidFill>
                <a:latin typeface="Meiryo UI" panose="020B0604030504040204" pitchFamily="34" charset="-128"/>
                <a:ea typeface="Meiryo UI" panose="020B0604030504040204" pitchFamily="34" charset="-128"/>
              </a:rPr>
              <a:t>年</a:t>
            </a:r>
            <a:r>
              <a:rPr lang="en-US" altLang="ja-JP" sz="900">
                <a:solidFill>
                  <a:schemeClr val="bg2"/>
                </a:solidFill>
                <a:latin typeface="Meiryo UI" panose="020B0604030504040204" pitchFamily="34" charset="-128"/>
                <a:ea typeface="Meiryo UI" panose="020B0604030504040204" pitchFamily="34" charset="-128"/>
              </a:rPr>
              <a:t>10</a:t>
            </a:r>
            <a:r>
              <a:rPr lang="ja-JP" altLang="en-US" sz="900">
                <a:solidFill>
                  <a:schemeClr val="bg2"/>
                </a:solidFill>
                <a:latin typeface="Meiryo UI" panose="020B0604030504040204" pitchFamily="34" charset="-128"/>
                <a:ea typeface="Meiryo UI" panose="020B0604030504040204" pitchFamily="34" charset="-128"/>
              </a:rPr>
              <a:t>月、</a:t>
            </a:r>
            <a:r>
              <a:rPr lang="en-US" altLang="ja-JP" sz="900">
                <a:solidFill>
                  <a:schemeClr val="bg2"/>
                </a:solidFill>
                <a:latin typeface="Meiryo UI" panose="020B0604030504040204" pitchFamily="34" charset="-128"/>
                <a:ea typeface="Meiryo UI" panose="020B0604030504040204" pitchFamily="34" charset="-128"/>
              </a:rPr>
              <a:t>PV</a:t>
            </a:r>
            <a:r>
              <a:rPr lang="ja-JP" altLang="en-US" sz="900">
                <a:solidFill>
                  <a:schemeClr val="bg2"/>
                </a:solidFill>
                <a:latin typeface="Meiryo UI" panose="020B0604030504040204" pitchFamily="34" charset="-128"/>
                <a:ea typeface="Meiryo UI" panose="020B0604030504040204" pitchFamily="34" charset="-128"/>
              </a:rPr>
              <a:t>数で降順）</a:t>
            </a:r>
            <a:endParaRPr lang="en-US" altLang="ja-JP" sz="900">
              <a:solidFill>
                <a:schemeClr val="bg2"/>
              </a:solidFill>
              <a:latin typeface="Meiryo UI" panose="020B0604030504040204" pitchFamily="34" charset="-128"/>
              <a:ea typeface="Meiryo UI" panose="020B0604030504040204" pitchFamily="34" charset="-128"/>
            </a:endParaRPr>
          </a:p>
        </p:txBody>
      </p:sp>
      <p:sp>
        <p:nvSpPr>
          <p:cNvPr id="5" name="Google Shape;114;p14">
            <a:extLst>
              <a:ext uri="{FF2B5EF4-FFF2-40B4-BE49-F238E27FC236}">
                <a16:creationId xmlns:a16="http://schemas.microsoft.com/office/drawing/2014/main" id="{8D84DA9D-186D-71B2-56F2-AC01D7366372}"/>
              </a:ext>
            </a:extLst>
          </p:cNvPr>
          <p:cNvSpPr txBox="1"/>
          <p:nvPr/>
        </p:nvSpPr>
        <p:spPr>
          <a:xfrm>
            <a:off x="5631600" y="963880"/>
            <a:ext cx="3106847" cy="3837589"/>
          </a:xfrm>
          <a:prstGeom prst="rect">
            <a:avLst/>
          </a:prstGeom>
          <a:noFill/>
          <a:ln>
            <a:noFill/>
          </a:ln>
        </p:spPr>
        <p:txBody>
          <a:bodyPr spcFirstLastPara="1" wrap="square" lIns="0" tIns="0" rIns="0" bIns="0" anchor="t" anchorCtr="0">
            <a:spAutoFit/>
          </a:bodyPr>
          <a:lstStyle/>
          <a:p>
            <a:pPr marL="171450" indent="-171450">
              <a:lnSpc>
                <a:spcPct val="125000"/>
              </a:lnSpc>
              <a:buFont typeface="Wingdings" pitchFamily="2" charset="2"/>
              <a:buChar char="l"/>
            </a:pPr>
            <a:r>
              <a:rPr lang="ja-JP" altLang="en-US" sz="1050">
                <a:solidFill>
                  <a:schemeClr val="bg2"/>
                </a:solidFill>
                <a:latin typeface="Meiryo UI" panose="020B0604030504040204" pitchFamily="34" charset="-128"/>
                <a:ea typeface="Meiryo UI" panose="020B0604030504040204" pitchFamily="34" charset="-128"/>
              </a:rPr>
              <a:t>全体的な印象：</a:t>
            </a:r>
          </a:p>
          <a:p>
            <a:pPr>
              <a:lnSpc>
                <a:spcPct val="125000"/>
              </a:lnSpc>
            </a:pPr>
            <a:r>
              <a:rPr lang="ja-JP" altLang="en-US" sz="1050">
                <a:solidFill>
                  <a:schemeClr val="bg2"/>
                </a:solidFill>
                <a:latin typeface="Meiryo UI" panose="020B0604030504040204" pitchFamily="34" charset="-128"/>
                <a:ea typeface="Meiryo UI" panose="020B0604030504040204" pitchFamily="34" charset="-128"/>
              </a:rPr>
              <a:t>今回の集計では、</a:t>
            </a:r>
            <a:r>
              <a:rPr lang="en-US" altLang="ja-JP" sz="1050" dirty="0">
                <a:solidFill>
                  <a:schemeClr val="bg2"/>
                </a:solidFill>
                <a:latin typeface="Meiryo UI" panose="020B0604030504040204" pitchFamily="34" charset="-128"/>
                <a:ea typeface="Meiryo UI" panose="020B0604030504040204" pitchFamily="34" charset="-128"/>
              </a:rPr>
              <a:t>14</a:t>
            </a:r>
            <a:r>
              <a:rPr lang="ja-JP" altLang="en-US" sz="1050">
                <a:solidFill>
                  <a:schemeClr val="bg2"/>
                </a:solidFill>
                <a:latin typeface="Meiryo UI" panose="020B0604030504040204" pitchFamily="34" charset="-128"/>
                <a:ea typeface="Meiryo UI" panose="020B0604030504040204" pitchFamily="34" charset="-128"/>
              </a:rPr>
              <a:t>省庁中</a:t>
            </a:r>
            <a:r>
              <a:rPr lang="en-US" altLang="ja-JP" sz="1050" dirty="0">
                <a:solidFill>
                  <a:schemeClr val="bg2"/>
                </a:solidFill>
                <a:latin typeface="Meiryo UI" panose="020B0604030504040204" pitchFamily="34" charset="-128"/>
                <a:ea typeface="Meiryo UI" panose="020B0604030504040204" pitchFamily="34" charset="-128"/>
              </a:rPr>
              <a:t>5</a:t>
            </a:r>
            <a:r>
              <a:rPr lang="ja-JP" altLang="en-US" sz="1050">
                <a:solidFill>
                  <a:schemeClr val="bg2"/>
                </a:solidFill>
                <a:latin typeface="Meiryo UI" panose="020B0604030504040204" pitchFamily="34" charset="-128"/>
                <a:ea typeface="Meiryo UI" panose="020B0604030504040204" pitchFamily="34" charset="-128"/>
              </a:rPr>
              <a:t>省で</a:t>
            </a:r>
            <a:r>
              <a:rPr lang="en" altLang="ja-JP" sz="1050" dirty="0">
                <a:solidFill>
                  <a:schemeClr val="bg2"/>
                </a:solidFill>
                <a:latin typeface="Meiryo UI" panose="020B0604030504040204" pitchFamily="34" charset="-128"/>
                <a:ea typeface="Meiryo UI" panose="020B0604030504040204" pitchFamily="34" charset="-128"/>
              </a:rPr>
              <a:t>PV</a:t>
            </a:r>
            <a:r>
              <a:rPr lang="ja-JP" altLang="en-US" sz="1050">
                <a:solidFill>
                  <a:schemeClr val="bg2"/>
                </a:solidFill>
                <a:latin typeface="Meiryo UI" panose="020B0604030504040204" pitchFamily="34" charset="-128"/>
                <a:ea typeface="Meiryo UI" panose="020B0604030504040204" pitchFamily="34" charset="-128"/>
              </a:rPr>
              <a:t>数が増加する一方、</a:t>
            </a:r>
            <a:r>
              <a:rPr lang="en-US" altLang="ja-JP" sz="1050" dirty="0">
                <a:solidFill>
                  <a:schemeClr val="bg2"/>
                </a:solidFill>
                <a:latin typeface="Meiryo UI" panose="020B0604030504040204" pitchFamily="34" charset="-128"/>
                <a:ea typeface="Meiryo UI" panose="020B0604030504040204" pitchFamily="34" charset="-128"/>
              </a:rPr>
              <a:t>9</a:t>
            </a:r>
            <a:r>
              <a:rPr lang="ja-JP" altLang="en-US" sz="1050">
                <a:solidFill>
                  <a:schemeClr val="bg2"/>
                </a:solidFill>
                <a:latin typeface="Meiryo UI" panose="020B0604030504040204" pitchFamily="34" charset="-128"/>
                <a:ea typeface="Meiryo UI" panose="020B0604030504040204" pitchFamily="34" charset="-128"/>
              </a:rPr>
              <a:t>省で減少が見られました。文部科学省（</a:t>
            </a:r>
            <a:r>
              <a:rPr lang="en-US" altLang="ja-JP" sz="1050" dirty="0">
                <a:solidFill>
                  <a:schemeClr val="bg2"/>
                </a:solidFill>
                <a:latin typeface="Meiryo UI" panose="020B0604030504040204" pitchFamily="34" charset="-128"/>
                <a:ea typeface="Meiryo UI" panose="020B0604030504040204" pitchFamily="34" charset="-128"/>
              </a:rPr>
              <a:t>+27.59%</a:t>
            </a:r>
            <a:r>
              <a:rPr lang="ja-JP" altLang="en-US" sz="1050">
                <a:solidFill>
                  <a:schemeClr val="bg2"/>
                </a:solidFill>
                <a:latin typeface="Meiryo UI" panose="020B0604030504040204" pitchFamily="34" charset="-128"/>
                <a:ea typeface="Meiryo UI" panose="020B0604030504040204" pitchFamily="34" charset="-128"/>
              </a:rPr>
              <a:t>）や復興庁（</a:t>
            </a:r>
            <a:r>
              <a:rPr lang="en-US" altLang="ja-JP" sz="1050" dirty="0">
                <a:solidFill>
                  <a:schemeClr val="bg2"/>
                </a:solidFill>
                <a:latin typeface="Meiryo UI" panose="020B0604030504040204" pitchFamily="34" charset="-128"/>
                <a:ea typeface="Meiryo UI" panose="020B0604030504040204" pitchFamily="34" charset="-128"/>
              </a:rPr>
              <a:t>+15.17%</a:t>
            </a:r>
            <a:r>
              <a:rPr lang="ja-JP" altLang="en-US" sz="1050">
                <a:solidFill>
                  <a:schemeClr val="bg2"/>
                </a:solidFill>
                <a:latin typeface="Meiryo UI" panose="020B0604030504040204" pitchFamily="34" charset="-128"/>
                <a:ea typeface="Meiryo UI" panose="020B0604030504040204" pitchFamily="34" charset="-128"/>
              </a:rPr>
              <a:t>）の急伸が目立つ一方、気象庁（</a:t>
            </a:r>
            <a:r>
              <a:rPr lang="en-US" altLang="ja-JP" sz="1050" dirty="0">
                <a:solidFill>
                  <a:schemeClr val="bg2"/>
                </a:solidFill>
                <a:latin typeface="Meiryo UI" panose="020B0604030504040204" pitchFamily="34" charset="-128"/>
                <a:ea typeface="Meiryo UI" panose="020B0604030504040204" pitchFamily="34" charset="-128"/>
              </a:rPr>
              <a:t>-17.99%</a:t>
            </a:r>
            <a:r>
              <a:rPr lang="ja-JP" altLang="en-US" sz="1050">
                <a:solidFill>
                  <a:schemeClr val="bg2"/>
                </a:solidFill>
                <a:latin typeface="Meiryo UI" panose="020B0604030504040204" pitchFamily="34" charset="-128"/>
                <a:ea typeface="Meiryo UI" panose="020B0604030504040204" pitchFamily="34" charset="-128"/>
              </a:rPr>
              <a:t>）、環境省（</a:t>
            </a:r>
            <a:r>
              <a:rPr lang="en-US" altLang="ja-JP" sz="1050" dirty="0">
                <a:solidFill>
                  <a:schemeClr val="bg2"/>
                </a:solidFill>
                <a:latin typeface="Meiryo UI" panose="020B0604030504040204" pitchFamily="34" charset="-128"/>
                <a:ea typeface="Meiryo UI" panose="020B0604030504040204" pitchFamily="34" charset="-128"/>
              </a:rPr>
              <a:t>-20.94%</a:t>
            </a:r>
            <a:r>
              <a:rPr lang="ja-JP" altLang="en-US" sz="1050">
                <a:solidFill>
                  <a:schemeClr val="bg2"/>
                </a:solidFill>
                <a:latin typeface="Meiryo UI" panose="020B0604030504040204" pitchFamily="34" charset="-128"/>
                <a:ea typeface="Meiryo UI" panose="020B0604030504040204" pitchFamily="34" charset="-128"/>
              </a:rPr>
              <a:t>）、防衛省（</a:t>
            </a:r>
            <a:r>
              <a:rPr lang="en-US" altLang="ja-JP" sz="1050" dirty="0">
                <a:solidFill>
                  <a:schemeClr val="bg2"/>
                </a:solidFill>
                <a:latin typeface="Meiryo UI" panose="020B0604030504040204" pitchFamily="34" charset="-128"/>
                <a:ea typeface="Meiryo UI" panose="020B0604030504040204" pitchFamily="34" charset="-128"/>
              </a:rPr>
              <a:t>-13.49%</a:t>
            </a:r>
            <a:r>
              <a:rPr lang="ja-JP" altLang="en-US" sz="1050">
                <a:solidFill>
                  <a:schemeClr val="bg2"/>
                </a:solidFill>
                <a:latin typeface="Meiryo UI" panose="020B0604030504040204" pitchFamily="34" charset="-128"/>
                <a:ea typeface="Meiryo UI" panose="020B0604030504040204" pitchFamily="34" charset="-128"/>
              </a:rPr>
              <a:t>）など大幅減少もあり、省庁ごとの関心の変化が顕著に表れた月でした。</a:t>
            </a:r>
          </a:p>
          <a:p>
            <a:pPr marL="171450" indent="-171450">
              <a:lnSpc>
                <a:spcPct val="125000"/>
              </a:lnSpc>
              <a:buFont typeface="Wingdings" pitchFamily="2" charset="2"/>
              <a:buChar char="l"/>
            </a:pPr>
            <a:r>
              <a:rPr lang="ja-JP" altLang="en-US" sz="1050">
                <a:solidFill>
                  <a:schemeClr val="bg2"/>
                </a:solidFill>
                <a:latin typeface="Meiryo UI" panose="020B0604030504040204" pitchFamily="34" charset="-128"/>
                <a:ea typeface="Meiryo UI" panose="020B0604030504040204" pitchFamily="34" charset="-128"/>
              </a:rPr>
              <a:t>文部科学省の急伸：</a:t>
            </a:r>
          </a:p>
          <a:p>
            <a:pPr>
              <a:lnSpc>
                <a:spcPct val="125000"/>
              </a:lnSpc>
            </a:pPr>
            <a:r>
              <a:rPr lang="ja-JP" altLang="en-US" sz="1050">
                <a:solidFill>
                  <a:schemeClr val="bg2"/>
                </a:solidFill>
                <a:latin typeface="Meiryo UI" panose="020B0604030504040204" pitchFamily="34" charset="-128"/>
                <a:ea typeface="Meiryo UI" panose="020B0604030504040204" pitchFamily="34" charset="-128"/>
              </a:rPr>
              <a:t>文部科学省は</a:t>
            </a:r>
            <a:r>
              <a:rPr lang="en" altLang="ja-JP" sz="1050" dirty="0">
                <a:solidFill>
                  <a:schemeClr val="bg2"/>
                </a:solidFill>
                <a:latin typeface="Meiryo UI" panose="020B0604030504040204" pitchFamily="34" charset="-128"/>
                <a:ea typeface="Meiryo UI" panose="020B0604030504040204" pitchFamily="34" charset="-128"/>
              </a:rPr>
              <a:t>PV</a:t>
            </a:r>
            <a:r>
              <a:rPr lang="ja-JP" altLang="en-US" sz="1050">
                <a:solidFill>
                  <a:schemeClr val="bg2"/>
                </a:solidFill>
                <a:latin typeface="Meiryo UI" panose="020B0604030504040204" pitchFamily="34" charset="-128"/>
                <a:ea typeface="Meiryo UI" panose="020B0604030504040204" pitchFamily="34" charset="-128"/>
              </a:rPr>
              <a:t>数</a:t>
            </a:r>
            <a:r>
              <a:rPr lang="en-US" altLang="ja-JP" sz="1050" dirty="0">
                <a:solidFill>
                  <a:schemeClr val="bg2"/>
                </a:solidFill>
                <a:latin typeface="Meiryo UI" panose="020B0604030504040204" pitchFamily="34" charset="-128"/>
                <a:ea typeface="Meiryo UI" panose="020B0604030504040204" pitchFamily="34" charset="-128"/>
              </a:rPr>
              <a:t>17,319,190</a:t>
            </a:r>
            <a:r>
              <a:rPr lang="ja-JP" altLang="en-US" sz="1050">
                <a:solidFill>
                  <a:schemeClr val="bg2"/>
                </a:solidFill>
                <a:latin typeface="Meiryo UI" panose="020B0604030504040204" pitchFamily="34" charset="-128"/>
                <a:ea typeface="Meiryo UI" panose="020B0604030504040204" pitchFamily="34" charset="-128"/>
              </a:rPr>
              <a:t>（前月比</a:t>
            </a:r>
            <a:r>
              <a:rPr lang="en-US" altLang="ja-JP" sz="1050" dirty="0">
                <a:solidFill>
                  <a:schemeClr val="bg2"/>
                </a:solidFill>
                <a:latin typeface="Meiryo UI" panose="020B0604030504040204" pitchFamily="34" charset="-128"/>
                <a:ea typeface="Meiryo UI" panose="020B0604030504040204" pitchFamily="34" charset="-128"/>
              </a:rPr>
              <a:t>+27.59%</a:t>
            </a:r>
            <a:r>
              <a:rPr lang="ja-JP" altLang="en-US" sz="1050">
                <a:solidFill>
                  <a:schemeClr val="bg2"/>
                </a:solidFill>
                <a:latin typeface="Meiryo UI" panose="020B0604030504040204" pitchFamily="34" charset="-128"/>
                <a:ea typeface="Meiryo UI" panose="020B0604030504040204" pitchFamily="34" charset="-128"/>
              </a:rPr>
              <a:t>）で</a:t>
            </a:r>
            <a:r>
              <a:rPr lang="en-US" altLang="ja-JP" sz="1050" dirty="0">
                <a:solidFill>
                  <a:schemeClr val="bg2"/>
                </a:solidFill>
                <a:latin typeface="Meiryo UI" panose="020B0604030504040204" pitchFamily="34" charset="-128"/>
                <a:ea typeface="Meiryo UI" panose="020B0604030504040204" pitchFamily="34" charset="-128"/>
              </a:rPr>
              <a:t>7</a:t>
            </a:r>
            <a:r>
              <a:rPr lang="ja-JP" altLang="en-US" sz="1050">
                <a:solidFill>
                  <a:schemeClr val="bg2"/>
                </a:solidFill>
                <a:latin typeface="Meiryo UI" panose="020B0604030504040204" pitchFamily="34" charset="-128"/>
                <a:ea typeface="Meiryo UI" panose="020B0604030504040204" pitchFamily="34" charset="-128"/>
              </a:rPr>
              <a:t>位に上昇。新年度を見据えた学校関連情報や教育政策への関心が再燃した可能性があります。平均滞在時間も</a:t>
            </a:r>
            <a:r>
              <a:rPr lang="en-US" altLang="ja-JP" sz="1050" dirty="0">
                <a:solidFill>
                  <a:schemeClr val="bg2"/>
                </a:solidFill>
                <a:latin typeface="Meiryo UI" panose="020B0604030504040204" pitchFamily="34" charset="-128"/>
                <a:ea typeface="Meiryo UI" panose="020B0604030504040204" pitchFamily="34" charset="-128"/>
              </a:rPr>
              <a:t>3:58</a:t>
            </a:r>
            <a:r>
              <a:rPr lang="ja-JP" altLang="en-US" sz="1050">
                <a:solidFill>
                  <a:schemeClr val="bg2"/>
                </a:solidFill>
                <a:latin typeface="Meiryo UI" panose="020B0604030504040204" pitchFamily="34" charset="-128"/>
                <a:ea typeface="Meiryo UI" panose="020B0604030504040204" pitchFamily="34" charset="-128"/>
              </a:rPr>
              <a:t>と比較的長く、情報収集の意欲が高いことがうかがえます。</a:t>
            </a:r>
          </a:p>
          <a:p>
            <a:pPr marL="171450" indent="-171450">
              <a:lnSpc>
                <a:spcPct val="125000"/>
              </a:lnSpc>
              <a:buFont typeface="Wingdings" pitchFamily="2" charset="2"/>
              <a:buChar char="l"/>
            </a:pPr>
            <a:r>
              <a:rPr lang="ja-JP" altLang="en-US" sz="1050">
                <a:solidFill>
                  <a:schemeClr val="bg2"/>
                </a:solidFill>
                <a:latin typeface="Meiryo UI" panose="020B0604030504040204" pitchFamily="34" charset="-128"/>
                <a:ea typeface="Meiryo UI" panose="020B0604030504040204" pitchFamily="34" charset="-128"/>
              </a:rPr>
              <a:t>環境省の大幅減少：</a:t>
            </a:r>
          </a:p>
          <a:p>
            <a:pPr>
              <a:lnSpc>
                <a:spcPct val="125000"/>
              </a:lnSpc>
            </a:pPr>
            <a:r>
              <a:rPr lang="ja-JP" altLang="en-US" sz="1050">
                <a:solidFill>
                  <a:schemeClr val="bg2"/>
                </a:solidFill>
                <a:latin typeface="Meiryo UI" panose="020B0604030504040204" pitchFamily="34" charset="-128"/>
                <a:ea typeface="Meiryo UI" panose="020B0604030504040204" pitchFamily="34" charset="-128"/>
              </a:rPr>
              <a:t>環境省は</a:t>
            </a:r>
            <a:r>
              <a:rPr lang="en" altLang="ja-JP" sz="1050" dirty="0">
                <a:solidFill>
                  <a:schemeClr val="bg2"/>
                </a:solidFill>
                <a:latin typeface="Meiryo UI" panose="020B0604030504040204" pitchFamily="34" charset="-128"/>
                <a:ea typeface="Meiryo UI" panose="020B0604030504040204" pitchFamily="34" charset="-128"/>
              </a:rPr>
              <a:t>PV</a:t>
            </a:r>
            <a:r>
              <a:rPr lang="ja-JP" altLang="en-US" sz="1050">
                <a:solidFill>
                  <a:schemeClr val="bg2"/>
                </a:solidFill>
                <a:latin typeface="Meiryo UI" panose="020B0604030504040204" pitchFamily="34" charset="-128"/>
                <a:ea typeface="Meiryo UI" panose="020B0604030504040204" pitchFamily="34" charset="-128"/>
              </a:rPr>
              <a:t>数</a:t>
            </a:r>
            <a:r>
              <a:rPr lang="en-US" altLang="ja-JP" sz="1050" dirty="0">
                <a:solidFill>
                  <a:schemeClr val="bg2"/>
                </a:solidFill>
                <a:latin typeface="Meiryo UI" panose="020B0604030504040204" pitchFamily="34" charset="-128"/>
                <a:ea typeface="Meiryo UI" panose="020B0604030504040204" pitchFamily="34" charset="-128"/>
              </a:rPr>
              <a:t>15,329,950</a:t>
            </a:r>
            <a:r>
              <a:rPr lang="ja-JP" altLang="en-US" sz="1050">
                <a:solidFill>
                  <a:schemeClr val="bg2"/>
                </a:solidFill>
                <a:latin typeface="Meiryo UI" panose="020B0604030504040204" pitchFamily="34" charset="-128"/>
                <a:ea typeface="Meiryo UI" panose="020B0604030504040204" pitchFamily="34" charset="-128"/>
              </a:rPr>
              <a:t>（前月比</a:t>
            </a:r>
            <a:r>
              <a:rPr lang="en-US" altLang="ja-JP" sz="1050" dirty="0">
                <a:solidFill>
                  <a:schemeClr val="bg2"/>
                </a:solidFill>
                <a:latin typeface="Meiryo UI" panose="020B0604030504040204" pitchFamily="34" charset="-128"/>
                <a:ea typeface="Meiryo UI" panose="020B0604030504040204" pitchFamily="34" charset="-128"/>
              </a:rPr>
              <a:t>-20.94%</a:t>
            </a:r>
            <a:r>
              <a:rPr lang="ja-JP" altLang="en-US" sz="1050">
                <a:solidFill>
                  <a:schemeClr val="bg2"/>
                </a:solidFill>
                <a:latin typeface="Meiryo UI" panose="020B0604030504040204" pitchFamily="34" charset="-128"/>
                <a:ea typeface="Meiryo UI" panose="020B0604030504040204" pitchFamily="34" charset="-128"/>
              </a:rPr>
              <a:t>）と大きく後退。直帰率（</a:t>
            </a:r>
            <a:r>
              <a:rPr lang="en-US" altLang="ja-JP" sz="1050" dirty="0">
                <a:solidFill>
                  <a:schemeClr val="bg2"/>
                </a:solidFill>
                <a:latin typeface="Meiryo UI" panose="020B0604030504040204" pitchFamily="34" charset="-128"/>
                <a:ea typeface="Meiryo UI" panose="020B0604030504040204" pitchFamily="34" charset="-128"/>
              </a:rPr>
              <a:t>50.91%</a:t>
            </a:r>
            <a:r>
              <a:rPr lang="ja-JP" altLang="en-US" sz="1050">
                <a:solidFill>
                  <a:schemeClr val="bg2"/>
                </a:solidFill>
                <a:latin typeface="Meiryo UI" panose="020B0604030504040204" pitchFamily="34" charset="-128"/>
                <a:ea typeface="Meiryo UI" panose="020B0604030504040204" pitchFamily="34" charset="-128"/>
              </a:rPr>
              <a:t>）や平均滞在時間（</a:t>
            </a:r>
            <a:r>
              <a:rPr lang="en-US" altLang="ja-JP" sz="1050" dirty="0">
                <a:solidFill>
                  <a:schemeClr val="bg2"/>
                </a:solidFill>
                <a:latin typeface="Meiryo UI" panose="020B0604030504040204" pitchFamily="34" charset="-128"/>
                <a:ea typeface="Meiryo UI" panose="020B0604030504040204" pitchFamily="34" charset="-128"/>
              </a:rPr>
              <a:t>4:18</a:t>
            </a:r>
            <a:r>
              <a:rPr lang="ja-JP" altLang="en-US" sz="1050">
                <a:solidFill>
                  <a:schemeClr val="bg2"/>
                </a:solidFill>
                <a:latin typeface="Meiryo UI" panose="020B0604030504040204" pitchFamily="34" charset="-128"/>
                <a:ea typeface="Meiryo UI" panose="020B0604030504040204" pitchFamily="34" charset="-128"/>
              </a:rPr>
              <a:t>）は安定しているものの、前月に比べ話題性のある施策やニュースが少なかった可能性が考えられます。コンテンツの継続発信強化が求められます。</a:t>
            </a:r>
          </a:p>
        </p:txBody>
      </p:sp>
      <p:graphicFrame>
        <p:nvGraphicFramePr>
          <p:cNvPr id="6" name="表 5">
            <a:extLst>
              <a:ext uri="{FF2B5EF4-FFF2-40B4-BE49-F238E27FC236}">
                <a16:creationId xmlns:a16="http://schemas.microsoft.com/office/drawing/2014/main" id="{B4649C2B-68D5-9DBF-3D61-4F9B8433BCD0}"/>
              </a:ext>
            </a:extLst>
          </p:cNvPr>
          <p:cNvGraphicFramePr>
            <a:graphicFrameLocks noGrp="1"/>
          </p:cNvGraphicFramePr>
          <p:nvPr>
            <p:extLst>
              <p:ext uri="{D42A27DB-BD31-4B8C-83A1-F6EECF244321}">
                <p14:modId xmlns:p14="http://schemas.microsoft.com/office/powerpoint/2010/main" val="3067710301"/>
              </p:ext>
            </p:extLst>
          </p:nvPr>
        </p:nvGraphicFramePr>
        <p:xfrm>
          <a:off x="228600" y="1071921"/>
          <a:ext cx="5257799" cy="3553856"/>
        </p:xfrm>
        <a:graphic>
          <a:graphicData uri="http://schemas.openxmlformats.org/drawingml/2006/table">
            <a:tbl>
              <a:tblPr/>
              <a:tblGrid>
                <a:gridCol w="273083">
                  <a:extLst>
                    <a:ext uri="{9D8B030D-6E8A-4147-A177-3AD203B41FA5}">
                      <a16:colId xmlns:a16="http://schemas.microsoft.com/office/drawing/2014/main" val="3476617909"/>
                    </a:ext>
                  </a:extLst>
                </a:gridCol>
                <a:gridCol w="849493">
                  <a:extLst>
                    <a:ext uri="{9D8B030D-6E8A-4147-A177-3AD203B41FA5}">
                      <a16:colId xmlns:a16="http://schemas.microsoft.com/office/drawing/2014/main" val="804119322"/>
                    </a:ext>
                  </a:extLst>
                </a:gridCol>
                <a:gridCol w="849493">
                  <a:extLst>
                    <a:ext uri="{9D8B030D-6E8A-4147-A177-3AD203B41FA5}">
                      <a16:colId xmlns:a16="http://schemas.microsoft.com/office/drawing/2014/main" val="1222872427"/>
                    </a:ext>
                  </a:extLst>
                </a:gridCol>
                <a:gridCol w="849493">
                  <a:extLst>
                    <a:ext uri="{9D8B030D-6E8A-4147-A177-3AD203B41FA5}">
                      <a16:colId xmlns:a16="http://schemas.microsoft.com/office/drawing/2014/main" val="636924930"/>
                    </a:ext>
                  </a:extLst>
                </a:gridCol>
                <a:gridCol w="622452">
                  <a:extLst>
                    <a:ext uri="{9D8B030D-6E8A-4147-A177-3AD203B41FA5}">
                      <a16:colId xmlns:a16="http://schemas.microsoft.com/office/drawing/2014/main" val="3477968648"/>
                    </a:ext>
                  </a:extLst>
                </a:gridCol>
                <a:gridCol w="604595">
                  <a:extLst>
                    <a:ext uri="{9D8B030D-6E8A-4147-A177-3AD203B41FA5}">
                      <a16:colId xmlns:a16="http://schemas.microsoft.com/office/drawing/2014/main" val="448400106"/>
                    </a:ext>
                  </a:extLst>
                </a:gridCol>
                <a:gridCol w="604595">
                  <a:extLst>
                    <a:ext uri="{9D8B030D-6E8A-4147-A177-3AD203B41FA5}">
                      <a16:colId xmlns:a16="http://schemas.microsoft.com/office/drawing/2014/main" val="4040591691"/>
                    </a:ext>
                  </a:extLst>
                </a:gridCol>
                <a:gridCol w="604595">
                  <a:extLst>
                    <a:ext uri="{9D8B030D-6E8A-4147-A177-3AD203B41FA5}">
                      <a16:colId xmlns:a16="http://schemas.microsoft.com/office/drawing/2014/main" val="37565371"/>
                    </a:ext>
                  </a:extLst>
                </a:gridCol>
              </a:tblGrid>
              <a:tr h="348477">
                <a:tc>
                  <a:txBody>
                    <a:bodyPr/>
                    <a:lstStyle/>
                    <a:p>
                      <a:pPr algn="ctr" rtl="0" fontAlgn="ctr">
                        <a:buNone/>
                      </a:pPr>
                      <a:r>
                        <a:rPr lang="ja-JP" altLang="en-US" sz="800" b="1" i="0" u="none" strike="noStrike">
                          <a:solidFill>
                            <a:srgbClr val="FFFFFF"/>
                          </a:solidFill>
                          <a:effectLst/>
                          <a:latin typeface="メイリオ" panose="020B0604030504040204" pitchFamily="34" charset="-128"/>
                          <a:ea typeface="メイリオ" panose="020B0604030504040204" pitchFamily="34" charset="-128"/>
                        </a:rPr>
                        <a:t>順位</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ctr" fontAlgn="ctr">
                        <a:buNone/>
                      </a:pPr>
                      <a:r>
                        <a:rPr lang="ja-JP" altLang="en-US" sz="800" b="1" i="0" u="none" strike="noStrike">
                          <a:solidFill>
                            <a:srgbClr val="FFFFFF"/>
                          </a:solidFill>
                          <a:effectLst/>
                          <a:latin typeface="メイリオ" panose="020B0604030504040204" pitchFamily="34" charset="-128"/>
                          <a:ea typeface="メイリオ" panose="020B0604030504040204" pitchFamily="34" charset="-128"/>
                        </a:rPr>
                        <a:t>省庁</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ctr" fontAlgn="ctr">
                        <a:buNone/>
                      </a:pPr>
                      <a:r>
                        <a:rPr lang="en" sz="800" b="1" i="0" u="none" strike="noStrike" dirty="0">
                          <a:solidFill>
                            <a:srgbClr val="FFFFFF"/>
                          </a:solidFill>
                          <a:effectLst/>
                          <a:latin typeface="メイリオ" panose="020B0604030504040204" pitchFamily="34" charset="-128"/>
                          <a:ea typeface="メイリオ" panose="020B0604030504040204" pitchFamily="34" charset="-128"/>
                        </a:rPr>
                        <a:t>URL</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ctr" fontAlgn="ctr">
                        <a:buNone/>
                      </a:pPr>
                      <a:r>
                        <a:rPr lang="en" sz="800" b="1" i="0" u="none" strike="noStrike" dirty="0">
                          <a:solidFill>
                            <a:srgbClr val="FFFFFF"/>
                          </a:solidFill>
                          <a:effectLst/>
                          <a:latin typeface="メイリオ" panose="020B0604030504040204" pitchFamily="34" charset="-128"/>
                          <a:ea typeface="メイリオ" panose="020B0604030504040204" pitchFamily="34" charset="-128"/>
                        </a:rPr>
                        <a:t>PV</a:t>
                      </a:r>
                      <a:r>
                        <a:rPr lang="ja-JP" altLang="en-US" sz="800" b="1" i="0" u="none" strike="noStrike">
                          <a:solidFill>
                            <a:srgbClr val="FFFFFF"/>
                          </a:solidFill>
                          <a:effectLst/>
                          <a:latin typeface="メイリオ" panose="020B0604030504040204" pitchFamily="34" charset="-128"/>
                          <a:ea typeface="メイリオ" panose="020B0604030504040204" pitchFamily="34" charset="-128"/>
                        </a:rPr>
                        <a:t>数</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ja-JP" altLang="en-US" sz="800" b="1" i="0" u="none" strike="noStrike">
                          <a:solidFill>
                            <a:srgbClr val="FFFFFF"/>
                          </a:solidFill>
                          <a:effectLst/>
                          <a:latin typeface="メイリオ" panose="020B0604030504040204" pitchFamily="34" charset="-128"/>
                          <a:ea typeface="メイリオ" panose="020B0604030504040204" pitchFamily="34" charset="-128"/>
                        </a:rPr>
                        <a:t>合計訪問数</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808080"/>
                    </a:solidFill>
                  </a:tcPr>
                </a:tc>
                <a:tc>
                  <a:txBody>
                    <a:bodyPr/>
                    <a:lstStyle/>
                    <a:p>
                      <a:pPr algn="ctr" fontAlgn="ctr">
                        <a:buNone/>
                      </a:pPr>
                      <a:r>
                        <a:rPr lang="ja-JP" altLang="en-US" sz="800" b="1" i="0" u="none" strike="noStrike">
                          <a:solidFill>
                            <a:srgbClr val="FFFFFF"/>
                          </a:solidFill>
                          <a:effectLst/>
                          <a:latin typeface="メイリオ" panose="020B0604030504040204" pitchFamily="34" charset="-128"/>
                          <a:ea typeface="メイリオ" panose="020B0604030504040204" pitchFamily="34" charset="-128"/>
                        </a:rPr>
                        <a:t>１訪問あたりの</a:t>
                      </a:r>
                      <a:r>
                        <a:rPr lang="en" sz="800" b="1" i="0" u="none" strike="noStrike">
                          <a:solidFill>
                            <a:srgbClr val="FFFFFF"/>
                          </a:solidFill>
                          <a:effectLst/>
                          <a:latin typeface="メイリオ" panose="020B0604030504040204" pitchFamily="34" charset="-128"/>
                          <a:ea typeface="メイリオ" panose="020B0604030504040204" pitchFamily="34" charset="-128"/>
                        </a:rPr>
                        <a:t>PV</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ctr" fontAlgn="ctr">
                        <a:buNone/>
                      </a:pPr>
                      <a:r>
                        <a:rPr lang="ja-JP" altLang="en-US" sz="800" b="1" i="0" u="none" strike="noStrike">
                          <a:solidFill>
                            <a:srgbClr val="FFFFFF"/>
                          </a:solidFill>
                          <a:effectLst/>
                          <a:latin typeface="メイリオ" panose="020B0604030504040204" pitchFamily="34" charset="-128"/>
                          <a:ea typeface="メイリオ" panose="020B0604030504040204" pitchFamily="34" charset="-128"/>
                        </a:rPr>
                        <a:t>直帰率</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ctr" fontAlgn="ctr">
                        <a:buNone/>
                      </a:pPr>
                      <a:r>
                        <a:rPr lang="ja-JP" altLang="en-US" sz="800" b="1" i="0" u="none" strike="noStrike">
                          <a:solidFill>
                            <a:srgbClr val="FFFFFF"/>
                          </a:solidFill>
                          <a:effectLst/>
                          <a:latin typeface="メイリオ" panose="020B0604030504040204" pitchFamily="34" charset="-128"/>
                          <a:ea typeface="メイリオ" panose="020B0604030504040204" pitchFamily="34" charset="-128"/>
                        </a:rPr>
                        <a:t>平均滞在時間</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extLst>
                  <a:ext uri="{0D108BD9-81ED-4DB2-BD59-A6C34878D82A}">
                    <a16:rowId xmlns:a16="http://schemas.microsoft.com/office/drawing/2014/main" val="1327162230"/>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厚生労働省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3"/>
                        </a:rPr>
                        <a:t>mhlw.go.jp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231,539,000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47,740,000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4.85</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53.39%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0:04:48</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268990619"/>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2</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気象庁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4"/>
                        </a:rPr>
                        <a:t>jma.go.jp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126,984,000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38,480,000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44.22%</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0:03:12</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713906972"/>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国土交通省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5"/>
                        </a:rPr>
                        <a:t>mlit.go.jp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99,413,400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22,290,000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4.46</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45.54%</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0:05:09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077182581"/>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4</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デジタル庁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6"/>
                        </a:rPr>
                        <a:t>digital.go.jp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48,768,280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7,268,000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6.71</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45.54%</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0:04:35</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93706969"/>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法務省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7"/>
                        </a:rPr>
                        <a:t>moj.go.jp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36,929,880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7,284,000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5.07</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43.39%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0:06:06</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962283374"/>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6</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経済産業省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8"/>
                        </a:rPr>
                        <a:t>meti.go.jp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18,001,280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5,114,000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3.52</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54.41%</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0:04:09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180288295"/>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7</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文部科学省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9"/>
                        </a:rPr>
                        <a:t>mext.go.jp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17,319,190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4,319,000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4.01</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51.20%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0:03:58</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621332234"/>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8</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環境省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10"/>
                        </a:rPr>
                        <a:t>env.go.jp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15,329,950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3,881,000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3.95</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50.91%</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0:04:18</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435373938"/>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外務省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11"/>
                        </a:rPr>
                        <a:t>mofa.go.jp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15,160,260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4,539,000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3.34</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53.60%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0:02:28</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067814207"/>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農林水産省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12"/>
                        </a:rPr>
                        <a:t>maff.go.jp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14,512,590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4,281,000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3.39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58.46%</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0:03:23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135635545"/>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11</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防衛省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13"/>
                        </a:rPr>
                        <a:t>mod.go.jp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13,276,620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3,598,000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3.69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50.83%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0:02:59</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105837678"/>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12</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総務省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14"/>
                        </a:rPr>
                        <a:t>soumu.go.jp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11,066,040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3,126,000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3.54</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53.36%</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0:03:13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264734065"/>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財務省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15"/>
                        </a:rPr>
                        <a:t>mof.go.jp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3,750,400</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1,172,000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3.2</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53.03%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0:02:33</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217407624"/>
                  </a:ext>
                </a:extLst>
              </a:tr>
              <a:tr h="227078">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14</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800" b="0" i="0" u="none" strike="noStrike">
                          <a:solidFill>
                            <a:srgbClr val="000000"/>
                          </a:solidFill>
                          <a:effectLst/>
                          <a:latin typeface="メイリオ" panose="020B0604030504040204" pitchFamily="34" charset="-128"/>
                          <a:ea typeface="メイリオ" panose="020B0604030504040204" pitchFamily="34" charset="-128"/>
                        </a:rPr>
                        <a:t>復興庁</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800" b="0" i="0" u="none" strike="noStrike">
                          <a:solidFill>
                            <a:srgbClr val="1155CC"/>
                          </a:solidFill>
                          <a:effectLst/>
                          <a:latin typeface="メイリオ" panose="020B0604030504040204" pitchFamily="34" charset="-128"/>
                          <a:ea typeface="メイリオ" panose="020B0604030504040204" pitchFamily="34" charset="-128"/>
                          <a:hlinkClick r:id="rId16"/>
                        </a:rPr>
                        <a:t>reconstruction.go.jp</a:t>
                      </a:r>
                      <a:endParaRPr lang="en" sz="800" b="0" i="0" u="none" strike="noStrike">
                        <a:solidFill>
                          <a:srgbClr val="1155CC"/>
                        </a:solidFill>
                        <a:effectLst/>
                        <a:latin typeface="メイリオ" panose="020B0604030504040204" pitchFamily="34" charset="-128"/>
                        <a:ea typeface="メイリオ" panose="020B0604030504040204" pitchFamily="34" charset="-128"/>
                      </a:endParaRP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234,014</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74,290 </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3.15</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a:solidFill>
                            <a:srgbClr val="000000"/>
                          </a:solidFill>
                          <a:effectLst/>
                          <a:latin typeface="メイリオ" panose="020B0604030504040204" pitchFamily="34" charset="-128"/>
                          <a:ea typeface="メイリオ" panose="020B0604030504040204" pitchFamily="34" charset="-128"/>
                        </a:rPr>
                        <a:t>51.58%</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en-US" altLang="ja-JP" sz="800" b="0" i="0" u="none" strike="noStrike" dirty="0">
                          <a:solidFill>
                            <a:srgbClr val="000000"/>
                          </a:solidFill>
                          <a:effectLst/>
                          <a:latin typeface="メイリオ" panose="020B0604030504040204" pitchFamily="34" charset="-128"/>
                          <a:ea typeface="メイリオ" panose="020B0604030504040204" pitchFamily="34" charset="-128"/>
                        </a:rPr>
                        <a:t>0:01:42</a:t>
                      </a:r>
                    </a:p>
                  </a:txBody>
                  <a:tcPr marL="9525" marR="9525" marT="9525"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768425759"/>
                  </a:ext>
                </a:extLst>
              </a:tr>
            </a:tbl>
          </a:graphicData>
        </a:graphic>
      </p:graphicFrame>
    </p:spTree>
    <p:extLst>
      <p:ext uri="{BB962C8B-B14F-4D97-AF65-F5344CB8AC3E}">
        <p14:creationId xmlns:p14="http://schemas.microsoft.com/office/powerpoint/2010/main" val="670255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9">
          <a:extLst>
            <a:ext uri="{FF2B5EF4-FFF2-40B4-BE49-F238E27FC236}">
              <a16:creationId xmlns:a16="http://schemas.microsoft.com/office/drawing/2014/main" id="{D6435D49-091E-E64A-F293-E001F0FB60AE}"/>
            </a:ext>
          </a:extLst>
        </p:cNvPr>
        <p:cNvGrpSpPr/>
        <p:nvPr/>
      </p:nvGrpSpPr>
      <p:grpSpPr>
        <a:xfrm>
          <a:off x="0" y="0"/>
          <a:ext cx="0" cy="0"/>
          <a:chOff x="0" y="0"/>
          <a:chExt cx="0" cy="0"/>
        </a:xfrm>
      </p:grpSpPr>
      <p:sp>
        <p:nvSpPr>
          <p:cNvPr id="31" name="Google Shape;13;p2">
            <a:extLst>
              <a:ext uri="{FF2B5EF4-FFF2-40B4-BE49-F238E27FC236}">
                <a16:creationId xmlns:a16="http://schemas.microsoft.com/office/drawing/2014/main" id="{A7BAEF64-32F5-7C7F-17FA-61057E35DF2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11</a:t>
            </a:fld>
            <a:endParaRPr lang="ja" altLang="en-US">
              <a:solidFill>
                <a:srgbClr val="4E5F7A"/>
              </a:solidFill>
            </a:endParaRPr>
          </a:p>
        </p:txBody>
      </p:sp>
      <p:sp>
        <p:nvSpPr>
          <p:cNvPr id="39" name="Google Shape;125;p15">
            <a:extLst>
              <a:ext uri="{FF2B5EF4-FFF2-40B4-BE49-F238E27FC236}">
                <a16:creationId xmlns:a16="http://schemas.microsoft.com/office/drawing/2014/main" id="{6A8747D8-E49F-B921-D873-F371E1B695FA}"/>
              </a:ext>
            </a:extLst>
          </p:cNvPr>
          <p:cNvSpPr txBox="1">
            <a:spLocks noGrp="1"/>
          </p:cNvSpPr>
          <p:nvPr>
            <p:ph type="title"/>
          </p:nvPr>
        </p:nvSpPr>
        <p:spPr>
          <a:xfrm>
            <a:off x="228600" y="57150"/>
            <a:ext cx="2333822" cy="526800"/>
          </a:xfrm>
          <a:prstGeom prst="rect">
            <a:avLst/>
          </a:prstGeom>
        </p:spPr>
        <p:txBody>
          <a:bodyPr spcFirstLastPara="1" wrap="square" lIns="0" tIns="0" rIns="0" bIns="0" anchor="ctr" anchorCtr="0">
            <a:noAutofit/>
          </a:bodyPr>
          <a:lstStyle/>
          <a:p>
            <a:pPr lvl="0"/>
            <a:r>
              <a:rPr lang="ja-JP" altLang="en-US"/>
              <a:t>参考：他省庁のアクセス数</a:t>
            </a:r>
            <a:endParaRPr/>
          </a:p>
        </p:txBody>
      </p:sp>
      <p:sp>
        <p:nvSpPr>
          <p:cNvPr id="2" name="Google Shape;114;p14">
            <a:extLst>
              <a:ext uri="{FF2B5EF4-FFF2-40B4-BE49-F238E27FC236}">
                <a16:creationId xmlns:a16="http://schemas.microsoft.com/office/drawing/2014/main" id="{E9BA0A66-DB03-7F03-8817-2A769F2E8E66}"/>
              </a:ext>
            </a:extLst>
          </p:cNvPr>
          <p:cNvSpPr txBox="1"/>
          <p:nvPr/>
        </p:nvSpPr>
        <p:spPr>
          <a:xfrm>
            <a:off x="228600" y="712534"/>
            <a:ext cx="7842147" cy="346249"/>
          </a:xfrm>
          <a:prstGeom prst="rect">
            <a:avLst/>
          </a:prstGeom>
          <a:noFill/>
          <a:ln>
            <a:noFill/>
          </a:ln>
        </p:spPr>
        <p:txBody>
          <a:bodyPr spcFirstLastPara="1" wrap="square" lIns="0" tIns="0" rIns="0" bIns="0" anchor="t" anchorCtr="0">
            <a:spAutoFit/>
          </a:bodyPr>
          <a:lstStyle/>
          <a:p>
            <a:pPr>
              <a:lnSpc>
                <a:spcPct val="125000"/>
              </a:lnSpc>
            </a:pPr>
            <a:r>
              <a:rPr lang="ja-JP" altLang="en-US" sz="900">
                <a:solidFill>
                  <a:schemeClr val="bg2"/>
                </a:solidFill>
                <a:latin typeface="Meiryo UI" panose="020B0604030504040204" pitchFamily="34" charset="-128"/>
                <a:ea typeface="Meiryo UI" panose="020B0604030504040204" pitchFamily="34" charset="-128"/>
              </a:rPr>
              <a:t>参考値として、「</a:t>
            </a:r>
            <a:r>
              <a:rPr lang="en-US" altLang="ja-JP" sz="900" err="1">
                <a:solidFill>
                  <a:schemeClr val="bg2"/>
                </a:solidFill>
                <a:latin typeface="Meiryo UI" panose="020B0604030504040204" pitchFamily="34" charset="-128"/>
                <a:ea typeface="Meiryo UI" panose="020B0604030504040204" pitchFamily="34" charset="-128"/>
              </a:rPr>
              <a:t>SimilarWeb</a:t>
            </a:r>
            <a:r>
              <a:rPr lang="ja-JP" altLang="en-US" sz="900">
                <a:solidFill>
                  <a:schemeClr val="bg2"/>
                </a:solidFill>
                <a:latin typeface="Meiryo UI" panose="020B0604030504040204" pitchFamily="34" charset="-128"/>
                <a:ea typeface="Meiryo UI" panose="020B0604030504040204" pitchFamily="34" charset="-128"/>
              </a:rPr>
              <a:t>」で他省庁のリファラルサイト・ソーシャルトラフィックを調査した。</a:t>
            </a:r>
          </a:p>
          <a:p>
            <a:pPr>
              <a:lnSpc>
                <a:spcPct val="125000"/>
              </a:lnSpc>
            </a:pPr>
            <a:r>
              <a:rPr lang="ja-JP" altLang="en-US" sz="900">
                <a:solidFill>
                  <a:schemeClr val="bg2"/>
                </a:solidFill>
                <a:latin typeface="Meiryo UI" panose="020B0604030504040204" pitchFamily="34" charset="-128"/>
                <a:ea typeface="Meiryo UI" panose="020B0604030504040204" pitchFamily="34" charset="-128"/>
              </a:rPr>
              <a:t>（データ取得期間：</a:t>
            </a:r>
            <a:r>
              <a:rPr lang="en-US" altLang="ja-JP" sz="900">
                <a:solidFill>
                  <a:schemeClr val="bg2"/>
                </a:solidFill>
                <a:latin typeface="Meiryo UI" panose="020B0604030504040204" pitchFamily="34" charset="-128"/>
                <a:ea typeface="Meiryo UI" panose="020B0604030504040204" pitchFamily="34" charset="-128"/>
              </a:rPr>
              <a:t>2025</a:t>
            </a:r>
            <a:r>
              <a:rPr lang="ja-JP" altLang="en-US" sz="900">
                <a:solidFill>
                  <a:schemeClr val="bg2"/>
                </a:solidFill>
                <a:latin typeface="Meiryo UI" panose="020B0604030504040204" pitchFamily="34" charset="-128"/>
                <a:ea typeface="Meiryo UI" panose="020B0604030504040204" pitchFamily="34" charset="-128"/>
              </a:rPr>
              <a:t>年</a:t>
            </a:r>
            <a:r>
              <a:rPr lang="en-US" altLang="ja-JP" sz="900">
                <a:solidFill>
                  <a:schemeClr val="bg2"/>
                </a:solidFill>
                <a:latin typeface="Meiryo UI" panose="020B0604030504040204" pitchFamily="34" charset="-128"/>
                <a:ea typeface="Meiryo UI" panose="020B0604030504040204" pitchFamily="34" charset="-128"/>
              </a:rPr>
              <a:t>10</a:t>
            </a:r>
            <a:r>
              <a:rPr lang="ja-JP" altLang="en-US" sz="900">
                <a:solidFill>
                  <a:schemeClr val="bg2"/>
                </a:solidFill>
                <a:latin typeface="Meiryo UI" panose="020B0604030504040204" pitchFamily="34" charset="-128"/>
                <a:ea typeface="Meiryo UI" panose="020B0604030504040204" pitchFamily="34" charset="-128"/>
              </a:rPr>
              <a:t>月、</a:t>
            </a:r>
            <a:r>
              <a:rPr lang="en-US" altLang="ja-JP" sz="900">
                <a:solidFill>
                  <a:schemeClr val="bg2"/>
                </a:solidFill>
                <a:latin typeface="Meiryo UI" panose="020B0604030504040204" pitchFamily="34" charset="-128"/>
                <a:ea typeface="Meiryo UI" panose="020B0604030504040204" pitchFamily="34" charset="-128"/>
              </a:rPr>
              <a:t>PV</a:t>
            </a:r>
            <a:r>
              <a:rPr lang="ja-JP" altLang="en-US" sz="900">
                <a:solidFill>
                  <a:schemeClr val="bg2"/>
                </a:solidFill>
                <a:latin typeface="Meiryo UI" panose="020B0604030504040204" pitchFamily="34" charset="-128"/>
                <a:ea typeface="Meiryo UI" panose="020B0604030504040204" pitchFamily="34" charset="-128"/>
              </a:rPr>
              <a:t>数で降順）</a:t>
            </a:r>
            <a:endParaRPr lang="en-US" altLang="ja-JP" sz="900">
              <a:solidFill>
                <a:schemeClr val="bg2"/>
              </a:solidFill>
              <a:latin typeface="Meiryo UI" panose="020B0604030504040204" pitchFamily="34" charset="-128"/>
              <a:ea typeface="Meiryo UI" panose="020B0604030504040204" pitchFamily="34" charset="-128"/>
            </a:endParaRPr>
          </a:p>
        </p:txBody>
      </p:sp>
      <p:graphicFrame>
        <p:nvGraphicFramePr>
          <p:cNvPr id="7" name="表 6">
            <a:extLst>
              <a:ext uri="{FF2B5EF4-FFF2-40B4-BE49-F238E27FC236}">
                <a16:creationId xmlns:a16="http://schemas.microsoft.com/office/drawing/2014/main" id="{E1E604AF-D77C-B74D-606F-54AE7744577C}"/>
              </a:ext>
            </a:extLst>
          </p:cNvPr>
          <p:cNvGraphicFramePr>
            <a:graphicFrameLocks noGrp="1"/>
          </p:cNvGraphicFramePr>
          <p:nvPr>
            <p:extLst>
              <p:ext uri="{D42A27DB-BD31-4B8C-83A1-F6EECF244321}">
                <p14:modId xmlns:p14="http://schemas.microsoft.com/office/powerpoint/2010/main" val="1899439846"/>
              </p:ext>
            </p:extLst>
          </p:nvPr>
        </p:nvGraphicFramePr>
        <p:xfrm>
          <a:off x="228599" y="1187367"/>
          <a:ext cx="8540015" cy="3507045"/>
        </p:xfrm>
        <a:graphic>
          <a:graphicData uri="http://schemas.openxmlformats.org/drawingml/2006/table">
            <a:tbl>
              <a:tblPr/>
              <a:tblGrid>
                <a:gridCol w="632890">
                  <a:extLst>
                    <a:ext uri="{9D8B030D-6E8A-4147-A177-3AD203B41FA5}">
                      <a16:colId xmlns:a16="http://schemas.microsoft.com/office/drawing/2014/main" val="2552804258"/>
                    </a:ext>
                  </a:extLst>
                </a:gridCol>
                <a:gridCol w="632890">
                  <a:extLst>
                    <a:ext uri="{9D8B030D-6E8A-4147-A177-3AD203B41FA5}">
                      <a16:colId xmlns:a16="http://schemas.microsoft.com/office/drawing/2014/main" val="4113231933"/>
                    </a:ext>
                  </a:extLst>
                </a:gridCol>
                <a:gridCol w="3428824">
                  <a:extLst>
                    <a:ext uri="{9D8B030D-6E8A-4147-A177-3AD203B41FA5}">
                      <a16:colId xmlns:a16="http://schemas.microsoft.com/office/drawing/2014/main" val="1648336000"/>
                    </a:ext>
                  </a:extLst>
                </a:gridCol>
                <a:gridCol w="3845411">
                  <a:extLst>
                    <a:ext uri="{9D8B030D-6E8A-4147-A177-3AD203B41FA5}">
                      <a16:colId xmlns:a16="http://schemas.microsoft.com/office/drawing/2014/main" val="2542185657"/>
                    </a:ext>
                  </a:extLst>
                </a:gridCol>
              </a:tblGrid>
              <a:tr h="117803">
                <a:tc>
                  <a:txBody>
                    <a:bodyPr/>
                    <a:lstStyle/>
                    <a:p>
                      <a:pPr algn="ctr" rtl="0" fontAlgn="ctr">
                        <a:buNone/>
                      </a:pPr>
                      <a:r>
                        <a:rPr lang="ja-JP" altLang="en-US" sz="700" b="1" i="0" u="none" strike="noStrike">
                          <a:solidFill>
                            <a:srgbClr val="FFFFFF"/>
                          </a:solidFill>
                          <a:effectLst/>
                          <a:latin typeface="メイリオ" panose="020B0604030504040204" pitchFamily="34" charset="-128"/>
                          <a:ea typeface="メイリオ" panose="020B0604030504040204" pitchFamily="34" charset="-128"/>
                        </a:rPr>
                        <a:t>順位</a:t>
                      </a:r>
                    </a:p>
                  </a:txBody>
                  <a:tcPr marL="6311" marR="6311" marT="6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ctr" fontAlgn="ctr">
                        <a:buNone/>
                      </a:pPr>
                      <a:r>
                        <a:rPr lang="ja-JP" altLang="en-US" sz="700" b="1" i="0" u="none" strike="noStrike">
                          <a:solidFill>
                            <a:srgbClr val="FFFFFF"/>
                          </a:solidFill>
                          <a:effectLst/>
                          <a:latin typeface="メイリオ" panose="020B0604030504040204" pitchFamily="34" charset="-128"/>
                          <a:ea typeface="メイリオ" panose="020B0604030504040204" pitchFamily="34" charset="-128"/>
                        </a:rPr>
                        <a:t>省庁</a:t>
                      </a:r>
                    </a:p>
                  </a:txBody>
                  <a:tcPr marL="6311" marR="6311" marT="6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95959"/>
                    </a:solidFill>
                  </a:tcPr>
                </a:tc>
                <a:tc>
                  <a:txBody>
                    <a:bodyPr/>
                    <a:lstStyle/>
                    <a:p>
                      <a:pPr algn="ctr" fontAlgn="ctr">
                        <a:buNone/>
                      </a:pPr>
                      <a:r>
                        <a:rPr lang="ja-JP" altLang="en-US" sz="700" b="1" i="0" u="none" strike="noStrike">
                          <a:solidFill>
                            <a:srgbClr val="FFFFFF"/>
                          </a:solidFill>
                          <a:effectLst/>
                          <a:latin typeface="メイリオ" panose="020B0604030504040204" pitchFamily="34" charset="-128"/>
                          <a:ea typeface="メイリオ" panose="020B0604030504040204" pitchFamily="34" charset="-128"/>
                        </a:rPr>
                        <a:t>上位リファラルサイト</a:t>
                      </a:r>
                    </a:p>
                  </a:txBody>
                  <a:tcPr marL="6311" marR="6311" marT="6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tc>
                  <a:txBody>
                    <a:bodyPr/>
                    <a:lstStyle/>
                    <a:p>
                      <a:pPr algn="ctr" fontAlgn="ctr">
                        <a:buNone/>
                      </a:pPr>
                      <a:r>
                        <a:rPr lang="ja-JP" altLang="en-US" sz="700" b="1" i="0" u="none" strike="noStrike">
                          <a:solidFill>
                            <a:srgbClr val="FFFFFF"/>
                          </a:solidFill>
                          <a:effectLst/>
                          <a:latin typeface="メイリオ" panose="020B0604030504040204" pitchFamily="34" charset="-128"/>
                          <a:ea typeface="メイリオ" panose="020B0604030504040204" pitchFamily="34" charset="-128"/>
                        </a:rPr>
                        <a:t>ソーシャルトラフィック</a:t>
                      </a:r>
                    </a:p>
                  </a:txBody>
                  <a:tcPr marL="6311" marR="6311" marT="631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595959"/>
                    </a:solidFill>
                  </a:tcPr>
                </a:tc>
                <a:extLst>
                  <a:ext uri="{0D108BD9-81ED-4DB2-BD59-A6C34878D82A}">
                    <a16:rowId xmlns:a16="http://schemas.microsoft.com/office/drawing/2014/main" val="1426121965"/>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厚生労働省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chatgpt.com:28.02%, google.com:5.67%, perplexity.ai:4.09%, jp.indeed.com:2.27%</a:t>
                      </a:r>
                    </a:p>
                  </a:txBody>
                  <a:tcPr marL="6311" marR="6311" marT="6311" marB="0" anchor="ctr">
                    <a:lnL w="6350" cap="flat" cmpd="sng" algn="ctr">
                      <a:solidFill>
                        <a:srgbClr val="D9D9D9"/>
                      </a:solidFill>
                      <a:prstDash val="solid"/>
                      <a:round/>
                      <a:headEnd type="none" w="med" len="med"/>
                      <a:tailEnd type="none" w="med" len="med"/>
                    </a:lnL>
                    <a:lnR>
                      <a:noFill/>
                    </a:lnR>
                    <a:lnT w="6350" cap="flat" cmpd="sng" algn="ctr">
                      <a:solidFill>
                        <a:srgbClr val="BFBFBF"/>
                      </a:solidFill>
                      <a:prstDash val="solid"/>
                      <a:round/>
                      <a:headEnd type="none" w="med" len="med"/>
                      <a:tailEnd type="none" w="med" len="med"/>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:45.94%,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:45.03%,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:3.97%,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:1.21%,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:1.11%,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:2.74%</a:t>
                      </a:r>
                    </a:p>
                  </a:txBody>
                  <a:tcPr marL="6311" marR="6311" marT="6311" marB="0" anchor="ctr">
                    <a:lnL>
                      <a:noFill/>
                    </a:lnL>
                    <a:lnR>
                      <a:noFill/>
                    </a:lnR>
                    <a:lnT w="6350" cap="flat" cmpd="sng" algn="ctr">
                      <a:solidFill>
                        <a:srgbClr val="BFBFBF"/>
                      </a:solidFill>
                      <a:prstDash val="solid"/>
                      <a:round/>
                      <a:headEnd type="none" w="med" len="med"/>
                      <a:tailEnd type="none" w="med" len="med"/>
                    </a:lnT>
                    <a:lnB>
                      <a:noFill/>
                    </a:lnB>
                    <a:noFill/>
                  </a:tcPr>
                </a:tc>
                <a:extLst>
                  <a:ext uri="{0D108BD9-81ED-4DB2-BD59-A6C34878D82A}">
                    <a16:rowId xmlns:a16="http://schemas.microsoft.com/office/drawing/2014/main" val="3644417794"/>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気象庁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searchdesk.com:25.10%, mlit.go.jp:13.05%, chatgpt.com:9.76%, ncl-portal.nintendo.co.jp:8.29%, ntp.msn.com:4.37%</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:57.35%,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:34.80%,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:2.39%,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:1.40%,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:1.37%,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:2.69%</a:t>
                      </a:r>
                    </a:p>
                  </a:txBody>
                  <a:tcPr marL="6311" marR="6311" marT="6311" marB="0" anchor="ctr">
                    <a:lnL>
                      <a:noFill/>
                    </a:lnL>
                    <a:lnR>
                      <a:noFill/>
                    </a:lnR>
                    <a:lnT>
                      <a:noFill/>
                    </a:lnT>
                    <a:lnB>
                      <a:noFill/>
                    </a:lnB>
                    <a:noFill/>
                  </a:tcPr>
                </a:tc>
                <a:extLst>
                  <a:ext uri="{0D108BD9-81ED-4DB2-BD59-A6C34878D82A}">
                    <a16:rowId xmlns:a16="http://schemas.microsoft.com/office/drawing/2014/main" val="438505482"/>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国土交通省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chatgpt.com:19.89%, livecam.asia:9.20%, google.com:6.15%, window-renovation2025.env.go.jp:4.64%, ja.wikipedia.org:3.67%</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:46.37%,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:45.08%,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:3.06%,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:1.71%,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:1.50%,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:2.29%</a:t>
                      </a:r>
                    </a:p>
                  </a:txBody>
                  <a:tcPr marL="6311" marR="6311" marT="6311" marB="0" anchor="ctr">
                    <a:lnL>
                      <a:noFill/>
                    </a:lnL>
                    <a:lnR>
                      <a:noFill/>
                    </a:lnR>
                    <a:lnT>
                      <a:noFill/>
                    </a:lnT>
                    <a:lnB>
                      <a:noFill/>
                    </a:lnB>
                    <a:noFill/>
                  </a:tcPr>
                </a:tc>
                <a:extLst>
                  <a:ext uri="{0D108BD9-81ED-4DB2-BD59-A6C34878D82A}">
                    <a16:rowId xmlns:a16="http://schemas.microsoft.com/office/drawing/2014/main" val="4286689023"/>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デジタル庁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myna.go.jp:20.48%, chatgpt.com:11.99%, checkin.aircanada.com:4.91%, waysim.net:2.70%</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:41.77%,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:32.91%,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:12.64%,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:4.19%,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:3.30%,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:5.19%</a:t>
                      </a:r>
                    </a:p>
                  </a:txBody>
                  <a:tcPr marL="6311" marR="6311" marT="6311" marB="0" anchor="ctr">
                    <a:lnL>
                      <a:noFill/>
                    </a:lnL>
                    <a:lnR>
                      <a:noFill/>
                    </a:lnR>
                    <a:lnT>
                      <a:noFill/>
                    </a:lnT>
                    <a:lnB>
                      <a:noFill/>
                    </a:lnB>
                    <a:noFill/>
                  </a:tcPr>
                </a:tc>
                <a:extLst>
                  <a:ext uri="{0D108BD9-81ED-4DB2-BD59-A6C34878D82A}">
                    <a16:rowId xmlns:a16="http://schemas.microsoft.com/office/drawing/2014/main" val="2257896337"/>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5</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法務省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chatgpt.com:27.18%, google.com:8.01%, itojuku.co.jp:4.76%, perplexity.ai:3.90%, japanprcalculator.com:2.77%</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:43.45%,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:37.35%,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:7.54%,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:2.84%,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:2.57%,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:6.25%</a:t>
                      </a:r>
                    </a:p>
                  </a:txBody>
                  <a:tcPr marL="6311" marR="6311" marT="6311" marB="0" anchor="ctr">
                    <a:lnL>
                      <a:noFill/>
                    </a:lnL>
                    <a:lnR>
                      <a:noFill/>
                    </a:lnR>
                    <a:lnT>
                      <a:noFill/>
                    </a:lnT>
                    <a:lnB>
                      <a:noFill/>
                    </a:lnB>
                    <a:noFill/>
                  </a:tcPr>
                </a:tc>
                <a:extLst>
                  <a:ext uri="{0D108BD9-81ED-4DB2-BD59-A6C34878D82A}">
                    <a16:rowId xmlns:a16="http://schemas.microsoft.com/office/drawing/2014/main" val="4011319876"/>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6</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経済産業省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chatgpt.com:28.30%, amazon.co.jp:11.36%, jutaku-shoene2025.mlit.go.jp:8.14%, perplexity.ai:4.51%, gemini.google.com:2.95%</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:55.99%,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:39.45%,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:2.44%,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:1.29%,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:0.49%,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:0.35%</a:t>
                      </a:r>
                    </a:p>
                  </a:txBody>
                  <a:tcPr marL="6311" marR="6311" marT="6311" marB="0" anchor="ctr">
                    <a:lnL>
                      <a:noFill/>
                    </a:lnL>
                    <a:lnR>
                      <a:noFill/>
                    </a:lnR>
                    <a:lnT>
                      <a:noFill/>
                    </a:lnT>
                    <a:lnB>
                      <a:noFill/>
                    </a:lnB>
                    <a:noFill/>
                  </a:tcPr>
                </a:tc>
                <a:extLst>
                  <a:ext uri="{0D108BD9-81ED-4DB2-BD59-A6C34878D82A}">
                    <a16:rowId xmlns:a16="http://schemas.microsoft.com/office/drawing/2014/main" val="2703729391"/>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7</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文部科学省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dirty="0">
                          <a:solidFill>
                            <a:srgbClr val="000000"/>
                          </a:solidFill>
                          <a:effectLst/>
                          <a:latin typeface="メイリオ" panose="020B0604030504040204" pitchFamily="34" charset="-128"/>
                          <a:ea typeface="メイリオ" panose="020B0604030504040204" pitchFamily="34" charset="-128"/>
                        </a:rPr>
                        <a:t>chatgpt.com:36.57%, perplexity.ai:6.46%, gemini.google.com:4.00%, bunka.go.jp:3.64%, letus.ed.tus.ac.jp:2.78%</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:51.38%,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:35.01%,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:11.10%,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:1.34%,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:0.92%,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:0.25%</a:t>
                      </a:r>
                    </a:p>
                  </a:txBody>
                  <a:tcPr marL="6311" marR="6311" marT="6311" marB="0" anchor="ctr">
                    <a:lnL>
                      <a:noFill/>
                    </a:lnL>
                    <a:lnR>
                      <a:noFill/>
                    </a:lnR>
                    <a:lnT>
                      <a:noFill/>
                    </a:lnT>
                    <a:lnB>
                      <a:noFill/>
                    </a:lnB>
                    <a:noFill/>
                  </a:tcPr>
                </a:tc>
                <a:extLst>
                  <a:ext uri="{0D108BD9-81ED-4DB2-BD59-A6C34878D82A}">
                    <a16:rowId xmlns:a16="http://schemas.microsoft.com/office/drawing/2014/main" val="3105628877"/>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8</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環境省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mlit.go.jp:30.38%, chatgpt.com:20.44%, google.com:11.40%</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:55.70%,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:23.58%,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:16.60%,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:1.46%,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:1.26%,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:1.40%</a:t>
                      </a:r>
                    </a:p>
                  </a:txBody>
                  <a:tcPr marL="6311" marR="6311" marT="6311" marB="0" anchor="ctr">
                    <a:lnL>
                      <a:noFill/>
                    </a:lnL>
                    <a:lnR>
                      <a:noFill/>
                    </a:lnR>
                    <a:lnT>
                      <a:noFill/>
                    </a:lnT>
                    <a:lnB>
                      <a:noFill/>
                    </a:lnB>
                    <a:noFill/>
                  </a:tcPr>
                </a:tc>
                <a:extLst>
                  <a:ext uri="{0D108BD9-81ED-4DB2-BD59-A6C34878D82A}">
                    <a16:rowId xmlns:a16="http://schemas.microsoft.com/office/drawing/2014/main" val="1429027046"/>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9</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外務省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chatgpt.com:26.62%, ja.wikipedia.org:7.64%, myna.go.jp:5.50%, jp.usembassy.gov:3.82%, kantei.go.jp:3.11%</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:53.87%,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:23.36%,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:8.42%,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:4.03%,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:3.48%,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:6.85%</a:t>
                      </a:r>
                    </a:p>
                  </a:txBody>
                  <a:tcPr marL="6311" marR="6311" marT="6311" marB="0" anchor="ctr">
                    <a:lnL>
                      <a:noFill/>
                    </a:lnL>
                    <a:lnR>
                      <a:noFill/>
                    </a:lnR>
                    <a:lnT>
                      <a:noFill/>
                    </a:lnT>
                    <a:lnB>
                      <a:noFill/>
                    </a:lnB>
                    <a:noFill/>
                  </a:tcPr>
                </a:tc>
                <a:extLst>
                  <a:ext uri="{0D108BD9-81ED-4DB2-BD59-A6C34878D82A}">
                    <a16:rowId xmlns:a16="http://schemas.microsoft.com/office/drawing/2014/main" val="2665419313"/>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10</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農林水産省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chatgpt.com:31.43%, yaginuma.jp:7.30%, togetter.com:5.76%, google.com:5.25%, be-farmer.jp:4.22%</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:46.27%,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:39.31%,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:8.62%,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:3.65%,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:1.40%,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:0.76%</a:t>
                      </a:r>
                    </a:p>
                  </a:txBody>
                  <a:tcPr marL="6311" marR="6311" marT="6311" marB="0" anchor="ctr">
                    <a:lnL>
                      <a:noFill/>
                    </a:lnL>
                    <a:lnR>
                      <a:noFill/>
                    </a:lnR>
                    <a:lnT>
                      <a:noFill/>
                    </a:lnT>
                    <a:lnB>
                      <a:noFill/>
                    </a:lnB>
                    <a:noFill/>
                  </a:tcPr>
                </a:tc>
                <a:extLst>
                  <a:ext uri="{0D108BD9-81ED-4DB2-BD59-A6C34878D82A}">
                    <a16:rowId xmlns:a16="http://schemas.microsoft.com/office/drawing/2014/main" val="2946435646"/>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11</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防衛省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rikuzi-chousadan.com:26.82%, google.com:18.29%, ja.wikipedia.org:9.53%, chatgpt.com:9.41%, google.co.jp:6.42%</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:82.61%,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:10.46%,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:2.41%,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:1.34%,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:0.99%,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:2.20%</a:t>
                      </a:r>
                    </a:p>
                  </a:txBody>
                  <a:tcPr marL="6311" marR="6311" marT="6311" marB="0" anchor="ctr">
                    <a:lnL>
                      <a:noFill/>
                    </a:lnL>
                    <a:lnR>
                      <a:noFill/>
                    </a:lnR>
                    <a:lnT>
                      <a:noFill/>
                    </a:lnT>
                    <a:lnB>
                      <a:noFill/>
                    </a:lnB>
                    <a:noFill/>
                  </a:tcPr>
                </a:tc>
                <a:extLst>
                  <a:ext uri="{0D108BD9-81ED-4DB2-BD59-A6C34878D82A}">
                    <a16:rowId xmlns:a16="http://schemas.microsoft.com/office/drawing/2014/main" val="2513294783"/>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12</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総務省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forms.office.com:6.65%, chatgpt.com:6.62%, perplexity.ai:5.91%, gemini.google.com:5.55%, ja.wikipedia.org:4.66%</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:73.62%,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:19.18%,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:6.62%,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:0.58%,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:0.00%,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:0.00%</a:t>
                      </a:r>
                    </a:p>
                  </a:txBody>
                  <a:tcPr marL="6311" marR="6311" marT="6311" marB="0" anchor="ctr">
                    <a:lnL>
                      <a:noFill/>
                    </a:lnL>
                    <a:lnR>
                      <a:noFill/>
                    </a:lnR>
                    <a:lnT>
                      <a:noFill/>
                    </a:lnT>
                    <a:lnB>
                      <a:noFill/>
                    </a:lnB>
                    <a:noFill/>
                  </a:tcPr>
                </a:tc>
                <a:extLst>
                  <a:ext uri="{0D108BD9-81ED-4DB2-BD59-A6C34878D82A}">
                    <a16:rowId xmlns:a16="http://schemas.microsoft.com/office/drawing/2014/main" val="2664186006"/>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13</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財務省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chatgpt.com:40.68%, e-survey.go.jp:11.45%, fsa.go.jp:6.47%, nta.go.jp:5.23%, mint.go.jp:3.98%</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:84.64%,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:7.89%,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:3.77%,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リファラル</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:3.05%,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ディスプレイ広告</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:0.65%,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ソーシャルメディア</a:t>
                      </a: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:0.00%</a:t>
                      </a:r>
                    </a:p>
                  </a:txBody>
                  <a:tcPr marL="6311" marR="6311" marT="6311" marB="0" anchor="ctr">
                    <a:lnL>
                      <a:noFill/>
                    </a:lnL>
                    <a:lnR>
                      <a:noFill/>
                    </a:lnR>
                    <a:lnT>
                      <a:noFill/>
                    </a:lnT>
                    <a:lnB>
                      <a:noFill/>
                    </a:lnB>
                    <a:noFill/>
                  </a:tcPr>
                </a:tc>
                <a:extLst>
                  <a:ext uri="{0D108BD9-81ED-4DB2-BD59-A6C34878D82A}">
                    <a16:rowId xmlns:a16="http://schemas.microsoft.com/office/drawing/2014/main" val="360446610"/>
                  </a:ext>
                </a:extLst>
              </a:tr>
              <a:tr h="235607">
                <a:tc>
                  <a:txBody>
                    <a:bodyPr/>
                    <a:lstStyle/>
                    <a:p>
                      <a:pPr algn="ctr" fontAlgn="ctr">
                        <a:buNone/>
                      </a:pPr>
                      <a:r>
                        <a:rPr lang="en-US" altLang="ja-JP" sz="700" b="0" i="0" u="none" strike="noStrike">
                          <a:solidFill>
                            <a:srgbClr val="000000"/>
                          </a:solidFill>
                          <a:effectLst/>
                          <a:latin typeface="メイリオ" panose="020B0604030504040204" pitchFamily="34" charset="-128"/>
                          <a:ea typeface="メイリオ" panose="020B0604030504040204" pitchFamily="34" charset="-128"/>
                        </a:rPr>
                        <a:t>14</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復興庁</a:t>
                      </a:r>
                    </a:p>
                  </a:txBody>
                  <a:tcPr marL="6311" marR="6311" marT="6311"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l" fontAlgn="ctr">
                        <a:buNone/>
                      </a:pPr>
                      <a:r>
                        <a:rPr lang="en" sz="700" b="0" i="0" u="none" strike="noStrike">
                          <a:solidFill>
                            <a:srgbClr val="000000"/>
                          </a:solidFill>
                          <a:effectLst/>
                          <a:latin typeface="メイリオ" panose="020B0604030504040204" pitchFamily="34" charset="-128"/>
                          <a:ea typeface="メイリオ" panose="020B0604030504040204" pitchFamily="34" charset="-128"/>
                        </a:rPr>
                        <a:t>chatgpt.com:57.88%, gov-online.go.jp:9.65%, saison.kantangame.com:9.65%, bunshun.jp:9.65%, perplexity.ai:9.65%</a:t>
                      </a:r>
                    </a:p>
                  </a:txBody>
                  <a:tcPr marL="6311" marR="6311" marT="6311" marB="0" anchor="ctr">
                    <a:lnL w="6350" cap="flat" cmpd="sng" algn="ctr">
                      <a:solidFill>
                        <a:srgbClr val="D9D9D9"/>
                      </a:solidFill>
                      <a:prstDash val="solid"/>
                      <a:round/>
                      <a:headEnd type="none" w="med" len="med"/>
                      <a:tailEnd type="none" w="med" len="med"/>
                    </a:lnL>
                    <a:lnR>
                      <a:noFill/>
                    </a:lnR>
                    <a:lnT>
                      <a:noFill/>
                    </a:lnT>
                    <a:lnB>
                      <a:noFill/>
                    </a:lnB>
                    <a:noFill/>
                  </a:tcPr>
                </a:tc>
                <a:tc>
                  <a:txBody>
                    <a:bodyPr/>
                    <a:lstStyle/>
                    <a:p>
                      <a:pPr algn="l" fontAlgn="ctr">
                        <a:buNone/>
                      </a:pP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ダイレクト</a:t>
                      </a:r>
                      <a:r>
                        <a:rPr lang="en-US" altLang="ja-JP" sz="700" b="0" i="0" u="none" strike="noStrike" dirty="0">
                          <a:solidFill>
                            <a:srgbClr val="000000"/>
                          </a:solidFill>
                          <a:effectLst/>
                          <a:latin typeface="メイリオ" panose="020B0604030504040204" pitchFamily="34" charset="-128"/>
                          <a:ea typeface="メイリオ" panose="020B0604030504040204" pitchFamily="34" charset="-128"/>
                        </a:rPr>
                        <a:t>:74.79%,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オーガニック</a:t>
                      </a:r>
                      <a:r>
                        <a:rPr lang="en-US" altLang="ja-JP" sz="700" b="0" i="0" u="none" strike="noStrike" dirty="0">
                          <a:solidFill>
                            <a:srgbClr val="000000"/>
                          </a:solidFill>
                          <a:effectLst/>
                          <a:latin typeface="メイリオ" panose="020B0604030504040204" pitchFamily="34" charset="-128"/>
                          <a:ea typeface="メイリオ" panose="020B0604030504040204" pitchFamily="34" charset="-128"/>
                        </a:rPr>
                        <a:t>:25.21%, </a:t>
                      </a:r>
                      <a:r>
                        <a:rPr lang="ja-JP" altLang="en-US" sz="700" b="0" i="0" u="none" strike="noStrike">
                          <a:solidFill>
                            <a:srgbClr val="000000"/>
                          </a:solidFill>
                          <a:effectLst/>
                          <a:latin typeface="メイリオ" panose="020B0604030504040204" pitchFamily="34" charset="-128"/>
                          <a:ea typeface="メイリオ" panose="020B0604030504040204" pitchFamily="34" charset="-128"/>
                        </a:rPr>
                        <a:t>有料</a:t>
                      </a:r>
                      <a:r>
                        <a:rPr lang="en-US" altLang="ja-JP" sz="700" b="0" i="0" u="none" strike="noStrike" dirty="0">
                          <a:solidFill>
                            <a:srgbClr val="000000"/>
                          </a:solidFill>
                          <a:effectLst/>
                          <a:latin typeface="メイリオ" panose="020B0604030504040204" pitchFamily="34" charset="-128"/>
                          <a:ea typeface="メイリオ" panose="020B0604030504040204" pitchFamily="34" charset="-128"/>
                        </a:rPr>
                        <a:t>:0.00%</a:t>
                      </a:r>
                    </a:p>
                  </a:txBody>
                  <a:tcPr marL="6311" marR="6311" marT="6311" marB="0" anchor="ctr">
                    <a:lnL>
                      <a:noFill/>
                    </a:lnL>
                    <a:lnR>
                      <a:noFill/>
                    </a:lnR>
                    <a:lnT>
                      <a:noFill/>
                    </a:lnT>
                    <a:lnB>
                      <a:noFill/>
                    </a:lnB>
                    <a:noFill/>
                  </a:tcPr>
                </a:tc>
                <a:extLst>
                  <a:ext uri="{0D108BD9-81ED-4DB2-BD59-A6C34878D82A}">
                    <a16:rowId xmlns:a16="http://schemas.microsoft.com/office/drawing/2014/main" val="960321623"/>
                  </a:ext>
                </a:extLst>
              </a:tr>
            </a:tbl>
          </a:graphicData>
        </a:graphic>
      </p:graphicFrame>
    </p:spTree>
    <p:extLst>
      <p:ext uri="{BB962C8B-B14F-4D97-AF65-F5344CB8AC3E}">
        <p14:creationId xmlns:p14="http://schemas.microsoft.com/office/powerpoint/2010/main" val="838949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7" name="図 6">
            <a:extLst>
              <a:ext uri="{FF2B5EF4-FFF2-40B4-BE49-F238E27FC236}">
                <a16:creationId xmlns:a16="http://schemas.microsoft.com/office/drawing/2014/main" id="{AA857AF3-A844-D73B-956E-54F7926ACBDF}"/>
              </a:ext>
            </a:extLst>
          </p:cNvPr>
          <p:cNvPicPr>
            <a:picLocks noChangeAspect="1"/>
          </p:cNvPicPr>
          <p:nvPr/>
        </p:nvPicPr>
        <p:blipFill>
          <a:blip r:embed="rId3"/>
          <a:stretch>
            <a:fillRect/>
          </a:stretch>
        </p:blipFill>
        <p:spPr>
          <a:xfrm>
            <a:off x="2160564" y="714078"/>
            <a:ext cx="6760323" cy="4126875"/>
          </a:xfrm>
          <a:prstGeom prst="rect">
            <a:avLst/>
          </a:prstGeom>
        </p:spPr>
      </p:pic>
      <p:sp>
        <p:nvSpPr>
          <p:cNvPr id="31" name="Google Shape;13;p2">
            <a:extLst>
              <a:ext uri="{FF2B5EF4-FFF2-40B4-BE49-F238E27FC236}">
                <a16:creationId xmlns:a16="http://schemas.microsoft.com/office/drawing/2014/main" id="{086DD73C-A064-4F45-A1B6-BBF968B23CFD}"/>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12</a:t>
            </a:fld>
            <a:endParaRPr lang="ja" altLang="en-US">
              <a:solidFill>
                <a:srgbClr val="4E5F7A"/>
              </a:solidFill>
            </a:endParaRPr>
          </a:p>
        </p:txBody>
      </p:sp>
      <p:sp>
        <p:nvSpPr>
          <p:cNvPr id="13" name="Google Shape;125;p15">
            <a:extLst>
              <a:ext uri="{FF2B5EF4-FFF2-40B4-BE49-F238E27FC236}">
                <a16:creationId xmlns:a16="http://schemas.microsoft.com/office/drawing/2014/main" id="{657C1E6B-E921-DF42-964C-4E1548930B09}"/>
              </a:ext>
            </a:extLst>
          </p:cNvPr>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r>
              <a:rPr lang="ja-JP" altLang="en-US"/>
              <a:t>サイト全体の</a:t>
            </a:r>
            <a:r>
              <a:rPr lang="en-US" altLang="ja-JP"/>
              <a:t>PV</a:t>
            </a:r>
            <a:r>
              <a:rPr lang="ja-JP" altLang="en-US"/>
              <a:t>数</a:t>
            </a:r>
            <a:r>
              <a:rPr lang="en-US" altLang="ja-JP"/>
              <a:t> Top50</a:t>
            </a:r>
            <a:endParaRPr/>
          </a:p>
        </p:txBody>
      </p:sp>
      <p:sp>
        <p:nvSpPr>
          <p:cNvPr id="20" name="Google Shape;116;p14">
            <a:extLst>
              <a:ext uri="{FF2B5EF4-FFF2-40B4-BE49-F238E27FC236}">
                <a16:creationId xmlns:a16="http://schemas.microsoft.com/office/drawing/2014/main" id="{171FCB69-6BE7-4C3C-0E82-93D367649D1C}"/>
              </a:ext>
            </a:extLst>
          </p:cNvPr>
          <p:cNvSpPr/>
          <p:nvPr/>
        </p:nvSpPr>
        <p:spPr>
          <a:xfrm>
            <a:off x="2221295" y="2716605"/>
            <a:ext cx="3303269" cy="156598"/>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cxnSp>
        <p:nvCxnSpPr>
          <p:cNvPr id="24" name="直線矢印コネクタ 23">
            <a:extLst>
              <a:ext uri="{FF2B5EF4-FFF2-40B4-BE49-F238E27FC236}">
                <a16:creationId xmlns:a16="http://schemas.microsoft.com/office/drawing/2014/main" id="{341D7C1C-0548-56D3-CE85-39A9021BB97C}"/>
              </a:ext>
            </a:extLst>
          </p:cNvPr>
          <p:cNvCxnSpPr>
            <a:cxnSpLocks/>
            <a:stCxn id="30" idx="3"/>
            <a:endCxn id="20" idx="1"/>
          </p:cNvCxnSpPr>
          <p:nvPr/>
        </p:nvCxnSpPr>
        <p:spPr>
          <a:xfrm>
            <a:off x="1962070" y="2655798"/>
            <a:ext cx="259225" cy="1391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Google Shape;119;p14">
            <a:extLst>
              <a:ext uri="{FF2B5EF4-FFF2-40B4-BE49-F238E27FC236}">
                <a16:creationId xmlns:a16="http://schemas.microsoft.com/office/drawing/2014/main" id="{6B4113D8-E0C3-8A70-B345-FA26CF0455EE}"/>
              </a:ext>
            </a:extLst>
          </p:cNvPr>
          <p:cNvSpPr txBox="1"/>
          <p:nvPr/>
        </p:nvSpPr>
        <p:spPr>
          <a:xfrm>
            <a:off x="223110" y="3052692"/>
            <a:ext cx="1738959" cy="403957"/>
          </a:xfrm>
          <a:prstGeom prst="rect">
            <a:avLst/>
          </a:prstGeom>
          <a:solidFill>
            <a:schemeClr val="bg1">
              <a:alpha val="72155"/>
            </a:schemeClr>
          </a:solid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nSpc>
                <a:spcPct val="125000"/>
              </a:lnSpc>
            </a:pPr>
            <a:r>
              <a:rPr lang="ja-JP" altLang="en-US" sz="700">
                <a:solidFill>
                  <a:srgbClr val="FF0000"/>
                </a:solidFill>
                <a:latin typeface="Meiryo UI"/>
                <a:ea typeface="Meiryo UI"/>
              </a:rPr>
              <a:t>大臣の発言、報道の影響により戦略三文書への注目が高まった。注目のキーワードへの追加を検討してもよさそう</a:t>
            </a:r>
            <a:endParaRPr lang="ja-JP" altLang="en-US" sz="700">
              <a:solidFill>
                <a:srgbClr val="FF0000"/>
              </a:solidFill>
              <a:latin typeface="Meiryo UI" panose="020B0604030504040204" pitchFamily="34" charset="-128"/>
              <a:ea typeface="Meiryo UI" panose="020B0604030504040204" pitchFamily="34" charset="-128"/>
            </a:endParaRPr>
          </a:p>
        </p:txBody>
      </p:sp>
      <p:cxnSp>
        <p:nvCxnSpPr>
          <p:cNvPr id="6" name="直線矢印コネクタ 5">
            <a:extLst>
              <a:ext uri="{FF2B5EF4-FFF2-40B4-BE49-F238E27FC236}">
                <a16:creationId xmlns:a16="http://schemas.microsoft.com/office/drawing/2014/main" id="{399B27A2-8A58-7D64-C9F9-BDFBF822FF19}"/>
              </a:ext>
            </a:extLst>
          </p:cNvPr>
          <p:cNvCxnSpPr>
            <a:cxnSpLocks/>
            <a:stCxn id="5" idx="3"/>
            <a:endCxn id="10" idx="1"/>
          </p:cNvCxnSpPr>
          <p:nvPr/>
        </p:nvCxnSpPr>
        <p:spPr>
          <a:xfrm>
            <a:off x="1962069" y="3254671"/>
            <a:ext cx="26610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Google Shape;116;p14">
            <a:extLst>
              <a:ext uri="{FF2B5EF4-FFF2-40B4-BE49-F238E27FC236}">
                <a16:creationId xmlns:a16="http://schemas.microsoft.com/office/drawing/2014/main" id="{278CE8B3-71D7-499A-CE20-B67F65680B29}"/>
              </a:ext>
            </a:extLst>
          </p:cNvPr>
          <p:cNvSpPr/>
          <p:nvPr/>
        </p:nvSpPr>
        <p:spPr>
          <a:xfrm>
            <a:off x="2228171" y="3176372"/>
            <a:ext cx="3287171" cy="156598"/>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17" name="Google Shape;119;p14">
            <a:extLst>
              <a:ext uri="{FF2B5EF4-FFF2-40B4-BE49-F238E27FC236}">
                <a16:creationId xmlns:a16="http://schemas.microsoft.com/office/drawing/2014/main" id="{BF2E6BD0-84AE-CFA7-BCF7-BAA6E6C82FED}"/>
              </a:ext>
            </a:extLst>
          </p:cNvPr>
          <p:cNvSpPr txBox="1"/>
          <p:nvPr/>
        </p:nvSpPr>
        <p:spPr>
          <a:xfrm>
            <a:off x="212500" y="1887290"/>
            <a:ext cx="1738959" cy="269304"/>
          </a:xfrm>
          <a:prstGeom prst="rect">
            <a:avLst/>
          </a:prstGeom>
          <a:solidFill>
            <a:schemeClr val="bg1">
              <a:alpha val="72155"/>
            </a:schemeClr>
          </a:solid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nSpc>
                <a:spcPct val="125000"/>
              </a:lnSpc>
            </a:pPr>
            <a:r>
              <a:rPr lang="ja-JP" altLang="en-US" sz="700">
                <a:solidFill>
                  <a:srgbClr val="FF0000"/>
                </a:solidFill>
                <a:latin typeface="Meiryo UI" panose="020B0604030504040204" pitchFamily="34" charset="-128"/>
                <a:ea typeface="Meiryo UI" panose="020B0604030504040204" pitchFamily="34" charset="-128"/>
              </a:rPr>
              <a:t>政務交代に伴い、動静ページの</a:t>
            </a:r>
            <a:r>
              <a:rPr lang="en-US" altLang="ja-JP" sz="700">
                <a:solidFill>
                  <a:srgbClr val="FF0000"/>
                </a:solidFill>
                <a:latin typeface="Meiryo UI" panose="020B0604030504040204" pitchFamily="34" charset="-128"/>
                <a:ea typeface="Meiryo UI" panose="020B0604030504040204" pitchFamily="34" charset="-128"/>
              </a:rPr>
              <a:t>PV</a:t>
            </a:r>
            <a:r>
              <a:rPr lang="ja-JP" altLang="en-US" sz="700">
                <a:solidFill>
                  <a:srgbClr val="FF0000"/>
                </a:solidFill>
                <a:latin typeface="Meiryo UI" panose="020B0604030504040204" pitchFamily="34" charset="-128"/>
                <a:ea typeface="Meiryo UI" panose="020B0604030504040204" pitchFamily="34" charset="-128"/>
              </a:rPr>
              <a:t>数が大幅に増加している</a:t>
            </a:r>
          </a:p>
        </p:txBody>
      </p:sp>
      <p:sp>
        <p:nvSpPr>
          <p:cNvPr id="30" name="Google Shape;119;p14">
            <a:extLst>
              <a:ext uri="{FF2B5EF4-FFF2-40B4-BE49-F238E27FC236}">
                <a16:creationId xmlns:a16="http://schemas.microsoft.com/office/drawing/2014/main" id="{DBFF2303-358F-1D3F-EF19-BC2170FDC96F}"/>
              </a:ext>
            </a:extLst>
          </p:cNvPr>
          <p:cNvSpPr txBox="1"/>
          <p:nvPr/>
        </p:nvSpPr>
        <p:spPr>
          <a:xfrm>
            <a:off x="223111" y="2521146"/>
            <a:ext cx="1738959" cy="269304"/>
          </a:xfrm>
          <a:prstGeom prst="rect">
            <a:avLst/>
          </a:prstGeom>
          <a:solidFill>
            <a:schemeClr val="bg1">
              <a:alpha val="72155"/>
            </a:schemeClr>
          </a:solid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nSpc>
                <a:spcPct val="125000"/>
              </a:lnSpc>
            </a:pPr>
            <a:r>
              <a:rPr lang="ja-JP" altLang="en-US" sz="700">
                <a:solidFill>
                  <a:srgbClr val="FF0000"/>
                </a:solidFill>
                <a:latin typeface="Meiryo UI" panose="020B0604030504040204" pitchFamily="34" charset="-128"/>
                <a:ea typeface="Meiryo UI" panose="020B0604030504040204" pitchFamily="34" charset="-128"/>
              </a:rPr>
              <a:t>陸幕、東部方面隊から依頼された内部アンケートが上位に</a:t>
            </a:r>
          </a:p>
        </p:txBody>
      </p:sp>
      <p:sp>
        <p:nvSpPr>
          <p:cNvPr id="2" name="Google Shape;116;p14">
            <a:extLst>
              <a:ext uri="{FF2B5EF4-FFF2-40B4-BE49-F238E27FC236}">
                <a16:creationId xmlns:a16="http://schemas.microsoft.com/office/drawing/2014/main" id="{F602E8E0-43D3-7B57-0A13-D70C76E4D676}"/>
              </a:ext>
            </a:extLst>
          </p:cNvPr>
          <p:cNvSpPr/>
          <p:nvPr/>
        </p:nvSpPr>
        <p:spPr>
          <a:xfrm>
            <a:off x="2228171" y="1320264"/>
            <a:ext cx="3303269" cy="156598"/>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cxnSp>
        <p:nvCxnSpPr>
          <p:cNvPr id="8" name="直線矢印コネクタ 7">
            <a:extLst>
              <a:ext uri="{FF2B5EF4-FFF2-40B4-BE49-F238E27FC236}">
                <a16:creationId xmlns:a16="http://schemas.microsoft.com/office/drawing/2014/main" id="{98AF4F94-52E7-EC8E-F2F0-7910D1DD3EBC}"/>
              </a:ext>
            </a:extLst>
          </p:cNvPr>
          <p:cNvCxnSpPr>
            <a:cxnSpLocks/>
            <a:stCxn id="9" idx="3"/>
            <a:endCxn id="2" idx="1"/>
          </p:cNvCxnSpPr>
          <p:nvPr/>
        </p:nvCxnSpPr>
        <p:spPr>
          <a:xfrm>
            <a:off x="1967557" y="1398563"/>
            <a:ext cx="260614"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Google Shape;119;p14">
            <a:extLst>
              <a:ext uri="{FF2B5EF4-FFF2-40B4-BE49-F238E27FC236}">
                <a16:creationId xmlns:a16="http://schemas.microsoft.com/office/drawing/2014/main" id="{F3D2B9EF-9EC5-2935-8C4A-2D1823CF2A8D}"/>
              </a:ext>
            </a:extLst>
          </p:cNvPr>
          <p:cNvSpPr txBox="1"/>
          <p:nvPr/>
        </p:nvSpPr>
        <p:spPr>
          <a:xfrm>
            <a:off x="228598" y="1263911"/>
            <a:ext cx="1738959" cy="269304"/>
          </a:xfrm>
          <a:prstGeom prst="rect">
            <a:avLst/>
          </a:prstGeom>
          <a:solidFill>
            <a:schemeClr val="bg1">
              <a:alpha val="72155"/>
            </a:schemeClr>
          </a:solid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nSpc>
                <a:spcPct val="125000"/>
              </a:lnSpc>
            </a:pPr>
            <a:r>
              <a:rPr lang="ja-JP" altLang="en-US" sz="700">
                <a:solidFill>
                  <a:srgbClr val="FF0000"/>
                </a:solidFill>
                <a:latin typeface="Meiryo UI"/>
                <a:ea typeface="Meiryo UI"/>
              </a:rPr>
              <a:t>総理の国連総会、韓国訪問のトピックに関連して閲覧数が伸びたものと推測される</a:t>
            </a:r>
            <a:endParaRPr lang="ja-JP" altLang="en-US" sz="700">
              <a:solidFill>
                <a:srgbClr val="FF0000"/>
              </a:solidFill>
              <a:latin typeface="Meiryo UI" panose="020B0604030504040204" pitchFamily="34" charset="-128"/>
              <a:ea typeface="Meiryo UI" panose="020B0604030504040204" pitchFamily="34" charset="-128"/>
            </a:endParaRPr>
          </a:p>
        </p:txBody>
      </p:sp>
      <p:sp>
        <p:nvSpPr>
          <p:cNvPr id="16" name="Google Shape;116;p14">
            <a:extLst>
              <a:ext uri="{FF2B5EF4-FFF2-40B4-BE49-F238E27FC236}">
                <a16:creationId xmlns:a16="http://schemas.microsoft.com/office/drawing/2014/main" id="{83ACA174-E00C-C1E7-7A6A-5BE8B47278D4}"/>
              </a:ext>
            </a:extLst>
          </p:cNvPr>
          <p:cNvSpPr/>
          <p:nvPr/>
        </p:nvSpPr>
        <p:spPr>
          <a:xfrm>
            <a:off x="2228171" y="1943643"/>
            <a:ext cx="3287171" cy="156598"/>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cxnSp>
        <p:nvCxnSpPr>
          <p:cNvPr id="27" name="直線矢印コネクタ 26">
            <a:extLst>
              <a:ext uri="{FF2B5EF4-FFF2-40B4-BE49-F238E27FC236}">
                <a16:creationId xmlns:a16="http://schemas.microsoft.com/office/drawing/2014/main" id="{3A459848-D411-BC12-7F44-8ECC8DA5E6BE}"/>
              </a:ext>
            </a:extLst>
          </p:cNvPr>
          <p:cNvCxnSpPr>
            <a:cxnSpLocks/>
            <a:stCxn id="17" idx="3"/>
            <a:endCxn id="16" idx="1"/>
          </p:cNvCxnSpPr>
          <p:nvPr/>
        </p:nvCxnSpPr>
        <p:spPr>
          <a:xfrm>
            <a:off x="1951459" y="2021942"/>
            <a:ext cx="27671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Google Shape;116;p14">
            <a:extLst>
              <a:ext uri="{FF2B5EF4-FFF2-40B4-BE49-F238E27FC236}">
                <a16:creationId xmlns:a16="http://schemas.microsoft.com/office/drawing/2014/main" id="{9F4306AD-7433-BA22-7D93-B8B196F694D9}"/>
              </a:ext>
            </a:extLst>
          </p:cNvPr>
          <p:cNvSpPr/>
          <p:nvPr/>
        </p:nvSpPr>
        <p:spPr>
          <a:xfrm>
            <a:off x="2221295" y="2414382"/>
            <a:ext cx="3303269" cy="156598"/>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cxnSp>
        <p:nvCxnSpPr>
          <p:cNvPr id="22" name="直線矢印コネクタ 21">
            <a:extLst>
              <a:ext uri="{FF2B5EF4-FFF2-40B4-BE49-F238E27FC236}">
                <a16:creationId xmlns:a16="http://schemas.microsoft.com/office/drawing/2014/main" id="{B063D2A9-C5EE-F798-80BA-485EE6BA0625}"/>
              </a:ext>
            </a:extLst>
          </p:cNvPr>
          <p:cNvCxnSpPr>
            <a:cxnSpLocks/>
            <a:stCxn id="30" idx="3"/>
            <a:endCxn id="12" idx="1"/>
          </p:cNvCxnSpPr>
          <p:nvPr/>
        </p:nvCxnSpPr>
        <p:spPr>
          <a:xfrm flipV="1">
            <a:off x="1962070" y="2492681"/>
            <a:ext cx="259225" cy="1631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Google Shape;116;p14">
            <a:extLst>
              <a:ext uri="{FF2B5EF4-FFF2-40B4-BE49-F238E27FC236}">
                <a16:creationId xmlns:a16="http://schemas.microsoft.com/office/drawing/2014/main" id="{B8D795C3-F003-B334-5C9E-D630310FCDB8}"/>
              </a:ext>
            </a:extLst>
          </p:cNvPr>
          <p:cNvSpPr/>
          <p:nvPr/>
        </p:nvSpPr>
        <p:spPr>
          <a:xfrm>
            <a:off x="5582949" y="1796291"/>
            <a:ext cx="3287171" cy="156598"/>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33" name="Google Shape;119;p14">
            <a:extLst>
              <a:ext uri="{FF2B5EF4-FFF2-40B4-BE49-F238E27FC236}">
                <a16:creationId xmlns:a16="http://schemas.microsoft.com/office/drawing/2014/main" id="{3CDEFA62-F3C1-A722-5FB5-368AAFCC7704}"/>
              </a:ext>
            </a:extLst>
          </p:cNvPr>
          <p:cNvSpPr txBox="1"/>
          <p:nvPr/>
        </p:nvSpPr>
        <p:spPr>
          <a:xfrm>
            <a:off x="223110" y="1575577"/>
            <a:ext cx="1738959" cy="269304"/>
          </a:xfrm>
          <a:prstGeom prst="rect">
            <a:avLst/>
          </a:prstGeom>
          <a:solidFill>
            <a:schemeClr val="bg1">
              <a:alpha val="72155"/>
            </a:schemeClr>
          </a:solid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nSpc>
                <a:spcPct val="125000"/>
              </a:lnSpc>
            </a:pPr>
            <a:r>
              <a:rPr lang="ja-JP" altLang="en-US" sz="700">
                <a:solidFill>
                  <a:srgbClr val="FF0000"/>
                </a:solidFill>
                <a:latin typeface="Meiryo UI" panose="020B0604030504040204" pitchFamily="34" charset="-128"/>
                <a:ea typeface="Meiryo UI" panose="020B0604030504040204" pitchFamily="34" charset="-128"/>
              </a:rPr>
              <a:t>トップページの掲出期間は短かったが、着任訓示が１万</a:t>
            </a:r>
            <a:r>
              <a:rPr lang="en-US" altLang="ja-JP" sz="700">
                <a:solidFill>
                  <a:srgbClr val="FF0000"/>
                </a:solidFill>
                <a:latin typeface="Meiryo UI" panose="020B0604030504040204" pitchFamily="34" charset="-128"/>
                <a:ea typeface="Meiryo UI" panose="020B0604030504040204" pitchFamily="34" charset="-128"/>
              </a:rPr>
              <a:t>PV</a:t>
            </a:r>
            <a:r>
              <a:rPr lang="ja-JP" altLang="en-US" sz="700">
                <a:solidFill>
                  <a:srgbClr val="FF0000"/>
                </a:solidFill>
                <a:latin typeface="Meiryo UI" panose="020B0604030504040204" pitchFamily="34" charset="-128"/>
                <a:ea typeface="Meiryo UI" panose="020B0604030504040204" pitchFamily="34" charset="-128"/>
              </a:rPr>
              <a:t>以上を獲得している</a:t>
            </a:r>
          </a:p>
        </p:txBody>
      </p:sp>
    </p:spTree>
    <p:extLst>
      <p:ext uri="{BB962C8B-B14F-4D97-AF65-F5344CB8AC3E}">
        <p14:creationId xmlns:p14="http://schemas.microsoft.com/office/powerpoint/2010/main" val="426967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5" name="図 4">
            <a:extLst>
              <a:ext uri="{FF2B5EF4-FFF2-40B4-BE49-F238E27FC236}">
                <a16:creationId xmlns:a16="http://schemas.microsoft.com/office/drawing/2014/main" id="{34F6336E-0FEC-A543-EFFB-B0989D3E50EC}"/>
              </a:ext>
            </a:extLst>
          </p:cNvPr>
          <p:cNvPicPr>
            <a:picLocks noChangeAspect="1"/>
          </p:cNvPicPr>
          <p:nvPr/>
        </p:nvPicPr>
        <p:blipFill>
          <a:blip r:embed="rId3"/>
          <a:stretch>
            <a:fillRect/>
          </a:stretch>
        </p:blipFill>
        <p:spPr>
          <a:xfrm>
            <a:off x="685800" y="801022"/>
            <a:ext cx="7772400" cy="3541456"/>
          </a:xfrm>
          <a:prstGeom prst="rect">
            <a:avLst/>
          </a:prstGeom>
        </p:spPr>
      </p:pic>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13</a:t>
            </a:fld>
            <a:endParaRPr lang="ja" altLang="en-US">
              <a:solidFill>
                <a:srgbClr val="4E5F7A"/>
              </a:solidFill>
            </a:endParaRPr>
          </a:p>
        </p:txBody>
      </p:sp>
      <p:sp>
        <p:nvSpPr>
          <p:cNvPr id="46" name="Google Shape;125;p15">
            <a:extLst>
              <a:ext uri="{FF2B5EF4-FFF2-40B4-BE49-F238E27FC236}">
                <a16:creationId xmlns:a16="http://schemas.microsoft.com/office/drawing/2014/main" id="{F27B935F-4399-9A41-A2D7-F99A2D57875E}"/>
              </a:ext>
            </a:extLst>
          </p:cNvPr>
          <p:cNvSpPr txBox="1">
            <a:spLocks noGrp="1"/>
          </p:cNvSpPr>
          <p:nvPr>
            <p:ph type="title"/>
          </p:nvPr>
        </p:nvSpPr>
        <p:spPr>
          <a:prstGeom prst="rect">
            <a:avLst/>
          </a:prstGeom>
        </p:spPr>
        <p:txBody>
          <a:bodyPr spcFirstLastPara="1" wrap="square" lIns="0" tIns="0" rIns="0" bIns="0" anchor="ctr" anchorCtr="0">
            <a:noAutofit/>
          </a:bodyPr>
          <a:lstStyle/>
          <a:p>
            <a:pPr lvl="0"/>
            <a:r>
              <a:rPr lang="ja-JP" altLang="en-US"/>
              <a:t>第２階層</a:t>
            </a:r>
            <a:r>
              <a:rPr lang="en-US" altLang="ja-JP"/>
              <a:t> PV</a:t>
            </a:r>
            <a:r>
              <a:rPr lang="ja-JP" altLang="en-US"/>
              <a:t>変化量ランキング（</a:t>
            </a:r>
            <a:r>
              <a:rPr lang="en-US" altLang="ja-JP"/>
              <a:t>1/5</a:t>
            </a:r>
            <a:r>
              <a:rPr lang="ja-JP" altLang="en-US"/>
              <a:t>）</a:t>
            </a:r>
            <a:endParaRPr/>
          </a:p>
        </p:txBody>
      </p:sp>
      <p:sp>
        <p:nvSpPr>
          <p:cNvPr id="3" name="Google Shape;114;p14">
            <a:extLst>
              <a:ext uri="{FF2B5EF4-FFF2-40B4-BE49-F238E27FC236}">
                <a16:creationId xmlns:a16="http://schemas.microsoft.com/office/drawing/2014/main" id="{16801705-4DB6-8214-F099-F1228856A7BD}"/>
              </a:ext>
            </a:extLst>
          </p:cNvPr>
          <p:cNvSpPr txBox="1"/>
          <p:nvPr/>
        </p:nvSpPr>
        <p:spPr>
          <a:xfrm>
            <a:off x="933254" y="4360943"/>
            <a:ext cx="3233393" cy="195814"/>
          </a:xfrm>
          <a:prstGeom prst="rect">
            <a:avLst/>
          </a:prstGeom>
          <a:solidFill>
            <a:schemeClr val="lt1">
              <a:alpha val="90906"/>
            </a:schemeClr>
          </a:solidFill>
          <a:ln w="6350">
            <a:noFill/>
          </a:ln>
        </p:spPr>
        <p:txBody>
          <a:bodyPr spcFirstLastPara="1" wrap="square" lIns="36000" tIns="36000" rIns="36000" bIns="36000" anchor="t" anchorCtr="0">
            <a:spAutoFit/>
          </a:bodyPr>
          <a:lstStyle/>
          <a:p>
            <a:r>
              <a:rPr lang="en-US" altLang="ja-JP" sz="800">
                <a:solidFill>
                  <a:srgbClr val="FF0000"/>
                </a:solidFill>
                <a:latin typeface="Meiryo UI"/>
                <a:ea typeface="Meiryo UI"/>
              </a:rPr>
              <a:t>22</a:t>
            </a:r>
            <a:r>
              <a:rPr lang="ja-JP" altLang="en-US" sz="800">
                <a:solidFill>
                  <a:srgbClr val="FF0000"/>
                </a:solidFill>
                <a:latin typeface="Meiryo UI"/>
                <a:ea typeface="Meiryo UI"/>
              </a:rPr>
              <a:t>日の政務交代により動静ページの</a:t>
            </a:r>
            <a:r>
              <a:rPr lang="en-US" altLang="ja-JP" sz="800">
                <a:solidFill>
                  <a:srgbClr val="FF0000"/>
                </a:solidFill>
                <a:latin typeface="Meiryo UI"/>
                <a:ea typeface="Meiryo UI"/>
              </a:rPr>
              <a:t>PV</a:t>
            </a:r>
            <a:r>
              <a:rPr lang="ja-JP" altLang="en-US" sz="800">
                <a:solidFill>
                  <a:srgbClr val="FF0000"/>
                </a:solidFill>
                <a:latin typeface="Meiryo UI"/>
                <a:ea typeface="Meiryo UI"/>
              </a:rPr>
              <a:t>が大きく増加している</a:t>
            </a:r>
          </a:p>
        </p:txBody>
      </p:sp>
      <p:sp>
        <p:nvSpPr>
          <p:cNvPr id="4" name="Google Shape;114;p14">
            <a:extLst>
              <a:ext uri="{FF2B5EF4-FFF2-40B4-BE49-F238E27FC236}">
                <a16:creationId xmlns:a16="http://schemas.microsoft.com/office/drawing/2014/main" id="{BF7DE63C-F798-A1E8-1258-818CCCBC052F}"/>
              </a:ext>
            </a:extLst>
          </p:cNvPr>
          <p:cNvSpPr txBox="1"/>
          <p:nvPr/>
        </p:nvSpPr>
        <p:spPr>
          <a:xfrm>
            <a:off x="4822575" y="4358176"/>
            <a:ext cx="3635625" cy="380480"/>
          </a:xfrm>
          <a:prstGeom prst="rect">
            <a:avLst/>
          </a:prstGeom>
          <a:solidFill>
            <a:schemeClr val="lt1">
              <a:alpha val="90906"/>
            </a:schemeClr>
          </a:solidFill>
          <a:ln w="6350">
            <a:noFill/>
          </a:ln>
        </p:spPr>
        <p:txBody>
          <a:bodyPr spcFirstLastPara="1" wrap="square" lIns="36000" tIns="36000" rIns="36000" bIns="36000" anchor="t" anchorCtr="0">
            <a:spAutoFit/>
          </a:bodyPr>
          <a:lstStyle/>
          <a:p>
            <a:pPr>
              <a:lnSpc>
                <a:spcPct val="125000"/>
              </a:lnSpc>
            </a:pPr>
            <a:r>
              <a:rPr lang="en-US" altLang="ja-JP" sz="800">
                <a:solidFill>
                  <a:srgbClr val="FF0000"/>
                </a:solidFill>
                <a:latin typeface="Meiryo UI"/>
                <a:ea typeface="Meiryo UI"/>
              </a:rPr>
              <a:t>10/22</a:t>
            </a:r>
            <a:r>
              <a:rPr lang="ja-JP" altLang="en-US" sz="800">
                <a:solidFill>
                  <a:srgbClr val="FF0000"/>
                </a:solidFill>
                <a:latin typeface="Meiryo UI"/>
                <a:ea typeface="Meiryo UI"/>
              </a:rPr>
              <a:t>のミサイル発射により北朝鮮ミサイル関連ページの</a:t>
            </a:r>
            <a:r>
              <a:rPr lang="en-US" altLang="ja-JP" sz="800">
                <a:solidFill>
                  <a:srgbClr val="FF0000"/>
                </a:solidFill>
                <a:latin typeface="Meiryo UI"/>
                <a:ea typeface="Meiryo UI"/>
              </a:rPr>
              <a:t>PV</a:t>
            </a:r>
            <a:r>
              <a:rPr lang="ja-JP" altLang="en-US" sz="800">
                <a:solidFill>
                  <a:srgbClr val="FF0000"/>
                </a:solidFill>
                <a:latin typeface="Meiryo UI"/>
                <a:ea typeface="Meiryo UI"/>
              </a:rPr>
              <a:t>が増加した。（</a:t>
            </a:r>
            <a:r>
              <a:rPr lang="en-US" altLang="ja-JP" sz="800">
                <a:solidFill>
                  <a:srgbClr val="FF0000"/>
                </a:solidFill>
                <a:latin typeface="Meiryo UI"/>
                <a:ea typeface="Meiryo UI"/>
              </a:rPr>
              <a:t>22</a:t>
            </a:r>
            <a:r>
              <a:rPr lang="ja-JP" altLang="en-US" sz="800">
                <a:solidFill>
                  <a:srgbClr val="FF0000"/>
                </a:solidFill>
                <a:latin typeface="Meiryo UI"/>
                <a:ea typeface="Meiryo UI"/>
              </a:rPr>
              <a:t>日分については防衛省からの発表はない）</a:t>
            </a:r>
          </a:p>
        </p:txBody>
      </p:sp>
      <p:sp>
        <p:nvSpPr>
          <p:cNvPr id="6" name="Google Shape;116;p14">
            <a:extLst>
              <a:ext uri="{FF2B5EF4-FFF2-40B4-BE49-F238E27FC236}">
                <a16:creationId xmlns:a16="http://schemas.microsoft.com/office/drawing/2014/main" id="{917400F0-8882-7411-A436-214AF8ACB618}"/>
              </a:ext>
            </a:extLst>
          </p:cNvPr>
          <p:cNvSpPr/>
          <p:nvPr/>
        </p:nvSpPr>
        <p:spPr>
          <a:xfrm>
            <a:off x="685800" y="1370456"/>
            <a:ext cx="3586914" cy="20598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7" name="Google Shape;116;p14">
            <a:extLst>
              <a:ext uri="{FF2B5EF4-FFF2-40B4-BE49-F238E27FC236}">
                <a16:creationId xmlns:a16="http://schemas.microsoft.com/office/drawing/2014/main" id="{61D67C17-7BC9-B088-B2AC-12A8E8CB287C}"/>
              </a:ext>
            </a:extLst>
          </p:cNvPr>
          <p:cNvSpPr/>
          <p:nvPr/>
        </p:nvSpPr>
        <p:spPr>
          <a:xfrm>
            <a:off x="4812794" y="1986089"/>
            <a:ext cx="3586914" cy="20598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9" name="Google Shape;116;p14">
            <a:extLst>
              <a:ext uri="{FF2B5EF4-FFF2-40B4-BE49-F238E27FC236}">
                <a16:creationId xmlns:a16="http://schemas.microsoft.com/office/drawing/2014/main" id="{13B73474-C83D-6154-2387-92E120450854}"/>
              </a:ext>
            </a:extLst>
          </p:cNvPr>
          <p:cNvSpPr/>
          <p:nvPr/>
        </p:nvSpPr>
        <p:spPr>
          <a:xfrm>
            <a:off x="4812794" y="1169587"/>
            <a:ext cx="3586914" cy="20598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10" name="Google Shape;116;p14">
            <a:extLst>
              <a:ext uri="{FF2B5EF4-FFF2-40B4-BE49-F238E27FC236}">
                <a16:creationId xmlns:a16="http://schemas.microsoft.com/office/drawing/2014/main" id="{D16E192C-DD67-9210-1A58-52C339222259}"/>
              </a:ext>
            </a:extLst>
          </p:cNvPr>
          <p:cNvSpPr/>
          <p:nvPr/>
        </p:nvSpPr>
        <p:spPr>
          <a:xfrm>
            <a:off x="4812794" y="1568577"/>
            <a:ext cx="3586914" cy="20598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2037183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98A39A44-7AE9-4F7C-B9F3-FADD78D97B27}"/>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065C0915-16CC-C071-6BF1-10825076090A}"/>
              </a:ext>
            </a:extLst>
          </p:cNvPr>
          <p:cNvPicPr>
            <a:picLocks noChangeAspect="1"/>
          </p:cNvPicPr>
          <p:nvPr/>
        </p:nvPicPr>
        <p:blipFill>
          <a:blip r:embed="rId3"/>
          <a:stretch>
            <a:fillRect/>
          </a:stretch>
        </p:blipFill>
        <p:spPr>
          <a:xfrm>
            <a:off x="685800" y="801022"/>
            <a:ext cx="7772400" cy="3541456"/>
          </a:xfrm>
          <a:prstGeom prst="rect">
            <a:avLst/>
          </a:prstGeom>
        </p:spPr>
      </p:pic>
      <p:sp>
        <p:nvSpPr>
          <p:cNvPr id="13" name="Google Shape;13;p2">
            <a:extLst>
              <a:ext uri="{FF2B5EF4-FFF2-40B4-BE49-F238E27FC236}">
                <a16:creationId xmlns:a16="http://schemas.microsoft.com/office/drawing/2014/main" id="{046D7E92-3E83-7D2D-3EA2-3AE50D02E0D6}"/>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14</a:t>
            </a:fld>
            <a:endParaRPr lang="ja" altLang="en-US">
              <a:solidFill>
                <a:srgbClr val="4E5F7A"/>
              </a:solidFill>
            </a:endParaRPr>
          </a:p>
        </p:txBody>
      </p:sp>
      <p:sp>
        <p:nvSpPr>
          <p:cNvPr id="46" name="Google Shape;125;p15">
            <a:extLst>
              <a:ext uri="{FF2B5EF4-FFF2-40B4-BE49-F238E27FC236}">
                <a16:creationId xmlns:a16="http://schemas.microsoft.com/office/drawing/2014/main" id="{44727D83-BC0F-A27F-F062-3D6449223640}"/>
              </a:ext>
            </a:extLst>
          </p:cNvPr>
          <p:cNvSpPr txBox="1">
            <a:spLocks noGrp="1"/>
          </p:cNvSpPr>
          <p:nvPr>
            <p:ph type="title"/>
          </p:nvPr>
        </p:nvSpPr>
        <p:spPr>
          <a:prstGeom prst="rect">
            <a:avLst/>
          </a:prstGeom>
        </p:spPr>
        <p:txBody>
          <a:bodyPr spcFirstLastPara="1" wrap="square" lIns="0" tIns="0" rIns="0" bIns="0" anchor="ctr" anchorCtr="0">
            <a:noAutofit/>
          </a:bodyPr>
          <a:lstStyle/>
          <a:p>
            <a:pPr lvl="0"/>
            <a:r>
              <a:rPr lang="ja-JP" altLang="en-US"/>
              <a:t>第２階層</a:t>
            </a:r>
            <a:r>
              <a:rPr lang="en-US" altLang="ja-JP"/>
              <a:t> PV</a:t>
            </a:r>
            <a:r>
              <a:rPr lang="ja-JP" altLang="en-US"/>
              <a:t>変化量ランキング（</a:t>
            </a:r>
            <a:r>
              <a:rPr lang="en-US" altLang="ja-JP"/>
              <a:t>1/5</a:t>
            </a:r>
            <a:r>
              <a:rPr lang="ja-JP" altLang="en-US"/>
              <a:t>）</a:t>
            </a:r>
            <a:endParaRPr/>
          </a:p>
        </p:txBody>
      </p:sp>
      <p:sp>
        <p:nvSpPr>
          <p:cNvPr id="3" name="Google Shape;114;p14">
            <a:extLst>
              <a:ext uri="{FF2B5EF4-FFF2-40B4-BE49-F238E27FC236}">
                <a16:creationId xmlns:a16="http://schemas.microsoft.com/office/drawing/2014/main" id="{2610D857-10C7-1041-2F76-AE1B70039836}"/>
              </a:ext>
            </a:extLst>
          </p:cNvPr>
          <p:cNvSpPr txBox="1"/>
          <p:nvPr/>
        </p:nvSpPr>
        <p:spPr>
          <a:xfrm>
            <a:off x="933254" y="4360943"/>
            <a:ext cx="3233393" cy="195814"/>
          </a:xfrm>
          <a:prstGeom prst="rect">
            <a:avLst/>
          </a:prstGeom>
          <a:solidFill>
            <a:schemeClr val="lt1">
              <a:alpha val="90906"/>
            </a:schemeClr>
          </a:solidFill>
          <a:ln w="6350">
            <a:noFill/>
          </a:ln>
        </p:spPr>
        <p:txBody>
          <a:bodyPr spcFirstLastPara="1" wrap="square" lIns="36000" tIns="36000" rIns="36000" bIns="36000" anchor="t" anchorCtr="0">
            <a:spAutoFit/>
          </a:bodyPr>
          <a:lstStyle/>
          <a:p>
            <a:r>
              <a:rPr lang="ja-JP" altLang="en-US" sz="800">
                <a:solidFill>
                  <a:srgbClr val="FF0000"/>
                </a:solidFill>
                <a:latin typeface="Meiryo UI"/>
                <a:ea typeface="Meiryo UI"/>
              </a:rPr>
              <a:t>大臣の発言と報道により、戦略三文書への注目が高まった。</a:t>
            </a:r>
          </a:p>
        </p:txBody>
      </p:sp>
      <p:sp>
        <p:nvSpPr>
          <p:cNvPr id="4" name="Google Shape;114;p14">
            <a:extLst>
              <a:ext uri="{FF2B5EF4-FFF2-40B4-BE49-F238E27FC236}">
                <a16:creationId xmlns:a16="http://schemas.microsoft.com/office/drawing/2014/main" id="{DD73A7FB-8C24-8896-4210-9EA26CFCA4D9}"/>
              </a:ext>
            </a:extLst>
          </p:cNvPr>
          <p:cNvSpPr txBox="1"/>
          <p:nvPr/>
        </p:nvSpPr>
        <p:spPr>
          <a:xfrm>
            <a:off x="4822575" y="4358176"/>
            <a:ext cx="3635625" cy="380480"/>
          </a:xfrm>
          <a:prstGeom prst="rect">
            <a:avLst/>
          </a:prstGeom>
          <a:solidFill>
            <a:schemeClr val="lt1">
              <a:alpha val="90906"/>
            </a:schemeClr>
          </a:solidFill>
          <a:ln w="6350">
            <a:noFill/>
          </a:ln>
        </p:spPr>
        <p:txBody>
          <a:bodyPr spcFirstLastPara="1" wrap="square" lIns="36000" tIns="36000" rIns="36000" bIns="36000" anchor="t" anchorCtr="0">
            <a:spAutoFit/>
          </a:bodyPr>
          <a:lstStyle/>
          <a:p>
            <a:pPr>
              <a:lnSpc>
                <a:spcPct val="125000"/>
              </a:lnSpc>
            </a:pPr>
            <a:r>
              <a:rPr lang="ja-JP" altLang="en-US" sz="800">
                <a:solidFill>
                  <a:srgbClr val="FF0000"/>
                </a:solidFill>
                <a:latin typeface="Meiryo UI"/>
                <a:ea typeface="Meiryo UI"/>
              </a:rPr>
              <a:t>八丈島の台風被害、熊対策に関連して「災害派遣」が微増したが、特筆すべき項目なし。</a:t>
            </a:r>
          </a:p>
        </p:txBody>
      </p:sp>
      <p:sp>
        <p:nvSpPr>
          <p:cNvPr id="2" name="Google Shape;116;p14">
            <a:extLst>
              <a:ext uri="{FF2B5EF4-FFF2-40B4-BE49-F238E27FC236}">
                <a16:creationId xmlns:a16="http://schemas.microsoft.com/office/drawing/2014/main" id="{085D44FD-9835-2A04-BC81-D4AE0D99D88F}"/>
              </a:ext>
            </a:extLst>
          </p:cNvPr>
          <p:cNvSpPr/>
          <p:nvPr/>
        </p:nvSpPr>
        <p:spPr>
          <a:xfrm>
            <a:off x="685800" y="1167256"/>
            <a:ext cx="3586914" cy="26784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400231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7" name="図 6">
            <a:extLst>
              <a:ext uri="{FF2B5EF4-FFF2-40B4-BE49-F238E27FC236}">
                <a16:creationId xmlns:a16="http://schemas.microsoft.com/office/drawing/2014/main" id="{9F7E1A0D-082B-A030-B1FD-63D451ABEB30}"/>
              </a:ext>
            </a:extLst>
          </p:cNvPr>
          <p:cNvPicPr>
            <a:picLocks noChangeAspect="1"/>
          </p:cNvPicPr>
          <p:nvPr/>
        </p:nvPicPr>
        <p:blipFill>
          <a:blip r:embed="rId3"/>
          <a:stretch>
            <a:fillRect/>
          </a:stretch>
        </p:blipFill>
        <p:spPr>
          <a:xfrm>
            <a:off x="685800" y="801022"/>
            <a:ext cx="7772400" cy="3541456"/>
          </a:xfrm>
          <a:prstGeom prst="rect">
            <a:avLst/>
          </a:prstGeom>
        </p:spPr>
      </p:pic>
      <p:sp>
        <p:nvSpPr>
          <p:cNvPr id="125" name="Google Shape;125;p15"/>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lvl="0"/>
            <a:r>
              <a:rPr lang="ja-JP" altLang="en-US"/>
              <a:t>第２階層</a:t>
            </a:r>
            <a:r>
              <a:rPr lang="en-US" altLang="ja-JP"/>
              <a:t> PV</a:t>
            </a:r>
            <a:r>
              <a:rPr lang="ja-JP" altLang="en-US"/>
              <a:t>変化量ランキング（</a:t>
            </a:r>
            <a:r>
              <a:rPr lang="en-US" altLang="ja-JP"/>
              <a:t>2/5</a:t>
            </a:r>
            <a:r>
              <a:rPr lang="ja-JP" altLang="en-US"/>
              <a:t>）</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15</a:t>
            </a:fld>
            <a:endParaRPr lang="ja" altLang="en-US">
              <a:solidFill>
                <a:srgbClr val="4E5F7A"/>
              </a:solidFill>
            </a:endParaRPr>
          </a:p>
        </p:txBody>
      </p:sp>
      <p:sp>
        <p:nvSpPr>
          <p:cNvPr id="4" name="Google Shape;114;p14">
            <a:extLst>
              <a:ext uri="{FF2B5EF4-FFF2-40B4-BE49-F238E27FC236}">
                <a16:creationId xmlns:a16="http://schemas.microsoft.com/office/drawing/2014/main" id="{07A0987B-7D55-0C2F-C12B-18F24BCCEBEE}"/>
              </a:ext>
            </a:extLst>
          </p:cNvPr>
          <p:cNvSpPr txBox="1"/>
          <p:nvPr/>
        </p:nvSpPr>
        <p:spPr>
          <a:xfrm>
            <a:off x="4840979" y="4324822"/>
            <a:ext cx="3558729" cy="380480"/>
          </a:xfrm>
          <a:prstGeom prst="rect">
            <a:avLst/>
          </a:prstGeom>
          <a:solidFill>
            <a:schemeClr val="lt1">
              <a:alpha val="90906"/>
            </a:schemeClr>
          </a:solidFill>
          <a:ln w="6350">
            <a:noFill/>
          </a:ln>
        </p:spPr>
        <p:txBody>
          <a:bodyPr spcFirstLastPara="1" wrap="square" lIns="36000" tIns="36000" rIns="36000" bIns="36000" anchor="t" anchorCtr="0">
            <a:spAutoFit/>
          </a:bodyPr>
          <a:lstStyle/>
          <a:p>
            <a:pPr>
              <a:lnSpc>
                <a:spcPct val="125000"/>
              </a:lnSpc>
            </a:pPr>
            <a:r>
              <a:rPr lang="ja-JP" altLang="en-US" sz="800">
                <a:solidFill>
                  <a:srgbClr val="FF0000"/>
                </a:solidFill>
                <a:latin typeface="Meiryo UI"/>
                <a:ea typeface="Meiryo UI"/>
              </a:rPr>
              <a:t>今月も政府専用機に関するピンナップへの</a:t>
            </a:r>
            <a:r>
              <a:rPr lang="en-US" altLang="ja-JP" sz="800">
                <a:solidFill>
                  <a:srgbClr val="FF0000"/>
                </a:solidFill>
                <a:latin typeface="Meiryo UI"/>
                <a:ea typeface="Meiryo UI"/>
              </a:rPr>
              <a:t>PV</a:t>
            </a:r>
            <a:r>
              <a:rPr lang="ja-JP" altLang="en-US" sz="800">
                <a:solidFill>
                  <a:srgbClr val="FF0000"/>
                </a:solidFill>
                <a:latin typeface="Meiryo UI"/>
                <a:ea typeface="Meiryo UI"/>
              </a:rPr>
              <a:t>が上位に位置している。米戦争長官の事前ピンナップも注文をあつめている</a:t>
            </a:r>
          </a:p>
        </p:txBody>
      </p:sp>
      <p:sp>
        <p:nvSpPr>
          <p:cNvPr id="6" name="Google Shape;114;p14">
            <a:extLst>
              <a:ext uri="{FF2B5EF4-FFF2-40B4-BE49-F238E27FC236}">
                <a16:creationId xmlns:a16="http://schemas.microsoft.com/office/drawing/2014/main" id="{84F81823-5EDF-46A5-3B6A-C6FBD1766529}"/>
              </a:ext>
            </a:extLst>
          </p:cNvPr>
          <p:cNvSpPr txBox="1"/>
          <p:nvPr/>
        </p:nvSpPr>
        <p:spPr>
          <a:xfrm>
            <a:off x="933449" y="4316520"/>
            <a:ext cx="3463984" cy="226591"/>
          </a:xfrm>
          <a:prstGeom prst="rect">
            <a:avLst/>
          </a:prstGeom>
          <a:solidFill>
            <a:schemeClr val="lt1">
              <a:alpha val="90906"/>
            </a:schemeClr>
          </a:solidFill>
          <a:ln w="6350">
            <a:noFill/>
          </a:ln>
        </p:spPr>
        <p:txBody>
          <a:bodyPr spcFirstLastPara="1" wrap="square" lIns="36000" tIns="36000" rIns="36000" bIns="36000" anchor="t" anchorCtr="0">
            <a:spAutoFit/>
          </a:bodyPr>
          <a:lstStyle/>
          <a:p>
            <a:pPr>
              <a:lnSpc>
                <a:spcPct val="125000"/>
              </a:lnSpc>
            </a:pPr>
            <a:r>
              <a:rPr lang="en-US" altLang="ja-JP" sz="800">
                <a:solidFill>
                  <a:srgbClr val="FF0000"/>
                </a:solidFill>
                <a:latin typeface="Meiryo UI"/>
                <a:ea typeface="Meiryo UI"/>
              </a:rPr>
              <a:t>9</a:t>
            </a:r>
            <a:r>
              <a:rPr lang="ja-JP" altLang="en-US" sz="800">
                <a:solidFill>
                  <a:srgbClr val="FF0000"/>
                </a:solidFill>
                <a:latin typeface="Meiryo UI"/>
                <a:ea typeface="Meiryo UI"/>
              </a:rPr>
              <a:t>日より開始された官庁（機関）訪問の申込ページへの流入が増えた。</a:t>
            </a:r>
          </a:p>
        </p:txBody>
      </p:sp>
      <p:sp>
        <p:nvSpPr>
          <p:cNvPr id="9" name="Google Shape;116;p14">
            <a:extLst>
              <a:ext uri="{FF2B5EF4-FFF2-40B4-BE49-F238E27FC236}">
                <a16:creationId xmlns:a16="http://schemas.microsoft.com/office/drawing/2014/main" id="{33892CDA-A7D0-F91F-8C2A-B288C63ADCA0}"/>
              </a:ext>
            </a:extLst>
          </p:cNvPr>
          <p:cNvSpPr/>
          <p:nvPr/>
        </p:nvSpPr>
        <p:spPr>
          <a:xfrm>
            <a:off x="4858636" y="1581757"/>
            <a:ext cx="3586914" cy="228999"/>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5" name="Google Shape;116;p14">
            <a:extLst>
              <a:ext uri="{FF2B5EF4-FFF2-40B4-BE49-F238E27FC236}">
                <a16:creationId xmlns:a16="http://schemas.microsoft.com/office/drawing/2014/main" id="{7B0ACB22-883F-01BB-5580-6E373DAD24A0}"/>
              </a:ext>
            </a:extLst>
          </p:cNvPr>
          <p:cNvSpPr/>
          <p:nvPr/>
        </p:nvSpPr>
        <p:spPr>
          <a:xfrm>
            <a:off x="788105" y="1419042"/>
            <a:ext cx="3586914" cy="226590"/>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2" name="Google Shape;116;p14">
            <a:extLst>
              <a:ext uri="{FF2B5EF4-FFF2-40B4-BE49-F238E27FC236}">
                <a16:creationId xmlns:a16="http://schemas.microsoft.com/office/drawing/2014/main" id="{7B2D9FBE-6B1C-E9AE-43EE-DB8C24610311}"/>
              </a:ext>
            </a:extLst>
          </p:cNvPr>
          <p:cNvSpPr/>
          <p:nvPr/>
        </p:nvSpPr>
        <p:spPr>
          <a:xfrm>
            <a:off x="788105" y="1670857"/>
            <a:ext cx="3586914" cy="226590"/>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8" name="Google Shape;116;p14">
            <a:extLst>
              <a:ext uri="{FF2B5EF4-FFF2-40B4-BE49-F238E27FC236}">
                <a16:creationId xmlns:a16="http://schemas.microsoft.com/office/drawing/2014/main" id="{927D09B2-DAAE-D1BD-23A1-50CA3491BF86}"/>
              </a:ext>
            </a:extLst>
          </p:cNvPr>
          <p:cNvSpPr/>
          <p:nvPr/>
        </p:nvSpPr>
        <p:spPr>
          <a:xfrm>
            <a:off x="788105" y="1922672"/>
            <a:ext cx="3586914" cy="191847"/>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10" name="Google Shape;116;p14">
            <a:extLst>
              <a:ext uri="{FF2B5EF4-FFF2-40B4-BE49-F238E27FC236}">
                <a16:creationId xmlns:a16="http://schemas.microsoft.com/office/drawing/2014/main" id="{BC45EA18-14E7-9807-079B-68154B3EEE0F}"/>
              </a:ext>
            </a:extLst>
          </p:cNvPr>
          <p:cNvSpPr/>
          <p:nvPr/>
        </p:nvSpPr>
        <p:spPr>
          <a:xfrm>
            <a:off x="4871286" y="1983496"/>
            <a:ext cx="3586914" cy="30250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919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6" name="図 5">
            <a:extLst>
              <a:ext uri="{FF2B5EF4-FFF2-40B4-BE49-F238E27FC236}">
                <a16:creationId xmlns:a16="http://schemas.microsoft.com/office/drawing/2014/main" id="{038B82C5-F0E1-E994-2C67-D6863F41146B}"/>
              </a:ext>
            </a:extLst>
          </p:cNvPr>
          <p:cNvPicPr>
            <a:picLocks noChangeAspect="1"/>
          </p:cNvPicPr>
          <p:nvPr/>
        </p:nvPicPr>
        <p:blipFill>
          <a:blip r:embed="rId3"/>
          <a:stretch>
            <a:fillRect/>
          </a:stretch>
        </p:blipFill>
        <p:spPr>
          <a:xfrm>
            <a:off x="685800" y="801022"/>
            <a:ext cx="7772400" cy="3541456"/>
          </a:xfrm>
          <a:prstGeom prst="rect">
            <a:avLst/>
          </a:prstGeom>
        </p:spPr>
      </p:pic>
      <p:sp>
        <p:nvSpPr>
          <p:cNvPr id="125" name="Google Shape;125;p15"/>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lvl="0"/>
            <a:r>
              <a:rPr lang="ja-JP" altLang="en-US"/>
              <a:t>第２階層</a:t>
            </a:r>
            <a:r>
              <a:rPr lang="en-US" altLang="ja-JP"/>
              <a:t> PV</a:t>
            </a:r>
            <a:r>
              <a:rPr lang="ja-JP" altLang="en-US"/>
              <a:t>変化量ランキング（</a:t>
            </a:r>
            <a:r>
              <a:rPr lang="en-US" altLang="ja-JP"/>
              <a:t>3/5</a:t>
            </a:r>
            <a:r>
              <a:rPr lang="ja-JP" altLang="en-US"/>
              <a:t>）</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16</a:t>
            </a:fld>
            <a:endParaRPr lang="ja" altLang="en-US">
              <a:solidFill>
                <a:srgbClr val="4E5F7A"/>
              </a:solidFill>
            </a:endParaRPr>
          </a:p>
        </p:txBody>
      </p:sp>
      <p:sp>
        <p:nvSpPr>
          <p:cNvPr id="3" name="Google Shape;114;p14">
            <a:extLst>
              <a:ext uri="{FF2B5EF4-FFF2-40B4-BE49-F238E27FC236}">
                <a16:creationId xmlns:a16="http://schemas.microsoft.com/office/drawing/2014/main" id="{6ADC715E-B2B9-581C-CC7E-118B49172130}"/>
              </a:ext>
            </a:extLst>
          </p:cNvPr>
          <p:cNvSpPr txBox="1"/>
          <p:nvPr/>
        </p:nvSpPr>
        <p:spPr>
          <a:xfrm>
            <a:off x="4776992" y="4336520"/>
            <a:ext cx="3622715" cy="226591"/>
          </a:xfrm>
          <a:prstGeom prst="rect">
            <a:avLst/>
          </a:prstGeom>
          <a:solidFill>
            <a:schemeClr val="lt1">
              <a:alpha val="90906"/>
            </a:schemeClr>
          </a:solidFill>
          <a:ln w="6350">
            <a:noFill/>
          </a:ln>
        </p:spPr>
        <p:txBody>
          <a:bodyPr spcFirstLastPara="1" wrap="square" lIns="36000" tIns="36000" rIns="36000" bIns="36000" anchor="t" anchorCtr="0">
            <a:spAutoFit/>
          </a:bodyPr>
          <a:lstStyle/>
          <a:p>
            <a:pPr>
              <a:lnSpc>
                <a:spcPct val="125000"/>
              </a:lnSpc>
            </a:pPr>
            <a:r>
              <a:rPr lang="en-US" altLang="ja-JP" sz="800">
                <a:solidFill>
                  <a:srgbClr val="FF0000"/>
                </a:solidFill>
                <a:latin typeface="Meiryo UI"/>
                <a:ea typeface="Meiryo UI"/>
              </a:rPr>
              <a:t>26</a:t>
            </a:r>
            <a:r>
              <a:rPr lang="ja-JP" altLang="en-US" sz="800">
                <a:solidFill>
                  <a:srgbClr val="FF0000"/>
                </a:solidFill>
                <a:latin typeface="Meiryo UI"/>
                <a:ea typeface="Meiryo UI"/>
              </a:rPr>
              <a:t>日のドローン関連情報の更新があった他に特筆すべき変化なし</a:t>
            </a:r>
          </a:p>
        </p:txBody>
      </p:sp>
      <p:sp>
        <p:nvSpPr>
          <p:cNvPr id="4" name="Google Shape;114;p14">
            <a:extLst>
              <a:ext uri="{FF2B5EF4-FFF2-40B4-BE49-F238E27FC236}">
                <a16:creationId xmlns:a16="http://schemas.microsoft.com/office/drawing/2014/main" id="{A51887C5-D75C-5302-C09C-C5A617265F3F}"/>
              </a:ext>
            </a:extLst>
          </p:cNvPr>
          <p:cNvSpPr txBox="1"/>
          <p:nvPr/>
        </p:nvSpPr>
        <p:spPr>
          <a:xfrm>
            <a:off x="1006897" y="4336520"/>
            <a:ext cx="3360110" cy="226591"/>
          </a:xfrm>
          <a:prstGeom prst="rect">
            <a:avLst/>
          </a:prstGeom>
          <a:solidFill>
            <a:schemeClr val="lt1">
              <a:alpha val="90906"/>
            </a:schemeClr>
          </a:solidFill>
          <a:ln w="6350">
            <a:noFill/>
          </a:ln>
        </p:spPr>
        <p:txBody>
          <a:bodyPr spcFirstLastPara="1" wrap="square" lIns="36000" tIns="36000" rIns="36000" bIns="36000" anchor="t" anchorCtr="0">
            <a:spAutoFit/>
          </a:bodyPr>
          <a:lstStyle/>
          <a:p>
            <a:pPr>
              <a:lnSpc>
                <a:spcPct val="125000"/>
              </a:lnSpc>
            </a:pPr>
            <a:r>
              <a:rPr lang="ja-JP" altLang="en-US" sz="800">
                <a:solidFill>
                  <a:srgbClr val="FF0000"/>
                </a:solidFill>
                <a:latin typeface="Meiryo UI"/>
                <a:ea typeface="Meiryo UI"/>
              </a:rPr>
              <a:t>特筆すべき情報なし</a:t>
            </a:r>
          </a:p>
        </p:txBody>
      </p:sp>
      <p:sp>
        <p:nvSpPr>
          <p:cNvPr id="7" name="Google Shape;116;p14">
            <a:extLst>
              <a:ext uri="{FF2B5EF4-FFF2-40B4-BE49-F238E27FC236}">
                <a16:creationId xmlns:a16="http://schemas.microsoft.com/office/drawing/2014/main" id="{B31DEEB8-CA85-9FA5-D83C-4CE66C433F99}"/>
              </a:ext>
            </a:extLst>
          </p:cNvPr>
          <p:cNvSpPr/>
          <p:nvPr/>
        </p:nvSpPr>
        <p:spPr>
          <a:xfrm>
            <a:off x="4871286" y="1312307"/>
            <a:ext cx="3586914" cy="19899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
        <p:nvSpPr>
          <p:cNvPr id="5" name="Google Shape;116;p14">
            <a:extLst>
              <a:ext uri="{FF2B5EF4-FFF2-40B4-BE49-F238E27FC236}">
                <a16:creationId xmlns:a16="http://schemas.microsoft.com/office/drawing/2014/main" id="{FEA45DF5-CEB5-4724-33C1-9781BC09AB25}"/>
              </a:ext>
            </a:extLst>
          </p:cNvPr>
          <p:cNvSpPr/>
          <p:nvPr/>
        </p:nvSpPr>
        <p:spPr>
          <a:xfrm>
            <a:off x="4871286" y="1563918"/>
            <a:ext cx="3586914" cy="198994"/>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4005649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4" name="図 3">
            <a:extLst>
              <a:ext uri="{FF2B5EF4-FFF2-40B4-BE49-F238E27FC236}">
                <a16:creationId xmlns:a16="http://schemas.microsoft.com/office/drawing/2014/main" id="{064DA43A-9B27-B628-1DDE-4622C74ABEFA}"/>
              </a:ext>
            </a:extLst>
          </p:cNvPr>
          <p:cNvPicPr>
            <a:picLocks noChangeAspect="1"/>
          </p:cNvPicPr>
          <p:nvPr/>
        </p:nvPicPr>
        <p:blipFill>
          <a:blip r:embed="rId3"/>
          <a:stretch>
            <a:fillRect/>
          </a:stretch>
        </p:blipFill>
        <p:spPr>
          <a:xfrm>
            <a:off x="685800" y="801022"/>
            <a:ext cx="7772400" cy="3541456"/>
          </a:xfrm>
          <a:prstGeom prst="rect">
            <a:avLst/>
          </a:prstGeom>
        </p:spPr>
      </p:pic>
      <p:sp>
        <p:nvSpPr>
          <p:cNvPr id="125" name="Google Shape;125;p15"/>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lvl="0"/>
            <a:r>
              <a:rPr lang="ja-JP" altLang="en-US"/>
              <a:t>第２階層</a:t>
            </a:r>
            <a:r>
              <a:rPr lang="en-US" altLang="ja-JP"/>
              <a:t> PV</a:t>
            </a:r>
            <a:r>
              <a:rPr lang="ja-JP" altLang="en-US"/>
              <a:t>変化量ランキング（</a:t>
            </a:r>
            <a:r>
              <a:rPr lang="en-US" altLang="ja-JP"/>
              <a:t>5/5</a:t>
            </a:r>
            <a:r>
              <a:rPr lang="ja-JP" altLang="en-US"/>
              <a:t>）</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17</a:t>
            </a:fld>
            <a:endParaRPr lang="ja" altLang="en-US">
              <a:solidFill>
                <a:srgbClr val="4E5F7A"/>
              </a:solidFill>
            </a:endParaRPr>
          </a:p>
        </p:txBody>
      </p:sp>
      <p:sp>
        <p:nvSpPr>
          <p:cNvPr id="10" name="Google Shape;114;p14">
            <a:extLst>
              <a:ext uri="{FF2B5EF4-FFF2-40B4-BE49-F238E27FC236}">
                <a16:creationId xmlns:a16="http://schemas.microsoft.com/office/drawing/2014/main" id="{E86EDE59-4586-3DAD-79E9-0B5C0C9CE1DC}"/>
              </a:ext>
            </a:extLst>
          </p:cNvPr>
          <p:cNvSpPr txBox="1"/>
          <p:nvPr/>
        </p:nvSpPr>
        <p:spPr>
          <a:xfrm>
            <a:off x="954858" y="4336520"/>
            <a:ext cx="3159376" cy="380480"/>
          </a:xfrm>
          <a:prstGeom prst="rect">
            <a:avLst/>
          </a:prstGeom>
          <a:solidFill>
            <a:schemeClr val="lt1">
              <a:alpha val="90906"/>
            </a:schemeClr>
          </a:solidFill>
          <a:ln w="6350">
            <a:noFill/>
          </a:ln>
        </p:spPr>
        <p:txBody>
          <a:bodyPr spcFirstLastPara="1" wrap="square" lIns="36000" tIns="36000" rIns="36000" bIns="36000" anchor="t" anchorCtr="0">
            <a:spAutoFit/>
          </a:bodyPr>
          <a:lstStyle/>
          <a:p>
            <a:pPr>
              <a:lnSpc>
                <a:spcPct val="125000"/>
              </a:lnSpc>
            </a:pPr>
            <a:r>
              <a:rPr lang="ja-JP" altLang="en-US" sz="800">
                <a:solidFill>
                  <a:srgbClr val="FF0000"/>
                </a:solidFill>
                <a:latin typeface="Meiryo UI"/>
                <a:ea typeface="Meiryo UI"/>
              </a:rPr>
              <a:t>先月から大きな変化はないが、引き続き「まるわかり！日本の防衛」がキッズページ全体をけん引している。自衛隊検定のテコ入れも必要か。</a:t>
            </a:r>
            <a:endParaRPr lang="ja-JP" altLang="en-US" sz="800">
              <a:solidFill>
                <a:srgbClr val="FF0000"/>
              </a:solidFill>
              <a:latin typeface="Meiryo UI" panose="020B0604030504040204" pitchFamily="34" charset="-128"/>
              <a:ea typeface="Meiryo UI" panose="020B0604030504040204" pitchFamily="34" charset="-128"/>
            </a:endParaRPr>
          </a:p>
        </p:txBody>
      </p:sp>
      <p:sp>
        <p:nvSpPr>
          <p:cNvPr id="5" name="Google Shape;116;p14">
            <a:extLst>
              <a:ext uri="{FF2B5EF4-FFF2-40B4-BE49-F238E27FC236}">
                <a16:creationId xmlns:a16="http://schemas.microsoft.com/office/drawing/2014/main" id="{05E34EF0-336E-C0F1-A199-633E7BFB02AF}"/>
              </a:ext>
            </a:extLst>
          </p:cNvPr>
          <p:cNvSpPr/>
          <p:nvPr/>
        </p:nvSpPr>
        <p:spPr>
          <a:xfrm>
            <a:off x="741089" y="1183983"/>
            <a:ext cx="3586914" cy="224802"/>
          </a:xfrm>
          <a:prstGeom prst="roundRect">
            <a:avLst>
              <a:gd name="adj" fmla="val 1785"/>
            </a:avLst>
          </a:prstGeom>
          <a:noFill/>
          <a:ln w="9525"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lvl="0" indent="0" rtl="0">
              <a:spcBef>
                <a:spcPts val="0"/>
              </a:spcBef>
              <a:spcAft>
                <a:spcPts val="0"/>
              </a:spcAft>
              <a:buNone/>
            </a:pPr>
            <a:endParaRPr>
              <a:solidFill>
                <a:srgbClr val="FF0000"/>
              </a:solidFill>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742463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pic>
        <p:nvPicPr>
          <p:cNvPr id="5" name="図 4">
            <a:extLst>
              <a:ext uri="{FF2B5EF4-FFF2-40B4-BE49-F238E27FC236}">
                <a16:creationId xmlns:a16="http://schemas.microsoft.com/office/drawing/2014/main" id="{52D10E64-8CB8-1FC5-7DEA-2A489BE013CF}"/>
              </a:ext>
            </a:extLst>
          </p:cNvPr>
          <p:cNvPicPr>
            <a:picLocks noChangeAspect="1"/>
          </p:cNvPicPr>
          <p:nvPr/>
        </p:nvPicPr>
        <p:blipFill>
          <a:blip r:embed="rId3"/>
          <a:stretch>
            <a:fillRect/>
          </a:stretch>
        </p:blipFill>
        <p:spPr>
          <a:xfrm>
            <a:off x="685800" y="649543"/>
            <a:ext cx="7772400" cy="3844413"/>
          </a:xfrm>
          <a:prstGeom prst="rect">
            <a:avLst/>
          </a:prstGeom>
        </p:spPr>
      </p:pic>
      <p:sp>
        <p:nvSpPr>
          <p:cNvPr id="125" name="Google Shape;125;p15"/>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lvl="0"/>
            <a:r>
              <a:rPr lang="en-US" err="1"/>
              <a:t>デバイス別PV数の比較</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18</a:t>
            </a:fld>
            <a:endParaRPr lang="ja" altLang="en-US">
              <a:solidFill>
                <a:srgbClr val="4E5F7A"/>
              </a:solidFill>
            </a:endParaRPr>
          </a:p>
        </p:txBody>
      </p:sp>
      <p:sp>
        <p:nvSpPr>
          <p:cNvPr id="4" name="Google Shape;114;p14">
            <a:extLst>
              <a:ext uri="{FF2B5EF4-FFF2-40B4-BE49-F238E27FC236}">
                <a16:creationId xmlns:a16="http://schemas.microsoft.com/office/drawing/2014/main" id="{78829E49-A20A-69FC-9B5E-408DC9F19747}"/>
              </a:ext>
            </a:extLst>
          </p:cNvPr>
          <p:cNvSpPr txBox="1"/>
          <p:nvPr/>
        </p:nvSpPr>
        <p:spPr>
          <a:xfrm>
            <a:off x="4296936" y="3950315"/>
            <a:ext cx="4651472" cy="1107996"/>
          </a:xfrm>
          <a:prstGeom prst="rect">
            <a:avLst/>
          </a:prstGeom>
          <a:noFill/>
          <a:ln>
            <a:noFill/>
          </a:ln>
        </p:spPr>
        <p:txBody>
          <a:bodyPr spcFirstLastPara="1" wrap="square" lIns="0" tIns="0" rIns="0" bIns="0" anchor="t" anchorCtr="0">
            <a:spAutoFit/>
          </a:bodyPr>
          <a:lstStyle/>
          <a:p>
            <a:pPr marL="171450" lvl="2" indent="-171450">
              <a:lnSpc>
                <a:spcPct val="150000"/>
              </a:lnSpc>
              <a:buFont typeface="Arial" panose="020B0604020202020204" pitchFamily="34" charset="0"/>
              <a:buChar char="•"/>
            </a:pPr>
            <a:r>
              <a:rPr lang="ja-JP" altLang="en-US" sz="800">
                <a:solidFill>
                  <a:schemeClr val="tx1">
                    <a:lumMod val="65000"/>
                    <a:lumOff val="35000"/>
                  </a:schemeClr>
                </a:solidFill>
                <a:latin typeface="Meiryo UI" panose="020B0604030504040204" pitchFamily="34" charset="-128"/>
                <a:ea typeface="Meiryo UI" panose="020B0604030504040204" pitchFamily="34" charset="-128"/>
              </a:rPr>
              <a:t>モバイル：モバイルは前月比＋</a:t>
            </a:r>
            <a:r>
              <a:rPr lang="en-US" altLang="ja-JP" sz="800">
                <a:solidFill>
                  <a:schemeClr val="tx1">
                    <a:lumMod val="65000"/>
                    <a:lumOff val="35000"/>
                  </a:schemeClr>
                </a:solidFill>
                <a:latin typeface="Meiryo UI" panose="020B0604030504040204" pitchFamily="34" charset="-128"/>
                <a:ea typeface="Meiryo UI" panose="020B0604030504040204" pitchFamily="34" charset="-128"/>
              </a:rPr>
              <a:t>35.5</a:t>
            </a:r>
            <a:r>
              <a:rPr lang="ja-JP" altLang="en-US" sz="800">
                <a:solidFill>
                  <a:schemeClr val="tx1">
                    <a:lumMod val="65000"/>
                    <a:lumOff val="35000"/>
                  </a:schemeClr>
                </a:solidFill>
                <a:latin typeface="Meiryo UI" panose="020B0604030504040204" pitchFamily="34" charset="-128"/>
                <a:ea typeface="Meiryo UI" panose="020B0604030504040204" pitchFamily="34" charset="-128"/>
              </a:rPr>
              <a:t>％と大幅増。政府専用機やアンケート関連など、時事性の高い話題への関心がスマホ経由で急速に広がったことが要因と考えられます。</a:t>
            </a:r>
          </a:p>
          <a:p>
            <a:pPr marL="171450" lvl="2" indent="-171450">
              <a:lnSpc>
                <a:spcPct val="150000"/>
              </a:lnSpc>
              <a:buFont typeface="Arial" panose="020B0604020202020204" pitchFamily="34" charset="0"/>
              <a:buChar char="•"/>
            </a:pPr>
            <a:r>
              <a:rPr lang="ja-JP" altLang="en-US" sz="800">
                <a:solidFill>
                  <a:schemeClr val="tx1">
                    <a:lumMod val="65000"/>
                    <a:lumOff val="35000"/>
                  </a:schemeClr>
                </a:solidFill>
                <a:latin typeface="Meiryo UI" panose="020B0604030504040204" pitchFamily="34" charset="-128"/>
                <a:ea typeface="Meiryo UI" panose="020B0604030504040204" pitchFamily="34" charset="-128"/>
              </a:rPr>
              <a:t>デスクトップ：デスクトップは</a:t>
            </a:r>
            <a:r>
              <a:rPr lang="en-US" altLang="ja-JP" sz="800">
                <a:solidFill>
                  <a:schemeClr val="tx1">
                    <a:lumMod val="65000"/>
                    <a:lumOff val="35000"/>
                  </a:schemeClr>
                </a:solidFill>
                <a:latin typeface="Meiryo UI" panose="020B0604030504040204" pitchFamily="34" charset="-128"/>
                <a:ea typeface="Meiryo UI" panose="020B0604030504040204" pitchFamily="34" charset="-128"/>
              </a:rPr>
              <a:t>4.3</a:t>
            </a:r>
            <a:r>
              <a:rPr lang="ja-JP" altLang="en-US" sz="800">
                <a:solidFill>
                  <a:schemeClr val="tx1">
                    <a:lumMod val="65000"/>
                    <a:lumOff val="35000"/>
                  </a:schemeClr>
                </a:solidFill>
                <a:latin typeface="Meiryo UI" panose="020B0604030504040204" pitchFamily="34" charset="-128"/>
                <a:ea typeface="Meiryo UI" panose="020B0604030504040204" pitchFamily="34" charset="-128"/>
              </a:rPr>
              <a:t>％減とやや後退。報道資料やお知らせ系の閲覧は堅調ながら、モバイルに比べて注目コンテンツの波に乗り切れなかった印象です。</a:t>
            </a:r>
          </a:p>
          <a:p>
            <a:pPr marL="171450" lvl="2" indent="-171450">
              <a:lnSpc>
                <a:spcPct val="150000"/>
              </a:lnSpc>
              <a:buFont typeface="Arial" panose="020B0604020202020204" pitchFamily="34" charset="0"/>
              <a:buChar char="•"/>
            </a:pPr>
            <a:r>
              <a:rPr lang="ja-JP" altLang="en-US" sz="800">
                <a:solidFill>
                  <a:schemeClr val="tx1">
                    <a:lumMod val="65000"/>
                    <a:lumOff val="35000"/>
                  </a:schemeClr>
                </a:solidFill>
                <a:latin typeface="Meiryo UI" panose="020B0604030504040204" pitchFamily="34" charset="-128"/>
                <a:ea typeface="Meiryo UI" panose="020B0604030504040204" pitchFamily="34" charset="-128"/>
              </a:rPr>
              <a:t>全体傾向：全体ではモバイルの成長が全体トラフィックを牽引。業務系や調査系は引き続きデスクトップ中心だが、速報・話題系はモバイルシフトが顕著でした。</a:t>
            </a:r>
          </a:p>
        </p:txBody>
      </p:sp>
    </p:spTree>
    <p:extLst>
      <p:ext uri="{BB962C8B-B14F-4D97-AF65-F5344CB8AC3E}">
        <p14:creationId xmlns:p14="http://schemas.microsoft.com/office/powerpoint/2010/main" val="522995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E18EF55-2F23-0545-ADD4-54630BE06B10}"/>
              </a:ext>
            </a:extLst>
          </p:cNvPr>
          <p:cNvSpPr>
            <a:spLocks noGrp="1"/>
          </p:cNvSpPr>
          <p:nvPr>
            <p:ph type="sldNum" idx="12"/>
          </p:nvPr>
        </p:nvSpPr>
        <p:spPr/>
        <p:txBody>
          <a:bodyPr/>
          <a:lstStyle/>
          <a:p>
            <a:fld id="{00000000-1234-1234-1234-123412341234}" type="slidenum">
              <a:rPr lang="en-US" altLang="ja" smtClean="0"/>
              <a:pPr/>
              <a:t>19</a:t>
            </a:fld>
            <a:endParaRPr lang="ja" altLang="en-US">
              <a:solidFill>
                <a:srgbClr val="4E5F7A"/>
              </a:solidFill>
            </a:endParaRPr>
          </a:p>
        </p:txBody>
      </p:sp>
      <p:sp>
        <p:nvSpPr>
          <p:cNvPr id="4" name="Google Shape;68;p11">
            <a:extLst>
              <a:ext uri="{FF2B5EF4-FFF2-40B4-BE49-F238E27FC236}">
                <a16:creationId xmlns:a16="http://schemas.microsoft.com/office/drawing/2014/main" id="{AFEC4A3A-AD80-8DA0-1545-9AC6D4DD9CA8}"/>
              </a:ext>
            </a:extLst>
          </p:cNvPr>
          <p:cNvSpPr txBox="1">
            <a:spLocks/>
          </p:cNvSpPr>
          <p:nvPr/>
        </p:nvSpPr>
        <p:spPr>
          <a:xfrm>
            <a:off x="886500" y="2281050"/>
            <a:ext cx="7371000" cy="5814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F2950"/>
              </a:buClr>
              <a:buSzPts val="3200"/>
              <a:buFont typeface="HiraKakuPro-W3"/>
              <a:buNone/>
              <a:defRPr sz="3200" b="0" i="0" u="none" strike="noStrike" cap="none">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marR="0" lvl="1"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2pPr>
            <a:lvl3pPr marR="0" lvl="2"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3pPr>
            <a:lvl4pPr marR="0" lvl="3"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4pPr>
            <a:lvl5pPr marR="0" lvl="4"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5pPr>
            <a:lvl6pPr marR="0" lvl="5"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6pPr>
            <a:lvl7pPr marR="0" lvl="6"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7pPr>
            <a:lvl8pPr marR="0" lvl="7"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8pPr>
            <a:lvl9pPr marR="0" lvl="8" algn="ctr" rtl="0">
              <a:lnSpc>
                <a:spcPct val="100000"/>
              </a:lnSpc>
              <a:spcBef>
                <a:spcPts val="0"/>
              </a:spcBef>
              <a:spcAft>
                <a:spcPts val="0"/>
              </a:spcAft>
              <a:buClr>
                <a:schemeClr val="dk1"/>
              </a:buClr>
              <a:buSzPts val="5200"/>
              <a:buFont typeface="HiraKakuPro-W3"/>
              <a:buNone/>
              <a:defRPr sz="5200" b="0" i="0" u="none" strike="noStrike" cap="none">
                <a:solidFill>
                  <a:schemeClr val="dk1"/>
                </a:solidFill>
                <a:latin typeface="HiraKakuPro-W3"/>
                <a:ea typeface="HiraKakuPro-W3"/>
                <a:cs typeface="HiraKakuPro-W3"/>
                <a:sym typeface="HiraKakuPro-W3"/>
              </a:defRPr>
            </a:lvl9pPr>
          </a:lstStyle>
          <a:p>
            <a:r>
              <a:rPr lang="en" altLang="ja-JP"/>
              <a:t>SEO</a:t>
            </a:r>
            <a:r>
              <a:rPr lang="ja-JP" altLang="en-US"/>
              <a:t>対策ツールによる分析</a:t>
            </a:r>
          </a:p>
        </p:txBody>
      </p:sp>
      <p:sp>
        <p:nvSpPr>
          <p:cNvPr id="5" name="Google Shape;69;p11">
            <a:extLst>
              <a:ext uri="{FF2B5EF4-FFF2-40B4-BE49-F238E27FC236}">
                <a16:creationId xmlns:a16="http://schemas.microsoft.com/office/drawing/2014/main" id="{650374D0-11D8-D948-D11B-FFCADF84A549}"/>
              </a:ext>
            </a:extLst>
          </p:cNvPr>
          <p:cNvSpPr txBox="1">
            <a:spLocks noGrp="1"/>
          </p:cNvSpPr>
          <p:nvPr>
            <p:ph type="subTitle" idx="1"/>
          </p:nvPr>
        </p:nvSpPr>
        <p:spPr>
          <a:xfrm>
            <a:off x="886500" y="1918505"/>
            <a:ext cx="7371000" cy="291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維持管理等に関する報告</a:t>
            </a:r>
            <a:endParaRPr/>
          </a:p>
        </p:txBody>
      </p:sp>
    </p:spTree>
    <p:extLst>
      <p:ext uri="{BB962C8B-B14F-4D97-AF65-F5344CB8AC3E}">
        <p14:creationId xmlns:p14="http://schemas.microsoft.com/office/powerpoint/2010/main" val="696586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4097" name="Picture 1">
            <a:extLst>
              <a:ext uri="{FF2B5EF4-FFF2-40B4-BE49-F238E27FC236}">
                <a16:creationId xmlns:a16="http://schemas.microsoft.com/office/drawing/2014/main" id="{FE5D4538-0B4A-EE69-2878-0CE207E13D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5804" y="2095679"/>
            <a:ext cx="3999596" cy="2478155"/>
          </a:xfrm>
          <a:prstGeom prst="rect">
            <a:avLst/>
          </a:prstGeom>
          <a:noFill/>
          <a:extLst>
            <a:ext uri="{909E8E84-426E-40DD-AFC4-6F175D3DCCD1}">
              <a14:hiddenFill xmlns:a14="http://schemas.microsoft.com/office/drawing/2010/main">
                <a:solidFill>
                  <a:srgbClr val="FFFFFF"/>
                </a:solidFill>
              </a14:hiddenFill>
            </a:ext>
          </a:extLst>
        </p:spPr>
      </p:pic>
      <p:sp>
        <p:nvSpPr>
          <p:cNvPr id="14" name="Google Shape;13;p2">
            <a:extLst>
              <a:ext uri="{FF2B5EF4-FFF2-40B4-BE49-F238E27FC236}">
                <a16:creationId xmlns:a16="http://schemas.microsoft.com/office/drawing/2014/main" id="{E011C4F9-B10D-8D48-BE15-F5E56F4BC702}"/>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20</a:t>
            </a:fld>
            <a:endParaRPr lang="ja" altLang="en-US">
              <a:solidFill>
                <a:srgbClr val="4E5F7A"/>
              </a:solidFill>
            </a:endParaRPr>
          </a:p>
        </p:txBody>
      </p:sp>
      <p:sp>
        <p:nvSpPr>
          <p:cNvPr id="16" name="Google Shape;125;p15">
            <a:extLst>
              <a:ext uri="{FF2B5EF4-FFF2-40B4-BE49-F238E27FC236}">
                <a16:creationId xmlns:a16="http://schemas.microsoft.com/office/drawing/2014/main" id="{EB3BD93D-D714-C541-9DC9-0008DFD9DCA4}"/>
              </a:ext>
            </a:extLst>
          </p:cNvPr>
          <p:cNvSpPr txBox="1">
            <a:spLocks/>
          </p:cNvSpPr>
          <p:nvPr/>
        </p:nvSpPr>
        <p:spPr>
          <a:xfrm>
            <a:off x="228600" y="57150"/>
            <a:ext cx="6562800" cy="526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F2950"/>
              </a:buClr>
              <a:buSzPts val="1400"/>
              <a:buFont typeface="HiraKakuPro-W3"/>
              <a:buNone/>
              <a:defRPr sz="1400" b="0" i="0" u="none" strike="noStrike" cap="none">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marR="0" lvl="1"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2pPr>
            <a:lvl3pPr marR="0" lvl="2"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3pPr>
            <a:lvl4pPr marR="0" lvl="3"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4pPr>
            <a:lvl5pPr marR="0" lvl="4"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5pPr>
            <a:lvl6pPr marR="0" lvl="5"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6pPr>
            <a:lvl7pPr marR="0" lvl="6"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7pPr>
            <a:lvl8pPr marR="0" lvl="7"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8pPr>
            <a:lvl9pPr marR="0" lvl="8"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9pPr>
          </a:lstStyle>
          <a:p>
            <a:r>
              <a:rPr lang="en-US" altLang="ja-JP" err="1">
                <a:solidFill>
                  <a:schemeClr val="tx1"/>
                </a:solidFill>
              </a:rPr>
              <a:t>PageSpeed</a:t>
            </a:r>
            <a:r>
              <a:rPr lang="en-US" altLang="ja-JP">
                <a:solidFill>
                  <a:schemeClr val="tx1"/>
                </a:solidFill>
              </a:rPr>
              <a:t> Insights</a:t>
            </a:r>
            <a:r>
              <a:rPr lang="ja-JP" altLang="en-US">
                <a:solidFill>
                  <a:schemeClr val="tx1"/>
                </a:solidFill>
              </a:rPr>
              <a:t>の指標改善</a:t>
            </a:r>
          </a:p>
        </p:txBody>
      </p:sp>
      <p:sp>
        <p:nvSpPr>
          <p:cNvPr id="5" name="Google Shape;114;p14">
            <a:extLst>
              <a:ext uri="{FF2B5EF4-FFF2-40B4-BE49-F238E27FC236}">
                <a16:creationId xmlns:a16="http://schemas.microsoft.com/office/drawing/2014/main" id="{8EC4C286-FDC2-F325-84EF-51FB469E2D5A}"/>
              </a:ext>
            </a:extLst>
          </p:cNvPr>
          <p:cNvSpPr txBox="1"/>
          <p:nvPr/>
        </p:nvSpPr>
        <p:spPr>
          <a:xfrm>
            <a:off x="228600" y="706449"/>
            <a:ext cx="8476679" cy="173124"/>
          </a:xfrm>
          <a:prstGeom prst="rect">
            <a:avLst/>
          </a:prstGeom>
          <a:noFill/>
          <a:ln>
            <a:noFill/>
          </a:ln>
        </p:spPr>
        <p:txBody>
          <a:bodyPr spcFirstLastPara="1" wrap="square" lIns="0" tIns="0" rIns="0" bIns="0" anchor="t" anchorCtr="0">
            <a:spAutoFit/>
          </a:bodyPr>
          <a:lstStyle/>
          <a:p>
            <a:pPr>
              <a:lnSpc>
                <a:spcPct val="125000"/>
              </a:lnSpc>
            </a:pPr>
            <a:r>
              <a:rPr lang="ja-JP" altLang="en-US" sz="900">
                <a:solidFill>
                  <a:schemeClr val="tx1">
                    <a:lumMod val="85000"/>
                    <a:lumOff val="15000"/>
                  </a:schemeClr>
                </a:solidFill>
                <a:latin typeface="Meiryo UI" panose="020B0604030504040204" pitchFamily="34" charset="-128"/>
                <a:ea typeface="Meiryo UI" panose="020B0604030504040204" pitchFamily="34" charset="-128"/>
              </a:rPr>
              <a:t>スコア一覧（トップページ</a:t>
            </a:r>
            <a:r>
              <a:rPr lang="en-US" altLang="ja-JP" sz="900">
                <a:solidFill>
                  <a:schemeClr val="tx1">
                    <a:lumMod val="85000"/>
                    <a:lumOff val="15000"/>
                  </a:schemeClr>
                </a:solidFill>
                <a:latin typeface="Meiryo UI" panose="020B0604030504040204" pitchFamily="34" charset="-128"/>
                <a:ea typeface="Meiryo UI" panose="020B0604030504040204" pitchFamily="34" charset="-128"/>
              </a:rPr>
              <a:t>〜</a:t>
            </a:r>
            <a:r>
              <a:rPr lang="ja-JP" altLang="en-US" sz="900">
                <a:solidFill>
                  <a:schemeClr val="tx1">
                    <a:lumMod val="85000"/>
                    <a:lumOff val="15000"/>
                  </a:schemeClr>
                </a:solidFill>
                <a:latin typeface="Meiryo UI" panose="020B0604030504040204" pitchFamily="34" charset="-128"/>
                <a:ea typeface="Meiryo UI" panose="020B0604030504040204" pitchFamily="34" charset="-128"/>
              </a:rPr>
              <a:t>第２階層）</a:t>
            </a:r>
            <a:endParaRPr lang="en-US" altLang="ja-JP" sz="900">
              <a:solidFill>
                <a:schemeClr val="tx1">
                  <a:lumMod val="85000"/>
                  <a:lumOff val="15000"/>
                </a:schemeClr>
              </a:solidFill>
              <a:latin typeface="Meiryo UI" panose="020B0604030504040204" pitchFamily="34" charset="-128"/>
              <a:ea typeface="Meiryo UI" panose="020B0604030504040204" pitchFamily="34" charset="-128"/>
            </a:endParaRPr>
          </a:p>
        </p:txBody>
      </p:sp>
      <p:sp>
        <p:nvSpPr>
          <p:cNvPr id="7" name="Google Shape;114;p14">
            <a:extLst>
              <a:ext uri="{FF2B5EF4-FFF2-40B4-BE49-F238E27FC236}">
                <a16:creationId xmlns:a16="http://schemas.microsoft.com/office/drawing/2014/main" id="{85015E3B-AFF2-F897-C00E-DD8BC9119D39}"/>
              </a:ext>
            </a:extLst>
          </p:cNvPr>
          <p:cNvSpPr txBox="1"/>
          <p:nvPr/>
        </p:nvSpPr>
        <p:spPr>
          <a:xfrm>
            <a:off x="228600" y="4590329"/>
            <a:ext cx="3645483" cy="153888"/>
          </a:xfrm>
          <a:prstGeom prst="rect">
            <a:avLst/>
          </a:prstGeom>
          <a:noFill/>
          <a:ln>
            <a:noFill/>
          </a:ln>
        </p:spPr>
        <p:txBody>
          <a:bodyPr spcFirstLastPara="1" wrap="square" lIns="0" tIns="0" rIns="0" bIns="0" anchor="t" anchorCtr="0">
            <a:spAutoFit/>
          </a:bodyPr>
          <a:lstStyle/>
          <a:p>
            <a:pPr>
              <a:lnSpc>
                <a:spcPct val="125000"/>
              </a:lnSpc>
            </a:pPr>
            <a:r>
              <a:rPr lang="en-US" altLang="ja-JP" sz="800">
                <a:solidFill>
                  <a:schemeClr val="bg2"/>
                </a:solidFill>
                <a:latin typeface="Meiryo UI" panose="020B0604030504040204" pitchFamily="34" charset="-128"/>
                <a:ea typeface="Meiryo UI" panose="020B0604030504040204" pitchFamily="34" charset="-128"/>
              </a:rPr>
              <a:t>※</a:t>
            </a:r>
            <a:r>
              <a:rPr lang="ja-JP" altLang="en-US" sz="800">
                <a:solidFill>
                  <a:schemeClr val="bg2"/>
                </a:solidFill>
                <a:latin typeface="Meiryo UI" panose="020B0604030504040204" pitchFamily="34" charset="-128"/>
                <a:ea typeface="Meiryo UI" panose="020B0604030504040204" pitchFamily="34" charset="-128"/>
              </a:rPr>
              <a:t>スコアは算出日から過去</a:t>
            </a:r>
            <a:r>
              <a:rPr lang="en-US" altLang="ja-JP" sz="800">
                <a:solidFill>
                  <a:schemeClr val="bg2"/>
                </a:solidFill>
                <a:latin typeface="Meiryo UI" panose="020B0604030504040204" pitchFamily="34" charset="-128"/>
                <a:ea typeface="Meiryo UI" panose="020B0604030504040204" pitchFamily="34" charset="-128"/>
              </a:rPr>
              <a:t>28</a:t>
            </a:r>
            <a:r>
              <a:rPr lang="ja-JP" altLang="en-US" sz="800">
                <a:solidFill>
                  <a:schemeClr val="bg2"/>
                </a:solidFill>
                <a:latin typeface="Meiryo UI" panose="020B0604030504040204" pitchFamily="34" charset="-128"/>
                <a:ea typeface="Meiryo UI" panose="020B0604030504040204" pitchFamily="34" charset="-128"/>
              </a:rPr>
              <a:t>日間の集計データをもとに算出される</a:t>
            </a:r>
            <a:endParaRPr lang="en-US" altLang="ja-JP" sz="800">
              <a:solidFill>
                <a:schemeClr val="bg2"/>
              </a:solidFill>
              <a:latin typeface="Meiryo UI" panose="020B0604030504040204" pitchFamily="34" charset="-128"/>
              <a:ea typeface="Meiryo UI" panose="020B0604030504040204" pitchFamily="34" charset="-128"/>
            </a:endParaRPr>
          </a:p>
        </p:txBody>
      </p:sp>
      <p:sp>
        <p:nvSpPr>
          <p:cNvPr id="4" name="Google Shape;114;p14">
            <a:extLst>
              <a:ext uri="{FF2B5EF4-FFF2-40B4-BE49-F238E27FC236}">
                <a16:creationId xmlns:a16="http://schemas.microsoft.com/office/drawing/2014/main" id="{84F53950-9797-42A2-F0A3-8C698EB5F1B9}"/>
              </a:ext>
            </a:extLst>
          </p:cNvPr>
          <p:cNvSpPr txBox="1"/>
          <p:nvPr/>
        </p:nvSpPr>
        <p:spPr>
          <a:xfrm>
            <a:off x="4915804" y="1371299"/>
            <a:ext cx="3682301" cy="553998"/>
          </a:xfrm>
          <a:prstGeom prst="rect">
            <a:avLst/>
          </a:prstGeom>
          <a:noFill/>
          <a:ln>
            <a:noFill/>
          </a:ln>
        </p:spPr>
        <p:txBody>
          <a:bodyPr spcFirstLastPara="1" wrap="square" lIns="0" tIns="0" rIns="0" bIns="0" anchor="t" anchorCtr="0">
            <a:spAutoFit/>
          </a:bodyPr>
          <a:lstStyle/>
          <a:p>
            <a:pPr marL="171450" indent="-171450">
              <a:lnSpc>
                <a:spcPct val="150000"/>
              </a:lnSpc>
              <a:buSzPct val="124000"/>
              <a:buFont typeface="Wingdings" pitchFamily="2" charset="2"/>
              <a:buChar char="l"/>
            </a:pPr>
            <a:r>
              <a:rPr lang="ja-JP" altLang="en-US" sz="800">
                <a:solidFill>
                  <a:schemeClr val="bg2"/>
                </a:solidFill>
                <a:latin typeface="Meiryo UI" panose="020B0604030504040204" pitchFamily="34" charset="-128"/>
                <a:ea typeface="Meiryo UI" panose="020B0604030504040204" pitchFamily="34" charset="-128"/>
              </a:rPr>
              <a:t>今月のモバイル平均は</a:t>
            </a:r>
            <a:r>
              <a:rPr lang="en-US" altLang="ja-JP" sz="800">
                <a:solidFill>
                  <a:schemeClr val="bg2"/>
                </a:solidFill>
                <a:latin typeface="Meiryo UI" panose="020B0604030504040204" pitchFamily="34" charset="-128"/>
                <a:ea typeface="Meiryo UI" panose="020B0604030504040204" pitchFamily="34" charset="-128"/>
              </a:rPr>
              <a:t>53.3</a:t>
            </a:r>
            <a:r>
              <a:rPr lang="ja-JP" altLang="en-US" sz="800">
                <a:solidFill>
                  <a:schemeClr val="bg2"/>
                </a:solidFill>
                <a:latin typeface="Meiryo UI" panose="020B0604030504040204" pitchFamily="34" charset="-128"/>
                <a:ea typeface="Meiryo UI" panose="020B0604030504040204" pitchFamily="34" charset="-128"/>
              </a:rPr>
              <a:t>、先月のモバイル平均は</a:t>
            </a:r>
            <a:r>
              <a:rPr lang="en-US" altLang="ja-JP" sz="800">
                <a:solidFill>
                  <a:schemeClr val="bg2"/>
                </a:solidFill>
                <a:latin typeface="Meiryo UI" panose="020B0604030504040204" pitchFamily="34" charset="-128"/>
                <a:ea typeface="Meiryo UI" panose="020B0604030504040204" pitchFamily="34" charset="-128"/>
              </a:rPr>
              <a:t>56.9</a:t>
            </a:r>
            <a:r>
              <a:rPr lang="ja-JP" altLang="en-US" sz="800">
                <a:solidFill>
                  <a:schemeClr val="bg2"/>
                </a:solidFill>
                <a:latin typeface="Meiryo UI" panose="020B0604030504040204" pitchFamily="34" charset="-128"/>
                <a:ea typeface="Meiryo UI" panose="020B0604030504040204" pitchFamily="34" charset="-128"/>
              </a:rPr>
              <a:t>のため</a:t>
            </a:r>
            <a:r>
              <a:rPr lang="en-US" altLang="ja-JP" sz="800">
                <a:solidFill>
                  <a:schemeClr val="bg2"/>
                </a:solidFill>
                <a:latin typeface="Meiryo UI" panose="020B0604030504040204" pitchFamily="34" charset="-128"/>
                <a:ea typeface="Meiryo UI" panose="020B0604030504040204" pitchFamily="34" charset="-128"/>
              </a:rPr>
              <a:t>-3.56</a:t>
            </a:r>
            <a:r>
              <a:rPr lang="ja-JP" altLang="en-US" sz="800">
                <a:solidFill>
                  <a:schemeClr val="bg2"/>
                </a:solidFill>
                <a:latin typeface="Meiryo UI" panose="020B0604030504040204" pitchFamily="34" charset="-128"/>
                <a:ea typeface="Meiryo UI" panose="020B0604030504040204" pitchFamily="34" charset="-128"/>
              </a:rPr>
              <a:t>ポイント減少した</a:t>
            </a:r>
          </a:p>
          <a:p>
            <a:pPr marL="171450" indent="-171450">
              <a:lnSpc>
                <a:spcPct val="150000"/>
              </a:lnSpc>
              <a:buSzPct val="124000"/>
              <a:buFont typeface="Wingdings" pitchFamily="2" charset="2"/>
              <a:buChar char="l"/>
            </a:pPr>
            <a:r>
              <a:rPr lang="ja-JP" altLang="en-US" sz="800">
                <a:solidFill>
                  <a:schemeClr val="bg2"/>
                </a:solidFill>
                <a:latin typeface="Meiryo UI" panose="020B0604030504040204" pitchFamily="34" charset="-128"/>
                <a:ea typeface="Meiryo UI" panose="020B0604030504040204" pitchFamily="34" charset="-128"/>
              </a:rPr>
              <a:t>今月の</a:t>
            </a:r>
            <a:r>
              <a:rPr lang="en" altLang="ja-JP" sz="800">
                <a:solidFill>
                  <a:schemeClr val="bg2"/>
                </a:solidFill>
                <a:latin typeface="Meiryo UI" panose="020B0604030504040204" pitchFamily="34" charset="-128"/>
                <a:ea typeface="Meiryo UI" panose="020B0604030504040204" pitchFamily="34" charset="-128"/>
              </a:rPr>
              <a:t>PC</a:t>
            </a:r>
            <a:r>
              <a:rPr lang="ja-JP" altLang="en-US" sz="800">
                <a:solidFill>
                  <a:schemeClr val="bg2"/>
                </a:solidFill>
                <a:latin typeface="Meiryo UI" panose="020B0604030504040204" pitchFamily="34" charset="-128"/>
                <a:ea typeface="Meiryo UI" panose="020B0604030504040204" pitchFamily="34" charset="-128"/>
              </a:rPr>
              <a:t>平均は</a:t>
            </a:r>
            <a:r>
              <a:rPr lang="en-US" altLang="ja-JP" sz="800">
                <a:solidFill>
                  <a:schemeClr val="bg2"/>
                </a:solidFill>
                <a:latin typeface="Meiryo UI" panose="020B0604030504040204" pitchFamily="34" charset="-128"/>
                <a:ea typeface="Meiryo UI" panose="020B0604030504040204" pitchFamily="34" charset="-128"/>
              </a:rPr>
              <a:t>80.7</a:t>
            </a:r>
            <a:r>
              <a:rPr lang="ja-JP" altLang="en-US" sz="800">
                <a:solidFill>
                  <a:schemeClr val="bg2"/>
                </a:solidFill>
                <a:latin typeface="Meiryo UI" panose="020B0604030504040204" pitchFamily="34" charset="-128"/>
                <a:ea typeface="Meiryo UI" panose="020B0604030504040204" pitchFamily="34" charset="-128"/>
              </a:rPr>
              <a:t>、先月の</a:t>
            </a:r>
            <a:r>
              <a:rPr lang="en" altLang="ja-JP" sz="800">
                <a:solidFill>
                  <a:schemeClr val="bg2"/>
                </a:solidFill>
                <a:latin typeface="Meiryo UI" panose="020B0604030504040204" pitchFamily="34" charset="-128"/>
                <a:ea typeface="Meiryo UI" panose="020B0604030504040204" pitchFamily="34" charset="-128"/>
              </a:rPr>
              <a:t>PC</a:t>
            </a:r>
            <a:r>
              <a:rPr lang="ja-JP" altLang="en-US" sz="800">
                <a:solidFill>
                  <a:schemeClr val="bg2"/>
                </a:solidFill>
                <a:latin typeface="Meiryo UI" panose="020B0604030504040204" pitchFamily="34" charset="-128"/>
                <a:ea typeface="Meiryo UI" panose="020B0604030504040204" pitchFamily="34" charset="-128"/>
              </a:rPr>
              <a:t>平均は</a:t>
            </a:r>
            <a:r>
              <a:rPr lang="en-US" altLang="ja-JP" sz="800">
                <a:solidFill>
                  <a:schemeClr val="bg2"/>
                </a:solidFill>
                <a:latin typeface="Meiryo UI" panose="020B0604030504040204" pitchFamily="34" charset="-128"/>
                <a:ea typeface="Meiryo UI" panose="020B0604030504040204" pitchFamily="34" charset="-128"/>
              </a:rPr>
              <a:t>80.4</a:t>
            </a:r>
            <a:r>
              <a:rPr lang="ja-JP" altLang="en-US" sz="800">
                <a:solidFill>
                  <a:schemeClr val="bg2"/>
                </a:solidFill>
                <a:latin typeface="Meiryo UI" panose="020B0604030504040204" pitchFamily="34" charset="-128"/>
                <a:ea typeface="Meiryo UI" panose="020B0604030504040204" pitchFamily="34" charset="-128"/>
              </a:rPr>
              <a:t>のため</a:t>
            </a:r>
            <a:r>
              <a:rPr lang="en-US" altLang="ja-JP" sz="800">
                <a:solidFill>
                  <a:schemeClr val="bg2"/>
                </a:solidFill>
                <a:latin typeface="Meiryo UI" panose="020B0604030504040204" pitchFamily="34" charset="-128"/>
                <a:ea typeface="Meiryo UI" panose="020B0604030504040204" pitchFamily="34" charset="-128"/>
              </a:rPr>
              <a:t>0.22</a:t>
            </a:r>
            <a:r>
              <a:rPr lang="ja-JP" altLang="en-US" sz="800">
                <a:solidFill>
                  <a:schemeClr val="bg2"/>
                </a:solidFill>
                <a:latin typeface="Meiryo UI" panose="020B0604030504040204" pitchFamily="34" charset="-128"/>
                <a:ea typeface="Meiryo UI" panose="020B0604030504040204" pitchFamily="34" charset="-128"/>
              </a:rPr>
              <a:t>ポイント増加した</a:t>
            </a:r>
          </a:p>
          <a:p>
            <a:pPr marL="171450" indent="-171450">
              <a:lnSpc>
                <a:spcPct val="150000"/>
              </a:lnSpc>
              <a:buSzPct val="124000"/>
              <a:buFont typeface="Wingdings" pitchFamily="2" charset="2"/>
              <a:buChar char="l"/>
            </a:pPr>
            <a:r>
              <a:rPr lang="ja-JP" altLang="en-US" sz="800">
                <a:solidFill>
                  <a:schemeClr val="bg2"/>
                </a:solidFill>
                <a:latin typeface="Meiryo UI" panose="020B0604030504040204" pitchFamily="34" charset="-128"/>
                <a:ea typeface="Meiryo UI" panose="020B0604030504040204" pitchFamily="34" charset="-128"/>
              </a:rPr>
              <a:t>今月の全体平均は</a:t>
            </a:r>
            <a:r>
              <a:rPr lang="en-US" altLang="ja-JP" sz="800">
                <a:solidFill>
                  <a:schemeClr val="bg2"/>
                </a:solidFill>
                <a:latin typeface="Meiryo UI" panose="020B0604030504040204" pitchFamily="34" charset="-128"/>
                <a:ea typeface="Meiryo UI" panose="020B0604030504040204" pitchFamily="34" charset="-128"/>
              </a:rPr>
              <a:t>67.0</a:t>
            </a:r>
            <a:r>
              <a:rPr lang="ja-JP" altLang="en-US" sz="800">
                <a:solidFill>
                  <a:schemeClr val="bg2"/>
                </a:solidFill>
                <a:latin typeface="Meiryo UI" panose="020B0604030504040204" pitchFamily="34" charset="-128"/>
                <a:ea typeface="Meiryo UI" panose="020B0604030504040204" pitchFamily="34" charset="-128"/>
              </a:rPr>
              <a:t>、先月の全体平均は</a:t>
            </a:r>
            <a:r>
              <a:rPr lang="en-US" altLang="ja-JP" sz="800">
                <a:solidFill>
                  <a:schemeClr val="bg2"/>
                </a:solidFill>
                <a:latin typeface="Meiryo UI" panose="020B0604030504040204" pitchFamily="34" charset="-128"/>
                <a:ea typeface="Meiryo UI" panose="020B0604030504040204" pitchFamily="34" charset="-128"/>
              </a:rPr>
              <a:t>68.7</a:t>
            </a:r>
            <a:r>
              <a:rPr lang="ja-JP" altLang="en-US" sz="800">
                <a:solidFill>
                  <a:schemeClr val="bg2"/>
                </a:solidFill>
                <a:latin typeface="Meiryo UI" panose="020B0604030504040204" pitchFamily="34" charset="-128"/>
                <a:ea typeface="Meiryo UI" panose="020B0604030504040204" pitchFamily="34" charset="-128"/>
              </a:rPr>
              <a:t>のため</a:t>
            </a:r>
            <a:r>
              <a:rPr lang="en-US" altLang="ja-JP" sz="800">
                <a:solidFill>
                  <a:schemeClr val="bg2"/>
                </a:solidFill>
                <a:latin typeface="Meiryo UI" panose="020B0604030504040204" pitchFamily="34" charset="-128"/>
                <a:ea typeface="Meiryo UI" panose="020B0604030504040204" pitchFamily="34" charset="-128"/>
              </a:rPr>
              <a:t>-1.67</a:t>
            </a:r>
            <a:r>
              <a:rPr lang="ja-JP" altLang="en-US" sz="800">
                <a:solidFill>
                  <a:schemeClr val="bg2"/>
                </a:solidFill>
                <a:latin typeface="Meiryo UI" panose="020B0604030504040204" pitchFamily="34" charset="-128"/>
                <a:ea typeface="Meiryo UI" panose="020B0604030504040204" pitchFamily="34" charset="-128"/>
              </a:rPr>
              <a:t>ポイント減少した</a:t>
            </a:r>
          </a:p>
        </p:txBody>
      </p:sp>
      <p:sp>
        <p:nvSpPr>
          <p:cNvPr id="10" name="正方形/長方形 9">
            <a:extLst>
              <a:ext uri="{FF2B5EF4-FFF2-40B4-BE49-F238E27FC236}">
                <a16:creationId xmlns:a16="http://schemas.microsoft.com/office/drawing/2014/main" id="{54044E27-7DE4-0A42-D4E8-308EBA84082D}"/>
              </a:ext>
            </a:extLst>
          </p:cNvPr>
          <p:cNvSpPr/>
          <p:nvPr/>
        </p:nvSpPr>
        <p:spPr>
          <a:xfrm>
            <a:off x="8447983" y="2417023"/>
            <a:ext cx="355736" cy="1793902"/>
          </a:xfrm>
          <a:prstGeom prst="rect">
            <a:avLst/>
          </a:prstGeom>
          <a:solidFill>
            <a:srgbClr val="FF40FF">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aphicFrame>
        <p:nvGraphicFramePr>
          <p:cNvPr id="9" name="表 8">
            <a:extLst>
              <a:ext uri="{FF2B5EF4-FFF2-40B4-BE49-F238E27FC236}">
                <a16:creationId xmlns:a16="http://schemas.microsoft.com/office/drawing/2014/main" id="{4A2A6BCE-7948-FEB7-FB13-C4EF8438E73E}"/>
              </a:ext>
            </a:extLst>
          </p:cNvPr>
          <p:cNvGraphicFramePr>
            <a:graphicFrameLocks noGrp="1"/>
          </p:cNvGraphicFramePr>
          <p:nvPr>
            <p:extLst>
              <p:ext uri="{D42A27DB-BD31-4B8C-83A1-F6EECF244321}">
                <p14:modId xmlns:p14="http://schemas.microsoft.com/office/powerpoint/2010/main" val="23193111"/>
              </p:ext>
            </p:extLst>
          </p:nvPr>
        </p:nvGraphicFramePr>
        <p:xfrm>
          <a:off x="332914" y="944367"/>
          <a:ext cx="4344786" cy="3416305"/>
        </p:xfrm>
        <a:graphic>
          <a:graphicData uri="http://schemas.openxmlformats.org/drawingml/2006/table">
            <a:tbl>
              <a:tblPr/>
              <a:tblGrid>
                <a:gridCol w="922324">
                  <a:extLst>
                    <a:ext uri="{9D8B030D-6E8A-4147-A177-3AD203B41FA5}">
                      <a16:colId xmlns:a16="http://schemas.microsoft.com/office/drawing/2014/main" val="2497345948"/>
                    </a:ext>
                  </a:extLst>
                </a:gridCol>
                <a:gridCol w="464062">
                  <a:extLst>
                    <a:ext uri="{9D8B030D-6E8A-4147-A177-3AD203B41FA5}">
                      <a16:colId xmlns:a16="http://schemas.microsoft.com/office/drawing/2014/main" val="2190616960"/>
                    </a:ext>
                  </a:extLst>
                </a:gridCol>
                <a:gridCol w="295840">
                  <a:extLst>
                    <a:ext uri="{9D8B030D-6E8A-4147-A177-3AD203B41FA5}">
                      <a16:colId xmlns:a16="http://schemas.microsoft.com/office/drawing/2014/main" val="55753877"/>
                    </a:ext>
                  </a:extLst>
                </a:gridCol>
                <a:gridCol w="295840">
                  <a:extLst>
                    <a:ext uri="{9D8B030D-6E8A-4147-A177-3AD203B41FA5}">
                      <a16:colId xmlns:a16="http://schemas.microsoft.com/office/drawing/2014/main" val="3405689741"/>
                    </a:ext>
                  </a:extLst>
                </a:gridCol>
                <a:gridCol w="295840">
                  <a:extLst>
                    <a:ext uri="{9D8B030D-6E8A-4147-A177-3AD203B41FA5}">
                      <a16:colId xmlns:a16="http://schemas.microsoft.com/office/drawing/2014/main" val="649946963"/>
                    </a:ext>
                  </a:extLst>
                </a:gridCol>
                <a:gridCol w="295840">
                  <a:extLst>
                    <a:ext uri="{9D8B030D-6E8A-4147-A177-3AD203B41FA5}">
                      <a16:colId xmlns:a16="http://schemas.microsoft.com/office/drawing/2014/main" val="4241186313"/>
                    </a:ext>
                  </a:extLst>
                </a:gridCol>
                <a:gridCol w="295840">
                  <a:extLst>
                    <a:ext uri="{9D8B030D-6E8A-4147-A177-3AD203B41FA5}">
                      <a16:colId xmlns:a16="http://schemas.microsoft.com/office/drawing/2014/main" val="2279929854"/>
                    </a:ext>
                  </a:extLst>
                </a:gridCol>
                <a:gridCol w="295840">
                  <a:extLst>
                    <a:ext uri="{9D8B030D-6E8A-4147-A177-3AD203B41FA5}">
                      <a16:colId xmlns:a16="http://schemas.microsoft.com/office/drawing/2014/main" val="3103150836"/>
                    </a:ext>
                  </a:extLst>
                </a:gridCol>
                <a:gridCol w="295840">
                  <a:extLst>
                    <a:ext uri="{9D8B030D-6E8A-4147-A177-3AD203B41FA5}">
                      <a16:colId xmlns:a16="http://schemas.microsoft.com/office/drawing/2014/main" val="62229365"/>
                    </a:ext>
                  </a:extLst>
                </a:gridCol>
                <a:gridCol w="295840">
                  <a:extLst>
                    <a:ext uri="{9D8B030D-6E8A-4147-A177-3AD203B41FA5}">
                      <a16:colId xmlns:a16="http://schemas.microsoft.com/office/drawing/2014/main" val="568665956"/>
                    </a:ext>
                  </a:extLst>
                </a:gridCol>
                <a:gridCol w="295840">
                  <a:extLst>
                    <a:ext uri="{9D8B030D-6E8A-4147-A177-3AD203B41FA5}">
                      <a16:colId xmlns:a16="http://schemas.microsoft.com/office/drawing/2014/main" val="3201490254"/>
                    </a:ext>
                  </a:extLst>
                </a:gridCol>
                <a:gridCol w="295840">
                  <a:extLst>
                    <a:ext uri="{9D8B030D-6E8A-4147-A177-3AD203B41FA5}">
                      <a16:colId xmlns:a16="http://schemas.microsoft.com/office/drawing/2014/main" val="1736707523"/>
                    </a:ext>
                  </a:extLst>
                </a:gridCol>
              </a:tblGrid>
              <a:tr h="156551">
                <a:tc gridSpan="12">
                  <a:txBody>
                    <a:bodyPr/>
                    <a:lstStyle/>
                    <a:p>
                      <a:pPr algn="r" fontAlgn="b">
                        <a:buNone/>
                      </a:pPr>
                      <a:r>
                        <a:rPr lang="en-US" altLang="ja-JP" sz="600" b="0" i="0" u="none" strike="noStrike">
                          <a:solidFill>
                            <a:srgbClr val="CC0000"/>
                          </a:solidFill>
                          <a:effectLst/>
                          <a:latin typeface="Arial" panose="020B0604020202020204" pitchFamily="34" charset="0"/>
                        </a:rPr>
                        <a:t>0-49 </a:t>
                      </a:r>
                      <a:r>
                        <a:rPr lang="en-US" altLang="ja-JP" sz="600" b="0" i="0" u="none" strike="noStrike">
                          <a:solidFill>
                            <a:srgbClr val="000000"/>
                          </a:solidFill>
                          <a:effectLst/>
                          <a:latin typeface="Arial" panose="020B0604020202020204" pitchFamily="34" charset="0"/>
                        </a:rPr>
                        <a:t>/ </a:t>
                      </a:r>
                      <a:r>
                        <a:rPr lang="en-US" altLang="ja-JP" sz="600" b="0" i="0" u="none" strike="noStrike">
                          <a:solidFill>
                            <a:srgbClr val="E69138"/>
                          </a:solidFill>
                          <a:effectLst/>
                          <a:latin typeface="Arial" panose="020B0604020202020204" pitchFamily="34" charset="0"/>
                        </a:rPr>
                        <a:t>50-89 </a:t>
                      </a:r>
                      <a:r>
                        <a:rPr lang="en-US" altLang="ja-JP" sz="600" b="0" i="0" u="none" strike="noStrike">
                          <a:solidFill>
                            <a:srgbClr val="000000"/>
                          </a:solidFill>
                          <a:effectLst/>
                          <a:latin typeface="Arial" panose="020B0604020202020204" pitchFamily="34" charset="0"/>
                        </a:rPr>
                        <a:t>/ </a:t>
                      </a:r>
                      <a:r>
                        <a:rPr lang="en-US" altLang="ja-JP" sz="600" b="0" i="0" u="none" strike="noStrike">
                          <a:solidFill>
                            <a:srgbClr val="6AA84F"/>
                          </a:solidFill>
                          <a:effectLst/>
                          <a:latin typeface="Arial" panose="020B0604020202020204" pitchFamily="34" charset="0"/>
                        </a:rPr>
                        <a:t>90-100</a:t>
                      </a:r>
                      <a:endParaRPr lang="ja-JP" altLang="en-US" sz="600" b="0" i="0" u="none" strike="noStrike">
                        <a:solidFill>
                          <a:srgbClr val="000000"/>
                        </a:solidFill>
                        <a:effectLst/>
                        <a:latin typeface="Arial" panose="020B0604020202020204" pitchFamily="34" charset="0"/>
                      </a:endParaRPr>
                    </a:p>
                  </a:txBody>
                  <a:tcPr marL="5798" marR="5798" marT="5798" marB="27831" anchor="b">
                    <a:lnL w="6350" cap="flat" cmpd="sng" algn="ctr">
                      <a:solidFill>
                        <a:srgbClr val="FFFFFF"/>
                      </a:solidFill>
                      <a:prstDash val="solid"/>
                      <a:round/>
                      <a:headEnd type="none" w="med" len="med"/>
                      <a:tailEnd type="none" w="med" len="med"/>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19956040"/>
                  </a:ext>
                </a:extLst>
              </a:tr>
              <a:tr h="126401">
                <a:tc>
                  <a:txBody>
                    <a:bodyPr/>
                    <a:lstStyle/>
                    <a:p>
                      <a:pPr algn="ctr" fontAlgn="b">
                        <a:buNone/>
                      </a:pPr>
                      <a:r>
                        <a:rPr lang="ja-JP" altLang="en-US" sz="600" b="0" i="0" u="none" strike="noStrike">
                          <a:solidFill>
                            <a:srgbClr val="FFFFFF"/>
                          </a:solidFill>
                          <a:effectLst/>
                          <a:latin typeface="Arial" panose="020B0604020202020204" pitchFamily="34" charset="0"/>
                        </a:rPr>
                        <a:t>ページ</a:t>
                      </a:r>
                    </a:p>
                  </a:txBody>
                  <a:tcPr marL="5798" marR="5798" marT="5798" marB="27831" anchor="b">
                    <a:lnL>
                      <a:noFill/>
                    </a:lnL>
                    <a:lnR>
                      <a:noFill/>
                    </a:lnR>
                    <a:lnT>
                      <a:noFill/>
                    </a:lnT>
                    <a:lnB>
                      <a:noFill/>
                    </a:lnB>
                    <a:solidFill>
                      <a:srgbClr val="000000"/>
                    </a:solidFill>
                  </a:tcPr>
                </a:tc>
                <a:tc>
                  <a:txBody>
                    <a:bodyPr/>
                    <a:lstStyle/>
                    <a:p>
                      <a:pPr algn="ctr" fontAlgn="b">
                        <a:buNone/>
                      </a:pPr>
                      <a:r>
                        <a:rPr lang="ja-JP" altLang="en-US" sz="600" b="0" i="0" u="none" strike="noStrike">
                          <a:solidFill>
                            <a:srgbClr val="FFFFFF"/>
                          </a:solidFill>
                          <a:effectLst/>
                          <a:latin typeface="Arial" panose="020B0604020202020204" pitchFamily="34" charset="0"/>
                        </a:rPr>
                        <a:t>デバイス</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2/6</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3/4</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4/3</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5/2</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6/3</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7/1</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8/4</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9/1</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10/1</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11/5</a:t>
                      </a:r>
                    </a:p>
                  </a:txBody>
                  <a:tcPr marL="5798" marR="5798" marT="5798" marB="27831" anchor="b">
                    <a:lnL>
                      <a:noFill/>
                    </a:lnL>
                    <a:lnR>
                      <a:noFill/>
                    </a:lnR>
                    <a:lnT>
                      <a:noFill/>
                    </a:lnT>
                    <a:lnB>
                      <a:noFill/>
                    </a:lnB>
                    <a:solidFill>
                      <a:srgbClr val="000000"/>
                    </a:solidFill>
                  </a:tcPr>
                </a:tc>
                <a:extLst>
                  <a:ext uri="{0D108BD9-81ED-4DB2-BD59-A6C34878D82A}">
                    <a16:rowId xmlns:a16="http://schemas.microsoft.com/office/drawing/2014/main" val="520228461"/>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トップページ</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52</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66</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56</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55</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56</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53</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a:noFill/>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715996571"/>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73</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3000293764"/>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防衛省について</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62</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52</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CC0000"/>
                          </a:solidFill>
                          <a:effectLst/>
                          <a:latin typeface="Arial" panose="020B0604020202020204" pitchFamily="34" charset="0"/>
                        </a:rPr>
                        <a:t>45</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1196742333"/>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50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78</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3644164577"/>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最近の国際軍事情勢</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55</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56</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52</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53</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53</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51</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377598485"/>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CC0000"/>
                          </a:solidFill>
                          <a:effectLst/>
                          <a:latin typeface="Arial" panose="020B0604020202020204" pitchFamily="34" charset="0"/>
                        </a:rPr>
                        <a:t>49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6AA84F"/>
                          </a:solidFill>
                          <a:effectLst/>
                          <a:latin typeface="Arial" panose="020B0604020202020204" pitchFamily="34" charset="0"/>
                        </a:rPr>
                        <a:t>97</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75</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77</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76</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76</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CC0000"/>
                          </a:solidFill>
                          <a:effectLst/>
                          <a:latin typeface="Arial" panose="020B0604020202020204" pitchFamily="34" charset="0"/>
                        </a:rPr>
                        <a:t>44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78</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78</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2874526209"/>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防衛政策</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63</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51</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53</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93063254"/>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6AA84F"/>
                          </a:solidFill>
                          <a:effectLst/>
                          <a:latin typeface="Arial" panose="020B0604020202020204" pitchFamily="34" charset="0"/>
                        </a:rPr>
                        <a:t>95</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83</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142703403"/>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防衛省の取組</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56</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66</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CC0000"/>
                          </a:solidFill>
                          <a:effectLst/>
                          <a:latin typeface="Arial" panose="020B0604020202020204" pitchFamily="34" charset="0"/>
                        </a:rPr>
                        <a:t>45</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52</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4137582091"/>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6AA84F"/>
                          </a:solidFill>
                          <a:effectLst/>
                          <a:latin typeface="Arial" panose="020B0604020202020204" pitchFamily="34" charset="0"/>
                        </a:rPr>
                        <a:t>96</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75</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77</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77</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78</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76</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78</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78</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3755096124"/>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採用情報</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CC0000"/>
                          </a:solidFill>
                          <a:effectLst/>
                          <a:latin typeface="Arial" panose="020B0604020202020204" pitchFamily="34" charset="0"/>
                        </a:rPr>
                        <a:t>32</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64</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3149681178"/>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CC0000"/>
                          </a:solidFill>
                          <a:effectLst/>
                          <a:latin typeface="Arial" panose="020B0604020202020204" pitchFamily="34" charset="0"/>
                        </a:rPr>
                        <a:t>49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6AA84F"/>
                          </a:solidFill>
                          <a:effectLst/>
                          <a:latin typeface="Arial" panose="020B0604020202020204" pitchFamily="34" charset="0"/>
                        </a:rPr>
                        <a:t>95</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83</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68</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83</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2665175661"/>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報道・白書・広報イベント</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61</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53</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53</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2532322804"/>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79</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65</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960081414"/>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予算・調達</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76</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50</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CC0000"/>
                          </a:solidFill>
                          <a:effectLst/>
                          <a:latin typeface="Arial" panose="020B0604020202020204" pitchFamily="34" charset="0"/>
                        </a:rPr>
                        <a:t>46</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1931973309"/>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6AA84F"/>
                          </a:solidFill>
                          <a:effectLst/>
                          <a:latin typeface="Arial" panose="020B0604020202020204" pitchFamily="34" charset="0"/>
                        </a:rPr>
                        <a:t>95</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83</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83</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160665991"/>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法令・手続等</a:t>
                      </a:r>
                    </a:p>
                  </a:txBody>
                  <a:tcPr marL="5798" marR="5798" marT="5798" marB="27831" anchor="ctr">
                    <a:lnL>
                      <a:noFill/>
                    </a:lnL>
                    <a:lnR>
                      <a:noFill/>
                    </a:lnR>
                    <a:lnT>
                      <a:noFill/>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59</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54</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2601718244"/>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82</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83</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84</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85</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1433297344"/>
                  </a:ext>
                </a:extLst>
              </a:tr>
              <a:tr h="226130">
                <a:tc>
                  <a:txBody>
                    <a:bodyPr/>
                    <a:lstStyle/>
                    <a:p>
                      <a:pPr algn="l" fontAlgn="ctr">
                        <a:buNone/>
                      </a:pPr>
                      <a:r>
                        <a:rPr lang="ja-JP" altLang="en-US" sz="600" b="0" i="0" u="none" strike="noStrike">
                          <a:solidFill>
                            <a:srgbClr val="000000"/>
                          </a:solidFill>
                          <a:effectLst/>
                          <a:latin typeface="Arial" panose="020B0604020202020204" pitchFamily="34" charset="0"/>
                        </a:rPr>
                        <a:t>スコア平均</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D9E7FD"/>
                    </a:solidFill>
                  </a:tcPr>
                </a:tc>
                <a:tc>
                  <a:txBody>
                    <a:bodyPr/>
                    <a:lstStyle/>
                    <a:p>
                      <a:pPr algn="l" fontAlgn="ctr">
                        <a:buNone/>
                      </a:pPr>
                      <a:endParaRPr lang="ja-JP" altLang="en-US" sz="600" b="0" i="0" u="none" strike="noStrike">
                        <a:solidFill>
                          <a:srgbClr val="000000"/>
                        </a:solidFill>
                        <a:effectLst/>
                        <a:latin typeface="Arial" panose="020B0604020202020204" pitchFamily="34" charset="0"/>
                      </a:endParaRP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62</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75</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68</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68</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70</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66</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67</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67</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D9E7FD"/>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69</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67</a:t>
                      </a:r>
                    </a:p>
                  </a:txBody>
                  <a:tcPr marL="5798" marR="5798" marT="5798" marB="27831" anchor="ctr">
                    <a:lnL>
                      <a:noFill/>
                    </a:lnL>
                    <a:lnR>
                      <a:noFill/>
                    </a:lnR>
                    <a:lnT w="12700" cap="flat" cmpd="sng" algn="ctr">
                      <a:solidFill>
                        <a:srgbClr val="999999"/>
                      </a:solidFill>
                      <a:prstDash val="solid"/>
                      <a:round/>
                      <a:headEnd type="none" w="med" len="med"/>
                      <a:tailEnd type="none" w="med" len="med"/>
                    </a:lnT>
                    <a:lnB w="12700" cap="flat" cmpd="sng" algn="ctr">
                      <a:solidFill>
                        <a:srgbClr val="999999"/>
                      </a:solidFill>
                      <a:prstDash val="solid"/>
                      <a:round/>
                      <a:headEnd type="none" w="med" len="med"/>
                      <a:tailEnd type="none" w="med" len="med"/>
                    </a:lnB>
                    <a:solidFill>
                      <a:srgbClr val="CFE2F3"/>
                    </a:solidFill>
                  </a:tcPr>
                </a:tc>
                <a:extLst>
                  <a:ext uri="{0D108BD9-81ED-4DB2-BD59-A6C34878D82A}">
                    <a16:rowId xmlns:a16="http://schemas.microsoft.com/office/drawing/2014/main" val="770104086"/>
                  </a:ext>
                </a:extLst>
              </a:tr>
              <a:tr h="126401">
                <a:tc rowSpan="2">
                  <a:txBody>
                    <a:bodyPr/>
                    <a:lstStyle/>
                    <a:p>
                      <a:pPr algn="l" fontAlgn="ctr">
                        <a:buNone/>
                      </a:pPr>
                      <a:r>
                        <a:rPr lang="ja-JP" altLang="en-US" sz="600" b="0" i="0" u="none" strike="noStrike">
                          <a:solidFill>
                            <a:srgbClr val="000000"/>
                          </a:solidFill>
                          <a:effectLst/>
                          <a:latin typeface="Arial" panose="020B0604020202020204" pitchFamily="34" charset="0"/>
                        </a:rPr>
                        <a:t>キッズサイト</a:t>
                      </a:r>
                    </a:p>
                  </a:txBody>
                  <a:tcPr marL="5798" marR="5798" marT="5798" marB="27831" anchor="ctr">
                    <a:lnL>
                      <a:noFill/>
                    </a:lnL>
                    <a:lnR>
                      <a:noFill/>
                    </a:lnR>
                    <a:lnT w="12700" cap="flat" cmpd="sng" algn="ctr">
                      <a:solidFill>
                        <a:srgbClr val="999999"/>
                      </a:solidFill>
                      <a:prstDash val="solid"/>
                      <a:round/>
                      <a:headEnd type="none" w="med" len="med"/>
                      <a:tailEnd type="none" w="med" len="med"/>
                    </a:lnT>
                    <a:lnB>
                      <a:noFill/>
                    </a:lnB>
                    <a:solidFill>
                      <a:srgbClr val="EFEFEF"/>
                    </a:solidFill>
                  </a:tcPr>
                </a:tc>
                <a:tc>
                  <a:txBody>
                    <a:bodyPr/>
                    <a:lstStyle/>
                    <a:p>
                      <a:pPr algn="l" fontAlgn="b">
                        <a:buNone/>
                      </a:pPr>
                      <a:r>
                        <a:rPr lang="ja-JP" altLang="en-US" sz="600" b="0" i="0" u="none" strike="noStrike">
                          <a:solidFill>
                            <a:srgbClr val="000000"/>
                          </a:solidFill>
                          <a:effectLst/>
                          <a:latin typeface="Arial" panose="020B0604020202020204" pitchFamily="34" charset="0"/>
                        </a:rPr>
                        <a:t>モバイル</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54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65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58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55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57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tc>
                  <a:txBody>
                    <a:bodyPr/>
                    <a:lstStyle/>
                    <a:p>
                      <a:pPr algn="r" fontAlgn="b">
                        <a:buNone/>
                      </a:pPr>
                      <a:r>
                        <a:rPr lang="en-US" altLang="ja-JP" sz="600" b="0" i="0" u="none" strike="noStrike">
                          <a:solidFill>
                            <a:srgbClr val="E69138"/>
                          </a:solidFill>
                          <a:effectLst/>
                          <a:latin typeface="Arial" panose="020B0604020202020204" pitchFamily="34" charset="0"/>
                        </a:rPr>
                        <a:t>53 </a:t>
                      </a:r>
                    </a:p>
                  </a:txBody>
                  <a:tcPr marL="5798" marR="5798" marT="5798" marB="27831" anchor="b">
                    <a:lnL>
                      <a:noFill/>
                    </a:lnL>
                    <a:lnR>
                      <a:noFill/>
                    </a:lnR>
                    <a:lnT w="12700" cap="flat" cmpd="sng" algn="ctr">
                      <a:solidFill>
                        <a:srgbClr val="999999"/>
                      </a:solidFill>
                      <a:prstDash val="solid"/>
                      <a:round/>
                      <a:headEnd type="none" w="med" len="med"/>
                      <a:tailEnd type="none" w="med" len="med"/>
                    </a:lnT>
                    <a:lnB w="6350" cap="flat" cmpd="sng" algn="ctr">
                      <a:solidFill>
                        <a:srgbClr val="999999"/>
                      </a:solidFill>
                      <a:prstDash val="dot"/>
                      <a:round/>
                      <a:headEnd type="none" w="med" len="med"/>
                      <a:tailEnd type="none" w="med" len="med"/>
                    </a:lnB>
                    <a:noFill/>
                  </a:tcPr>
                </a:tc>
                <a:extLst>
                  <a:ext uri="{0D108BD9-81ED-4DB2-BD59-A6C34878D82A}">
                    <a16:rowId xmlns:a16="http://schemas.microsoft.com/office/drawing/2014/main" val="1579827723"/>
                  </a:ext>
                </a:extLst>
              </a:tr>
              <a:tr h="126401">
                <a:tc vMerge="1">
                  <a:txBody>
                    <a:bodyPr/>
                    <a:lstStyle/>
                    <a:p>
                      <a:endParaRPr kumimoji="1" lang="ja-JP" altLang="en-US"/>
                    </a:p>
                  </a:txBody>
                  <a:tcPr/>
                </a:tc>
                <a:tc>
                  <a:txBody>
                    <a:bodyPr/>
                    <a:lstStyle/>
                    <a:p>
                      <a:pPr algn="l" fontAlgn="b">
                        <a:buNone/>
                      </a:pPr>
                      <a:r>
                        <a:rPr lang="ja-JP" altLang="en-US" sz="600" b="0" i="0" u="none" strike="noStrike">
                          <a:solidFill>
                            <a:srgbClr val="000000"/>
                          </a:solidFill>
                          <a:effectLst/>
                          <a:latin typeface="Arial" panose="020B0604020202020204" pitchFamily="34" charset="0"/>
                        </a:rPr>
                        <a:t>パソコン</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70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86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78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75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79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77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80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tc>
                  <a:txBody>
                    <a:bodyPr/>
                    <a:lstStyle/>
                    <a:p>
                      <a:pPr algn="r" fontAlgn="b">
                        <a:buNone/>
                      </a:pPr>
                      <a:r>
                        <a:rPr lang="en-US" altLang="ja-JP" sz="600" b="0" i="0" u="none" strike="noStrike">
                          <a:solidFill>
                            <a:srgbClr val="E69138"/>
                          </a:solidFill>
                          <a:effectLst/>
                          <a:latin typeface="Arial" panose="020B0604020202020204" pitchFamily="34" charset="0"/>
                        </a:rPr>
                        <a:t>81 </a:t>
                      </a:r>
                    </a:p>
                  </a:txBody>
                  <a:tcPr marL="5798" marR="5798" marT="5798" marB="27831" anchor="b">
                    <a:lnL>
                      <a:noFill/>
                    </a:lnL>
                    <a:lnR>
                      <a:noFill/>
                    </a:lnR>
                    <a:lnT w="6350" cap="flat" cmpd="sng" algn="ctr">
                      <a:solidFill>
                        <a:srgbClr val="999999"/>
                      </a:solidFill>
                      <a:prstDash val="dot"/>
                      <a:round/>
                      <a:headEnd type="none" w="med" len="med"/>
                      <a:tailEnd type="none" w="med" len="med"/>
                    </a:lnT>
                    <a:lnB w="12700" cap="flat" cmpd="sng" algn="ctr">
                      <a:solidFill>
                        <a:srgbClr val="999999"/>
                      </a:solidFill>
                      <a:prstDash val="solid"/>
                      <a:round/>
                      <a:headEnd type="none" w="med" len="med"/>
                      <a:tailEnd type="none" w="med" len="med"/>
                    </a:lnB>
                    <a:solidFill>
                      <a:srgbClr val="EFEFEF"/>
                    </a:solidFill>
                  </a:tcPr>
                </a:tc>
                <a:extLst>
                  <a:ext uri="{0D108BD9-81ED-4DB2-BD59-A6C34878D82A}">
                    <a16:rowId xmlns:a16="http://schemas.microsoft.com/office/drawing/2014/main" val="3876932583"/>
                  </a:ext>
                </a:extLst>
              </a:tr>
              <a:tr h="126401">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a:noFill/>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solidFill>
                      <a:srgbClr val="FFFFFF"/>
                    </a:solid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w="12700" cap="flat" cmpd="sng" algn="ctr">
                      <a:solidFill>
                        <a:srgbClr val="999999"/>
                      </a:solidFill>
                      <a:prstDash val="solid"/>
                      <a:round/>
                      <a:headEnd type="none" w="med" len="med"/>
                      <a:tailEnd type="none" w="med" len="med"/>
                    </a:lnT>
                    <a:lnB>
                      <a:noFill/>
                    </a:lnB>
                    <a:noFill/>
                  </a:tcPr>
                </a:tc>
                <a:extLst>
                  <a:ext uri="{0D108BD9-81ED-4DB2-BD59-A6C34878D82A}">
                    <a16:rowId xmlns:a16="http://schemas.microsoft.com/office/drawing/2014/main" val="3429803136"/>
                  </a:ext>
                </a:extLst>
              </a:tr>
              <a:tr h="126401">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a:noFill/>
                    </a:lnT>
                    <a:lnB>
                      <a:noFill/>
                    </a:lnB>
                    <a:noFill/>
                  </a:tcPr>
                </a:tc>
                <a:tc>
                  <a:txBody>
                    <a:bodyPr/>
                    <a:lstStyle/>
                    <a:p>
                      <a:pPr algn="l" fontAlgn="b">
                        <a:buNone/>
                      </a:pPr>
                      <a:endParaRPr lang="ja-JP" altLang="en-US" sz="600" b="0" i="0" u="none" strike="noStrike">
                        <a:solidFill>
                          <a:srgbClr val="000000"/>
                        </a:solidFill>
                        <a:effectLst/>
                        <a:latin typeface="Arial" panose="020B0604020202020204" pitchFamily="34" charset="0"/>
                      </a:endParaRPr>
                    </a:p>
                  </a:txBody>
                  <a:tcPr marL="5798" marR="5798" marT="5798" marB="27831" anchor="b">
                    <a:lnL>
                      <a:noFill/>
                    </a:lnL>
                    <a:lnR>
                      <a:noFill/>
                    </a:lnR>
                    <a:lnT>
                      <a:noFill/>
                    </a:lnT>
                    <a:lnB>
                      <a:noFill/>
                    </a:lnB>
                    <a:noFill/>
                  </a:tcPr>
                </a:tc>
                <a:tc>
                  <a:txBody>
                    <a:bodyPr/>
                    <a:lstStyle/>
                    <a:p>
                      <a:pPr algn="ctr" fontAlgn="b">
                        <a:buNone/>
                      </a:pPr>
                      <a:r>
                        <a:rPr lang="en-US" altLang="ja-JP" sz="600" b="0" i="0" u="none" strike="noStrike">
                          <a:solidFill>
                            <a:srgbClr val="FFFFFF"/>
                          </a:solidFill>
                          <a:effectLst/>
                          <a:latin typeface="Arial" panose="020B0604020202020204" pitchFamily="34" charset="0"/>
                        </a:rPr>
                        <a:t>11/5</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3/4</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4/3</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5/2</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6/3</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7/1</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8/4</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9/1</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10/1</a:t>
                      </a:r>
                    </a:p>
                  </a:txBody>
                  <a:tcPr marL="5798" marR="5798" marT="5798" marB="27831" anchor="b">
                    <a:lnL>
                      <a:noFill/>
                    </a:lnL>
                    <a:lnR>
                      <a:noFill/>
                    </a:lnR>
                    <a:lnT>
                      <a:noFill/>
                    </a:lnT>
                    <a:lnB>
                      <a:noFill/>
                    </a:lnB>
                    <a:solidFill>
                      <a:srgbClr val="000000"/>
                    </a:solidFill>
                  </a:tcPr>
                </a:tc>
                <a:tc>
                  <a:txBody>
                    <a:bodyPr/>
                    <a:lstStyle/>
                    <a:p>
                      <a:pPr algn="ctr" fontAlgn="b">
                        <a:buNone/>
                      </a:pPr>
                      <a:r>
                        <a:rPr lang="en-US" altLang="ja-JP" sz="600" b="0" i="0" u="none" strike="noStrike">
                          <a:solidFill>
                            <a:srgbClr val="FFFFFF"/>
                          </a:solidFill>
                          <a:effectLst/>
                          <a:latin typeface="Arial" panose="020B0604020202020204" pitchFamily="34" charset="0"/>
                        </a:rPr>
                        <a:t>11/5</a:t>
                      </a:r>
                    </a:p>
                  </a:txBody>
                  <a:tcPr marL="5798" marR="5798" marT="5798" marB="27831" anchor="b">
                    <a:lnL>
                      <a:noFill/>
                    </a:lnL>
                    <a:lnR>
                      <a:noFill/>
                    </a:lnR>
                    <a:lnT>
                      <a:noFill/>
                    </a:lnT>
                    <a:lnB>
                      <a:noFill/>
                    </a:lnB>
                    <a:solidFill>
                      <a:srgbClr val="000000"/>
                    </a:solidFill>
                  </a:tcPr>
                </a:tc>
                <a:extLst>
                  <a:ext uri="{0D108BD9-81ED-4DB2-BD59-A6C34878D82A}">
                    <a16:rowId xmlns:a16="http://schemas.microsoft.com/office/drawing/2014/main" val="1709321692"/>
                  </a:ext>
                </a:extLst>
              </a:tr>
              <a:tr h="126401">
                <a:tc>
                  <a:txBody>
                    <a:bodyPr/>
                    <a:lstStyle/>
                    <a:p>
                      <a:pPr algn="l" fontAlgn="ctr">
                        <a:buNone/>
                      </a:pPr>
                      <a:r>
                        <a:rPr lang="ja-JP" altLang="en-US" sz="600" b="0" i="0" u="none" strike="noStrike">
                          <a:solidFill>
                            <a:srgbClr val="000000"/>
                          </a:solidFill>
                          <a:effectLst/>
                          <a:latin typeface="Arial" panose="020B0604020202020204" pitchFamily="34" charset="0"/>
                        </a:rPr>
                        <a:t>スコア平均</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l" fontAlgn="ctr">
                        <a:buNone/>
                      </a:pPr>
                      <a:endParaRPr lang="ja-JP" altLang="en-US" sz="600" b="0" i="0" u="none" strike="noStrike">
                        <a:solidFill>
                          <a:srgbClr val="000000"/>
                        </a:solidFill>
                        <a:effectLst/>
                        <a:latin typeface="Arial" panose="020B0604020202020204" pitchFamily="34" charset="0"/>
                      </a:endParaRP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62</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75</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68</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68</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70</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66</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67</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67</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69</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tc>
                  <a:txBody>
                    <a:bodyPr/>
                    <a:lstStyle/>
                    <a:p>
                      <a:pPr algn="r" fontAlgn="ctr">
                        <a:buNone/>
                      </a:pPr>
                      <a:r>
                        <a:rPr lang="en-US" altLang="ja-JP" sz="600" b="0" i="0" u="none" strike="noStrike">
                          <a:solidFill>
                            <a:srgbClr val="E69138"/>
                          </a:solidFill>
                          <a:effectLst/>
                          <a:latin typeface="Arial" panose="020B0604020202020204" pitchFamily="34" charset="0"/>
                        </a:rPr>
                        <a:t>67</a:t>
                      </a:r>
                    </a:p>
                  </a:txBody>
                  <a:tcPr marL="5798" marR="5798" marT="5798" marB="27831" anchor="ctr">
                    <a:lnL>
                      <a:noFill/>
                    </a:lnL>
                    <a:lnR>
                      <a:noFill/>
                    </a:lnR>
                    <a:lnT>
                      <a:noFill/>
                    </a:lnT>
                    <a:lnB w="12700" cap="flat" cmpd="sng" algn="ctr">
                      <a:solidFill>
                        <a:srgbClr val="999999"/>
                      </a:solidFill>
                      <a:prstDash val="solid"/>
                      <a:round/>
                      <a:headEnd type="none" w="med" len="med"/>
                      <a:tailEnd type="none" w="med" len="med"/>
                    </a:lnB>
                    <a:solidFill>
                      <a:srgbClr val="CFE2F3"/>
                    </a:solidFill>
                  </a:tcPr>
                </a:tc>
                <a:extLst>
                  <a:ext uri="{0D108BD9-81ED-4DB2-BD59-A6C34878D82A}">
                    <a16:rowId xmlns:a16="http://schemas.microsoft.com/office/drawing/2014/main" val="2658641552"/>
                  </a:ext>
                </a:extLst>
              </a:tr>
            </a:tbl>
          </a:graphicData>
        </a:graphic>
      </p:graphicFrame>
    </p:spTree>
    <p:extLst>
      <p:ext uri="{BB962C8B-B14F-4D97-AF65-F5344CB8AC3E}">
        <p14:creationId xmlns:p14="http://schemas.microsoft.com/office/powerpoint/2010/main" val="3866127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ACDE6F5-D5E4-0A3D-0FA7-85BB4CB1CF1B}"/>
            </a:ext>
          </a:extLst>
        </p:cNvPr>
        <p:cNvGrpSpPr/>
        <p:nvPr/>
      </p:nvGrpSpPr>
      <p:grpSpPr>
        <a:xfrm>
          <a:off x="0" y="0"/>
          <a:ext cx="0" cy="0"/>
          <a:chOff x="0" y="0"/>
          <a:chExt cx="0" cy="0"/>
        </a:xfrm>
      </p:grpSpPr>
      <p:sp>
        <p:nvSpPr>
          <p:cNvPr id="14" name="Google Shape;13;p2">
            <a:extLst>
              <a:ext uri="{FF2B5EF4-FFF2-40B4-BE49-F238E27FC236}">
                <a16:creationId xmlns:a16="http://schemas.microsoft.com/office/drawing/2014/main" id="{0487E466-F302-C70A-811E-65936D78AE0E}"/>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21</a:t>
            </a:fld>
            <a:endParaRPr lang="ja" altLang="en-US">
              <a:solidFill>
                <a:srgbClr val="4E5F7A"/>
              </a:solidFill>
            </a:endParaRPr>
          </a:p>
        </p:txBody>
      </p:sp>
      <p:sp>
        <p:nvSpPr>
          <p:cNvPr id="16" name="Google Shape;125;p15">
            <a:extLst>
              <a:ext uri="{FF2B5EF4-FFF2-40B4-BE49-F238E27FC236}">
                <a16:creationId xmlns:a16="http://schemas.microsoft.com/office/drawing/2014/main" id="{DAD94D56-7525-316E-0E76-9E366B729183}"/>
              </a:ext>
            </a:extLst>
          </p:cNvPr>
          <p:cNvSpPr txBox="1">
            <a:spLocks/>
          </p:cNvSpPr>
          <p:nvPr/>
        </p:nvSpPr>
        <p:spPr>
          <a:xfrm>
            <a:off x="228600" y="57150"/>
            <a:ext cx="6562800" cy="52680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F2950"/>
              </a:buClr>
              <a:buSzPts val="1400"/>
              <a:buFont typeface="HiraKakuPro-W3"/>
              <a:buNone/>
              <a:defRPr sz="1400" b="0" i="0" u="none" strike="noStrike" cap="none">
                <a:solidFill>
                  <a:srgbClr val="0F2950"/>
                </a:solidFill>
                <a:latin typeface="Meiryo" panose="020B0604030504040204" pitchFamily="34" charset="-128"/>
                <a:ea typeface="Meiryo" panose="020B0604030504040204" pitchFamily="34" charset="-128"/>
                <a:cs typeface="Meiryo" panose="020B0604030504040204" pitchFamily="34" charset="-128"/>
                <a:sym typeface="HiraKakuPro-W3"/>
              </a:defRPr>
            </a:lvl1pPr>
            <a:lvl2pPr marR="0" lvl="1"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2pPr>
            <a:lvl3pPr marR="0" lvl="2"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3pPr>
            <a:lvl4pPr marR="0" lvl="3"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4pPr>
            <a:lvl5pPr marR="0" lvl="4"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5pPr>
            <a:lvl6pPr marR="0" lvl="5"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6pPr>
            <a:lvl7pPr marR="0" lvl="6"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7pPr>
            <a:lvl8pPr marR="0" lvl="7"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8pPr>
            <a:lvl9pPr marR="0" lvl="8" algn="ctr" rtl="0">
              <a:lnSpc>
                <a:spcPct val="100000"/>
              </a:lnSpc>
              <a:spcBef>
                <a:spcPts val="0"/>
              </a:spcBef>
              <a:spcAft>
                <a:spcPts val="0"/>
              </a:spcAft>
              <a:buClr>
                <a:srgbClr val="0F2950"/>
              </a:buClr>
              <a:buSzPts val="3600"/>
              <a:buFont typeface="Arial"/>
              <a:buNone/>
              <a:defRPr sz="3600" b="1" i="0" u="none" strike="noStrike" cap="none">
                <a:solidFill>
                  <a:srgbClr val="0F2950"/>
                </a:solidFill>
                <a:latin typeface="Arial"/>
                <a:ea typeface="Arial"/>
                <a:cs typeface="Arial"/>
                <a:sym typeface="Arial"/>
              </a:defRPr>
            </a:lvl9pPr>
          </a:lstStyle>
          <a:p>
            <a:r>
              <a:rPr lang="en-US" altLang="ja-JP">
                <a:solidFill>
                  <a:schemeClr val="tx1"/>
                </a:solidFill>
              </a:rPr>
              <a:t>PageSpeed Insights</a:t>
            </a:r>
            <a:r>
              <a:rPr lang="ja-JP" altLang="en-US">
                <a:solidFill>
                  <a:schemeClr val="tx1"/>
                </a:solidFill>
              </a:rPr>
              <a:t>の指標改善</a:t>
            </a:r>
          </a:p>
        </p:txBody>
      </p:sp>
      <p:sp>
        <p:nvSpPr>
          <p:cNvPr id="3" name="Google Shape;114;p14">
            <a:extLst>
              <a:ext uri="{FF2B5EF4-FFF2-40B4-BE49-F238E27FC236}">
                <a16:creationId xmlns:a16="http://schemas.microsoft.com/office/drawing/2014/main" id="{9AE9411A-A628-78F6-FAB3-DADF269605DA}"/>
              </a:ext>
            </a:extLst>
          </p:cNvPr>
          <p:cNvSpPr txBox="1"/>
          <p:nvPr/>
        </p:nvSpPr>
        <p:spPr>
          <a:xfrm>
            <a:off x="228600" y="706449"/>
            <a:ext cx="8476679" cy="173124"/>
          </a:xfrm>
          <a:prstGeom prst="rect">
            <a:avLst/>
          </a:prstGeom>
          <a:noFill/>
          <a:ln>
            <a:noFill/>
          </a:ln>
        </p:spPr>
        <p:txBody>
          <a:bodyPr spcFirstLastPara="1" wrap="square" lIns="0" tIns="0" rIns="0" bIns="0" anchor="t" anchorCtr="0">
            <a:spAutoFit/>
          </a:bodyPr>
          <a:lstStyle/>
          <a:p>
            <a:pPr>
              <a:lnSpc>
                <a:spcPct val="125000"/>
              </a:lnSpc>
            </a:pPr>
            <a:r>
              <a:rPr lang="ja-JP" altLang="en-US" sz="900">
                <a:solidFill>
                  <a:schemeClr val="tx1">
                    <a:lumMod val="85000"/>
                    <a:lumOff val="15000"/>
                  </a:schemeClr>
                </a:solidFill>
                <a:latin typeface="Meiryo UI" panose="020B0604030504040204" pitchFamily="34" charset="-128"/>
                <a:ea typeface="Meiryo UI" panose="020B0604030504040204" pitchFamily="34" charset="-128"/>
              </a:rPr>
              <a:t>スコア一覧（</a:t>
            </a:r>
            <a:r>
              <a:rPr lang="en-US" altLang="ja-JP" sz="900">
                <a:solidFill>
                  <a:schemeClr val="tx1">
                    <a:lumMod val="85000"/>
                    <a:lumOff val="15000"/>
                  </a:schemeClr>
                </a:solidFill>
                <a:latin typeface="Meiryo UI" panose="020B0604030504040204" pitchFamily="34" charset="-128"/>
                <a:ea typeface="Meiryo UI" panose="020B0604030504040204" pitchFamily="34" charset="-128"/>
              </a:rPr>
              <a:t>PV</a:t>
            </a:r>
            <a:r>
              <a:rPr lang="ja-JP" altLang="en-US" sz="900">
                <a:solidFill>
                  <a:schemeClr val="tx1">
                    <a:lumMod val="85000"/>
                    <a:lumOff val="15000"/>
                  </a:schemeClr>
                </a:solidFill>
                <a:latin typeface="Meiryo UI" panose="020B0604030504040204" pitchFamily="34" charset="-128"/>
                <a:ea typeface="Meiryo UI" panose="020B0604030504040204" pitchFamily="34" charset="-128"/>
              </a:rPr>
              <a:t>数</a:t>
            </a:r>
            <a:r>
              <a:rPr lang="en-US" altLang="ja-JP" sz="900">
                <a:solidFill>
                  <a:schemeClr val="tx1">
                    <a:lumMod val="85000"/>
                    <a:lumOff val="15000"/>
                  </a:schemeClr>
                </a:solidFill>
                <a:latin typeface="Meiryo UI" panose="020B0604030504040204" pitchFamily="34" charset="-128"/>
                <a:ea typeface="Meiryo UI" panose="020B0604030504040204" pitchFamily="34" charset="-128"/>
              </a:rPr>
              <a:t> Top25</a:t>
            </a:r>
            <a:r>
              <a:rPr lang="ja-JP" altLang="en-US" sz="900">
                <a:solidFill>
                  <a:schemeClr val="tx1">
                    <a:lumMod val="85000"/>
                    <a:lumOff val="15000"/>
                  </a:schemeClr>
                </a:solidFill>
                <a:latin typeface="Meiryo UI" panose="020B0604030504040204" pitchFamily="34" charset="-128"/>
                <a:ea typeface="Meiryo UI" panose="020B0604030504040204" pitchFamily="34" charset="-128"/>
              </a:rPr>
              <a:t>）</a:t>
            </a:r>
            <a:endParaRPr lang="en-US" altLang="ja-JP" sz="900">
              <a:solidFill>
                <a:schemeClr val="tx1">
                  <a:lumMod val="85000"/>
                  <a:lumOff val="15000"/>
                </a:schemeClr>
              </a:solidFill>
              <a:latin typeface="Meiryo UI" panose="020B0604030504040204" pitchFamily="34" charset="-128"/>
              <a:ea typeface="Meiryo UI" panose="020B0604030504040204" pitchFamily="34" charset="-128"/>
            </a:endParaRPr>
          </a:p>
        </p:txBody>
      </p:sp>
      <p:sp>
        <p:nvSpPr>
          <p:cNvPr id="9" name="正方形/長方形 8">
            <a:extLst>
              <a:ext uri="{FF2B5EF4-FFF2-40B4-BE49-F238E27FC236}">
                <a16:creationId xmlns:a16="http://schemas.microsoft.com/office/drawing/2014/main" id="{9FD95485-E61B-38DF-11A9-4BCFB4C6420D}"/>
              </a:ext>
            </a:extLst>
          </p:cNvPr>
          <p:cNvSpPr/>
          <p:nvPr/>
        </p:nvSpPr>
        <p:spPr>
          <a:xfrm>
            <a:off x="4378839" y="3634538"/>
            <a:ext cx="4077471" cy="7687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indent="-228600">
              <a:lnSpc>
                <a:spcPct val="150000"/>
              </a:lnSpc>
              <a:buFont typeface="Wingdings" pitchFamily="2" charset="2"/>
              <a:buChar char="l"/>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今月のモバイル平均は</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57.2</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、先月のモバイル平均は</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55.5</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のため</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1.72</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ポイント増加した</a:t>
            </a:r>
          </a:p>
          <a:p>
            <a:pPr marL="228600" indent="-228600">
              <a:lnSpc>
                <a:spcPct val="150000"/>
              </a:lnSpc>
              <a:buFont typeface="Wingdings" pitchFamily="2" charset="2"/>
              <a:buChar char="l"/>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今月の</a:t>
            </a:r>
            <a:r>
              <a:rPr kumimoji="1" lang="en" altLang="ja-JP" sz="800">
                <a:solidFill>
                  <a:schemeClr val="tx1">
                    <a:lumMod val="65000"/>
                    <a:lumOff val="35000"/>
                  </a:schemeClr>
                </a:solidFill>
                <a:latin typeface="Meiryo UI" panose="020B0604030504040204" pitchFamily="34" charset="-128"/>
                <a:ea typeface="Meiryo UI" panose="020B0604030504040204" pitchFamily="34" charset="-128"/>
              </a:rPr>
              <a:t>PC</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平均は</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80.8</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、先月の</a:t>
            </a:r>
            <a:r>
              <a:rPr kumimoji="1" lang="en" altLang="ja-JP" sz="800">
                <a:solidFill>
                  <a:schemeClr val="tx1">
                    <a:lumMod val="65000"/>
                    <a:lumOff val="35000"/>
                  </a:schemeClr>
                </a:solidFill>
                <a:latin typeface="Meiryo UI" panose="020B0604030504040204" pitchFamily="34" charset="-128"/>
                <a:ea typeface="Meiryo UI" panose="020B0604030504040204" pitchFamily="34" charset="-128"/>
              </a:rPr>
              <a:t>PC</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平均は</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75.4</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のため</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5.4</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ポイント増加した</a:t>
            </a:r>
          </a:p>
          <a:p>
            <a:pPr marL="228600" indent="-228600">
              <a:lnSpc>
                <a:spcPct val="150000"/>
              </a:lnSpc>
              <a:buFont typeface="Wingdings" pitchFamily="2" charset="2"/>
              <a:buChar char="l"/>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今月の全体平均は</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69.0</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、先月の全体平均は</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65.5</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のため</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3.56</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ポイント増加した</a:t>
            </a:r>
          </a:p>
        </p:txBody>
      </p:sp>
      <p:pic>
        <p:nvPicPr>
          <p:cNvPr id="4" name="図 3">
            <a:extLst>
              <a:ext uri="{FF2B5EF4-FFF2-40B4-BE49-F238E27FC236}">
                <a16:creationId xmlns:a16="http://schemas.microsoft.com/office/drawing/2014/main" id="{443EFB79-ED04-25A7-B70D-BAE32273031C}"/>
              </a:ext>
            </a:extLst>
          </p:cNvPr>
          <p:cNvPicPr>
            <a:picLocks noChangeAspect="1"/>
          </p:cNvPicPr>
          <p:nvPr/>
        </p:nvPicPr>
        <p:blipFill>
          <a:blip r:embed="rId3"/>
          <a:stretch>
            <a:fillRect/>
          </a:stretch>
        </p:blipFill>
        <p:spPr>
          <a:xfrm>
            <a:off x="228600" y="944995"/>
            <a:ext cx="3695700" cy="3733800"/>
          </a:xfrm>
          <a:prstGeom prst="rect">
            <a:avLst/>
          </a:prstGeom>
        </p:spPr>
      </p:pic>
      <p:pic>
        <p:nvPicPr>
          <p:cNvPr id="5" name="図 4">
            <a:extLst>
              <a:ext uri="{FF2B5EF4-FFF2-40B4-BE49-F238E27FC236}">
                <a16:creationId xmlns:a16="http://schemas.microsoft.com/office/drawing/2014/main" id="{5C01FD06-3AB0-C3E7-DD6D-A1652DE5CBFF}"/>
              </a:ext>
            </a:extLst>
          </p:cNvPr>
          <p:cNvPicPr>
            <a:picLocks noChangeAspect="1"/>
          </p:cNvPicPr>
          <p:nvPr/>
        </p:nvPicPr>
        <p:blipFill>
          <a:blip r:embed="rId4"/>
          <a:stretch>
            <a:fillRect/>
          </a:stretch>
        </p:blipFill>
        <p:spPr>
          <a:xfrm>
            <a:off x="4378839" y="1106671"/>
            <a:ext cx="3695700" cy="2311400"/>
          </a:xfrm>
          <a:prstGeom prst="rect">
            <a:avLst/>
          </a:prstGeom>
        </p:spPr>
      </p:pic>
    </p:spTree>
    <p:extLst>
      <p:ext uri="{BB962C8B-B14F-4D97-AF65-F5344CB8AC3E}">
        <p14:creationId xmlns:p14="http://schemas.microsoft.com/office/powerpoint/2010/main" val="1227372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lvl="0"/>
            <a:r>
              <a:rPr lang="ja-JP" altLang="en-US"/>
              <a:t>サイト内検索</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22</a:t>
            </a:fld>
            <a:endParaRPr lang="ja" altLang="en-US">
              <a:solidFill>
                <a:srgbClr val="4E5F7A"/>
              </a:solidFill>
            </a:endParaRPr>
          </a:p>
        </p:txBody>
      </p:sp>
      <p:sp>
        <p:nvSpPr>
          <p:cNvPr id="10" name="テキスト ボックス 9">
            <a:extLst>
              <a:ext uri="{FF2B5EF4-FFF2-40B4-BE49-F238E27FC236}">
                <a16:creationId xmlns:a16="http://schemas.microsoft.com/office/drawing/2014/main" id="{E038F076-A4E0-D8D7-EBF6-BCF305145C47}"/>
              </a:ext>
            </a:extLst>
          </p:cNvPr>
          <p:cNvSpPr txBox="1"/>
          <p:nvPr/>
        </p:nvSpPr>
        <p:spPr>
          <a:xfrm>
            <a:off x="6141708" y="1645580"/>
            <a:ext cx="2806700" cy="2467150"/>
          </a:xfrm>
          <a:prstGeom prst="rect">
            <a:avLst/>
          </a:prstGeom>
          <a:noFill/>
          <a:ln>
            <a:solidFill>
              <a:schemeClr val="tx1"/>
            </a:solidFill>
          </a:ln>
        </p:spPr>
        <p:txBody>
          <a:bodyPr wrap="square">
            <a:spAutoFit/>
          </a:bodyPr>
          <a:lstStyle/>
          <a:p>
            <a:pPr marL="136525" indent="-136525">
              <a:lnSpc>
                <a:spcPct val="150000"/>
              </a:lnSpc>
              <a:buFont typeface="Wingdings" pitchFamily="2" charset="2"/>
              <a:buChar char="l"/>
            </a:pP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2</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：人事</a:t>
            </a:r>
          </a:p>
          <a:p>
            <a:pPr>
              <a:lnSpc>
                <a:spcPct val="150000"/>
              </a:lnSpc>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検索数</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202</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件、前月比</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+22.2%</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。年度初めの人事異動や発令関連の公表が関心を集め、検索数が伸長したと考えられます。</a:t>
            </a:r>
          </a:p>
          <a:p>
            <a:pPr marL="136525" indent="-136525">
              <a:lnSpc>
                <a:spcPct val="150000"/>
              </a:lnSpc>
              <a:buFont typeface="Wingdings" pitchFamily="2" charset="2"/>
              <a:buChar char="l"/>
            </a:pP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4</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：入札</a:t>
            </a:r>
          </a:p>
          <a:p>
            <a:pPr>
              <a:lnSpc>
                <a:spcPct val="150000"/>
              </a:lnSpc>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検索数</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66</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件、前月比</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-10.8%</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。通常期に戻り検索数はやや減少傾向。特定案件の公示終了や注目度の変動が影響している可能性があります。</a:t>
            </a:r>
          </a:p>
          <a:p>
            <a:pPr marL="136525" indent="-136525">
              <a:lnSpc>
                <a:spcPct val="150000"/>
              </a:lnSpc>
              <a:buFont typeface="Wingdings" pitchFamily="2" charset="2"/>
              <a:buChar char="l"/>
            </a:pP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5</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：再就職</a:t>
            </a:r>
          </a:p>
          <a:p>
            <a:pPr>
              <a:lnSpc>
                <a:spcPct val="150000"/>
              </a:lnSpc>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検索数</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65</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件、前月比</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-42.0%</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。年度末～年度初めのピークを過ぎ、関心がやや落ち着いてきたと推測されます。</a:t>
            </a:r>
          </a:p>
          <a:p>
            <a:pPr marL="136525" indent="-136525">
              <a:lnSpc>
                <a:spcPct val="150000"/>
              </a:lnSpc>
              <a:buFont typeface="Wingdings" pitchFamily="2" charset="2"/>
              <a:buChar char="l"/>
            </a:pP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10</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：人事命令</a:t>
            </a:r>
          </a:p>
          <a:p>
            <a:pPr>
              <a:lnSpc>
                <a:spcPct val="150000"/>
              </a:lnSpc>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検索数</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49</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件、前月比</a:t>
            </a:r>
            <a:r>
              <a:rPr kumimoji="1" lang="en-US" altLang="ja-JP" sz="800">
                <a:solidFill>
                  <a:schemeClr val="tx1">
                    <a:lumMod val="65000"/>
                    <a:lumOff val="35000"/>
                  </a:schemeClr>
                </a:solidFill>
                <a:latin typeface="Meiryo UI" panose="020B0604030504040204" pitchFamily="34" charset="-128"/>
                <a:ea typeface="Meiryo UI" panose="020B0604030504040204" pitchFamily="34" charset="-128"/>
              </a:rPr>
              <a:t>+36.1%</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。職員向けの人事異動発令や配置転換などが公表されたタイミングと重なったと考えられます。</a:t>
            </a:r>
            <a:endParaRPr kumimoji="1" lang="en-US" altLang="ja-JP" sz="800">
              <a:solidFill>
                <a:schemeClr val="tx1">
                  <a:lumMod val="65000"/>
                  <a:lumOff val="35000"/>
                </a:schemeClr>
              </a:solidFill>
              <a:latin typeface="Meiryo UI" panose="020B0604030504040204" pitchFamily="34" charset="-128"/>
              <a:ea typeface="Meiryo UI" panose="020B0604030504040204" pitchFamily="34" charset="-128"/>
            </a:endParaRPr>
          </a:p>
        </p:txBody>
      </p:sp>
      <p:pic>
        <p:nvPicPr>
          <p:cNvPr id="5" name="図 4">
            <a:extLst>
              <a:ext uri="{FF2B5EF4-FFF2-40B4-BE49-F238E27FC236}">
                <a16:creationId xmlns:a16="http://schemas.microsoft.com/office/drawing/2014/main" id="{5E4C6F36-5465-F517-93EF-CA6A4C3FF50D}"/>
              </a:ext>
            </a:extLst>
          </p:cNvPr>
          <p:cNvPicPr>
            <a:picLocks noChangeAspect="1"/>
          </p:cNvPicPr>
          <p:nvPr/>
        </p:nvPicPr>
        <p:blipFill>
          <a:blip r:embed="rId3"/>
          <a:stretch>
            <a:fillRect/>
          </a:stretch>
        </p:blipFill>
        <p:spPr>
          <a:xfrm>
            <a:off x="186479" y="718934"/>
            <a:ext cx="5811198" cy="3991950"/>
          </a:xfrm>
          <a:prstGeom prst="rect">
            <a:avLst/>
          </a:prstGeom>
        </p:spPr>
      </p:pic>
      <p:pic>
        <p:nvPicPr>
          <p:cNvPr id="7" name="図 6">
            <a:extLst>
              <a:ext uri="{FF2B5EF4-FFF2-40B4-BE49-F238E27FC236}">
                <a16:creationId xmlns:a16="http://schemas.microsoft.com/office/drawing/2014/main" id="{B638E04B-D6ED-655C-6977-EE1FD549F032}"/>
              </a:ext>
            </a:extLst>
          </p:cNvPr>
          <p:cNvPicPr>
            <a:picLocks noChangeAspect="1"/>
          </p:cNvPicPr>
          <p:nvPr/>
        </p:nvPicPr>
        <p:blipFill>
          <a:blip r:embed="rId4"/>
          <a:stretch>
            <a:fillRect/>
          </a:stretch>
        </p:blipFill>
        <p:spPr>
          <a:xfrm>
            <a:off x="6150821" y="689198"/>
            <a:ext cx="2806700" cy="805109"/>
          </a:xfrm>
          <a:prstGeom prst="rect">
            <a:avLst/>
          </a:prstGeom>
        </p:spPr>
      </p:pic>
    </p:spTree>
    <p:extLst>
      <p:ext uri="{BB962C8B-B14F-4D97-AF65-F5344CB8AC3E}">
        <p14:creationId xmlns:p14="http://schemas.microsoft.com/office/powerpoint/2010/main" val="2882513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lvl="0"/>
            <a:r>
              <a:rPr lang="ja-JP" altLang="en-US"/>
              <a:t>オーガニック検索</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23</a:t>
            </a:fld>
            <a:endParaRPr lang="ja" altLang="en-US">
              <a:solidFill>
                <a:srgbClr val="4E5F7A"/>
              </a:solidFill>
            </a:endParaRPr>
          </a:p>
        </p:txBody>
      </p:sp>
      <p:sp>
        <p:nvSpPr>
          <p:cNvPr id="9" name="テキスト ボックス 8">
            <a:extLst>
              <a:ext uri="{FF2B5EF4-FFF2-40B4-BE49-F238E27FC236}">
                <a16:creationId xmlns:a16="http://schemas.microsoft.com/office/drawing/2014/main" id="{306CB94F-D02B-2B54-333F-9B5B106846BF}"/>
              </a:ext>
            </a:extLst>
          </p:cNvPr>
          <p:cNvSpPr txBox="1"/>
          <p:nvPr/>
        </p:nvSpPr>
        <p:spPr>
          <a:xfrm>
            <a:off x="6548108" y="2349230"/>
            <a:ext cx="2430360" cy="2282484"/>
          </a:xfrm>
          <a:prstGeom prst="rect">
            <a:avLst/>
          </a:prstGeom>
          <a:noFill/>
          <a:ln>
            <a:solidFill>
              <a:schemeClr val="tx1"/>
            </a:solidFill>
          </a:ln>
        </p:spPr>
        <p:txBody>
          <a:bodyPr wrap="square">
            <a:spAutoFit/>
          </a:bodyPr>
          <a:lstStyle/>
          <a:p>
            <a:pPr marL="228600" indent="-228600">
              <a:lnSpc>
                <a:spcPct val="150000"/>
              </a:lnSpc>
              <a:buFont typeface="Wingdings" pitchFamily="2" charset="2"/>
              <a:buChar char="l"/>
            </a:pP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3.</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「防衛大臣」の急伸</a:t>
            </a:r>
          </a:p>
          <a:p>
            <a:pPr>
              <a:lnSpc>
                <a:spcPct val="150000"/>
              </a:lnSpc>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検索回数が</a:t>
            </a: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751.0%</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増、クリック数も</a:t>
            </a: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222.0%</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増と大幅に上昇。政務関連の話題や報道によって一時的に注目が集まったと見られます。</a:t>
            </a:r>
          </a:p>
          <a:p>
            <a:pPr marL="228600" indent="-228600">
              <a:lnSpc>
                <a:spcPct val="150000"/>
              </a:lnSpc>
              <a:buFont typeface="Wingdings" pitchFamily="2" charset="2"/>
              <a:buChar char="l"/>
            </a:pP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7.</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「防衛白書」への関心回復</a:t>
            </a:r>
          </a:p>
          <a:p>
            <a:pPr>
              <a:lnSpc>
                <a:spcPct val="150000"/>
              </a:lnSpc>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表示回数が</a:t>
            </a: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696.5%</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増、クリック率も</a:t>
            </a: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4.82%</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と改善傾向。公開時期や関連ニュースにより、再び関心が高まっています。</a:t>
            </a:r>
          </a:p>
          <a:p>
            <a:pPr marL="228600" indent="-228600">
              <a:lnSpc>
                <a:spcPct val="150000"/>
              </a:lnSpc>
              <a:buFont typeface="Wingdings" pitchFamily="2" charset="2"/>
              <a:buChar char="l"/>
            </a:pP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6</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a:t>
            </a:r>
            <a:r>
              <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rPr>
              <a:t>17.</a:t>
            </a: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「防衛大臣 歴代」関連の伸長</a:t>
            </a:r>
            <a:endParaRPr kumimoji="1" lang="en-US" altLang="ja-JP" sz="800" dirty="0">
              <a:solidFill>
                <a:schemeClr val="tx1">
                  <a:lumMod val="65000"/>
                  <a:lumOff val="35000"/>
                </a:schemeClr>
              </a:solidFill>
              <a:latin typeface="Meiryo UI" panose="020B0604030504040204" pitchFamily="34" charset="-128"/>
              <a:ea typeface="Meiryo UI" panose="020B0604030504040204" pitchFamily="34" charset="-128"/>
            </a:endParaRPr>
          </a:p>
          <a:p>
            <a:pPr>
              <a:lnSpc>
                <a:spcPct val="150000"/>
              </a:lnSpc>
            </a:pPr>
            <a:r>
              <a:rPr kumimoji="1" lang="ja-JP" altLang="en-US" sz="800">
                <a:solidFill>
                  <a:schemeClr val="tx1">
                    <a:lumMod val="65000"/>
                    <a:lumOff val="35000"/>
                  </a:schemeClr>
                </a:solidFill>
                <a:latin typeface="Meiryo UI" panose="020B0604030504040204" pitchFamily="34" charset="-128"/>
                <a:ea typeface="Meiryo UI" panose="020B0604030504040204" pitchFamily="34" charset="-128"/>
              </a:rPr>
              <a:t>歴代防衛大臣を一覧で確認したいニーズが高まり、政治動向や最近の報道を背景に、体系的な情報を求める検索が増加しています。</a:t>
            </a:r>
          </a:p>
        </p:txBody>
      </p:sp>
      <p:pic>
        <p:nvPicPr>
          <p:cNvPr id="5" name="図 4">
            <a:extLst>
              <a:ext uri="{FF2B5EF4-FFF2-40B4-BE49-F238E27FC236}">
                <a16:creationId xmlns:a16="http://schemas.microsoft.com/office/drawing/2014/main" id="{53EC8048-ECDD-086B-357B-2C0E00CF63D8}"/>
              </a:ext>
            </a:extLst>
          </p:cNvPr>
          <p:cNvPicPr>
            <a:picLocks noChangeAspect="1"/>
          </p:cNvPicPr>
          <p:nvPr/>
        </p:nvPicPr>
        <p:blipFill>
          <a:blip r:embed="rId3"/>
          <a:stretch>
            <a:fillRect/>
          </a:stretch>
        </p:blipFill>
        <p:spPr>
          <a:xfrm>
            <a:off x="310036" y="686412"/>
            <a:ext cx="6026644" cy="4087541"/>
          </a:xfrm>
          <a:prstGeom prst="rect">
            <a:avLst/>
          </a:prstGeom>
        </p:spPr>
      </p:pic>
      <p:pic>
        <p:nvPicPr>
          <p:cNvPr id="6" name="図 5">
            <a:extLst>
              <a:ext uri="{FF2B5EF4-FFF2-40B4-BE49-F238E27FC236}">
                <a16:creationId xmlns:a16="http://schemas.microsoft.com/office/drawing/2014/main" id="{07EC79C5-0364-1C4B-F54A-ECD4F094B521}"/>
              </a:ext>
            </a:extLst>
          </p:cNvPr>
          <p:cNvPicPr>
            <a:picLocks noChangeAspect="1"/>
          </p:cNvPicPr>
          <p:nvPr/>
        </p:nvPicPr>
        <p:blipFill>
          <a:blip r:embed="rId4"/>
          <a:stretch>
            <a:fillRect/>
          </a:stretch>
        </p:blipFill>
        <p:spPr>
          <a:xfrm>
            <a:off x="6671088" y="666490"/>
            <a:ext cx="2184400" cy="1600200"/>
          </a:xfrm>
          <a:prstGeom prst="rect">
            <a:avLst/>
          </a:prstGeom>
        </p:spPr>
      </p:pic>
    </p:spTree>
    <p:extLst>
      <p:ext uri="{BB962C8B-B14F-4D97-AF65-F5344CB8AC3E}">
        <p14:creationId xmlns:p14="http://schemas.microsoft.com/office/powerpoint/2010/main" val="3690046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C8D3A84E-E5B3-FA39-3034-091C54EC5D2D}"/>
            </a:ext>
          </a:extLst>
        </p:cNvPr>
        <p:cNvGrpSpPr/>
        <p:nvPr/>
      </p:nvGrpSpPr>
      <p:grpSpPr>
        <a:xfrm>
          <a:off x="0" y="0"/>
          <a:ext cx="0" cy="0"/>
          <a:chOff x="0" y="0"/>
          <a:chExt cx="0" cy="0"/>
        </a:xfrm>
      </p:grpSpPr>
      <p:pic>
        <p:nvPicPr>
          <p:cNvPr id="6" name="図 5">
            <a:extLst>
              <a:ext uri="{FF2B5EF4-FFF2-40B4-BE49-F238E27FC236}">
                <a16:creationId xmlns:a16="http://schemas.microsoft.com/office/drawing/2014/main" id="{9079CF74-1979-B965-BC17-A5C58382E467}"/>
              </a:ext>
            </a:extLst>
          </p:cNvPr>
          <p:cNvPicPr>
            <a:picLocks noChangeAspect="1"/>
          </p:cNvPicPr>
          <p:nvPr/>
        </p:nvPicPr>
        <p:blipFill>
          <a:blip r:embed="rId3"/>
          <a:stretch>
            <a:fillRect/>
          </a:stretch>
        </p:blipFill>
        <p:spPr>
          <a:xfrm>
            <a:off x="3575691" y="714482"/>
            <a:ext cx="5374735" cy="4091734"/>
          </a:xfrm>
          <a:prstGeom prst="rect">
            <a:avLst/>
          </a:prstGeom>
        </p:spPr>
      </p:pic>
      <p:sp>
        <p:nvSpPr>
          <p:cNvPr id="125" name="Google Shape;125;p15">
            <a:extLst>
              <a:ext uri="{FF2B5EF4-FFF2-40B4-BE49-F238E27FC236}">
                <a16:creationId xmlns:a16="http://schemas.microsoft.com/office/drawing/2014/main" id="{4DB843B3-AC24-ECDB-FE6C-9898BA8AA61E}"/>
              </a:ext>
            </a:extLst>
          </p:cNvPr>
          <p:cNvSpPr txBox="1">
            <a:spLocks noGrp="1"/>
          </p:cNvSpPr>
          <p:nvPr>
            <p:ph type="title"/>
          </p:nvPr>
        </p:nvSpPr>
        <p:spPr>
          <a:xfrm>
            <a:off x="228600" y="57150"/>
            <a:ext cx="6562800" cy="526800"/>
          </a:xfrm>
          <a:prstGeom prst="rect">
            <a:avLst/>
          </a:prstGeom>
        </p:spPr>
        <p:txBody>
          <a:bodyPr spcFirstLastPara="1" wrap="square" lIns="0" tIns="0" rIns="0" bIns="0" anchor="ctr" anchorCtr="0">
            <a:noAutofit/>
          </a:bodyPr>
          <a:lstStyle/>
          <a:p>
            <a:pPr lvl="0"/>
            <a:r>
              <a:rPr lang="en-US" err="1"/>
              <a:t>一枚でわかる</a:t>
            </a:r>
            <a:endParaRPr/>
          </a:p>
        </p:txBody>
      </p:sp>
      <p:sp>
        <p:nvSpPr>
          <p:cNvPr id="13" name="Google Shape;13;p2">
            <a:extLst>
              <a:ext uri="{FF2B5EF4-FFF2-40B4-BE49-F238E27FC236}">
                <a16:creationId xmlns:a16="http://schemas.microsoft.com/office/drawing/2014/main" id="{84EEBFD3-E0A0-1414-79F1-8DF5137596E5}"/>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24</a:t>
            </a:fld>
            <a:endParaRPr lang="ja" altLang="en-US">
              <a:solidFill>
                <a:srgbClr val="4E5F7A"/>
              </a:solidFill>
            </a:endParaRPr>
          </a:p>
        </p:txBody>
      </p:sp>
      <p:pic>
        <p:nvPicPr>
          <p:cNvPr id="5" name="図 4">
            <a:extLst>
              <a:ext uri="{FF2B5EF4-FFF2-40B4-BE49-F238E27FC236}">
                <a16:creationId xmlns:a16="http://schemas.microsoft.com/office/drawing/2014/main" id="{818D6375-06C9-8046-EF9A-62D5CE2B7782}"/>
              </a:ext>
            </a:extLst>
          </p:cNvPr>
          <p:cNvPicPr>
            <a:picLocks noChangeAspect="1"/>
          </p:cNvPicPr>
          <p:nvPr/>
        </p:nvPicPr>
        <p:blipFill>
          <a:blip r:embed="rId4"/>
          <a:stretch>
            <a:fillRect/>
          </a:stretch>
        </p:blipFill>
        <p:spPr>
          <a:xfrm>
            <a:off x="309203" y="714947"/>
            <a:ext cx="2946400" cy="3898900"/>
          </a:xfrm>
          <a:prstGeom prst="rect">
            <a:avLst/>
          </a:prstGeom>
        </p:spPr>
      </p:pic>
    </p:spTree>
    <p:extLst>
      <p:ext uri="{BB962C8B-B14F-4D97-AF65-F5344CB8AC3E}">
        <p14:creationId xmlns:p14="http://schemas.microsoft.com/office/powerpoint/2010/main" val="35382864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E18EF55-2F23-0545-ADD4-54630BE06B10}"/>
              </a:ext>
            </a:extLst>
          </p:cNvPr>
          <p:cNvSpPr>
            <a:spLocks noGrp="1"/>
          </p:cNvSpPr>
          <p:nvPr>
            <p:ph type="sldNum" idx="12"/>
          </p:nvPr>
        </p:nvSpPr>
        <p:spPr/>
        <p:txBody>
          <a:bodyPr/>
          <a:lstStyle/>
          <a:p>
            <a:fld id="{00000000-1234-1234-1234-123412341234}" type="slidenum">
              <a:rPr lang="en-US" altLang="ja" smtClean="0"/>
              <a:pPr/>
              <a:t>25</a:t>
            </a:fld>
            <a:endParaRPr lang="ja" altLang="en-US">
              <a:solidFill>
                <a:srgbClr val="4E5F7A"/>
              </a:solidFill>
            </a:endParaRPr>
          </a:p>
        </p:txBody>
      </p:sp>
      <p:sp>
        <p:nvSpPr>
          <p:cNvPr id="6" name="Google Shape;68;p11">
            <a:extLst>
              <a:ext uri="{FF2B5EF4-FFF2-40B4-BE49-F238E27FC236}">
                <a16:creationId xmlns:a16="http://schemas.microsoft.com/office/drawing/2014/main" id="{F8A8053E-9174-379E-D5D3-A2A250CD6424}"/>
              </a:ext>
            </a:extLst>
          </p:cNvPr>
          <p:cNvSpPr txBox="1">
            <a:spLocks noGrp="1"/>
          </p:cNvSpPr>
          <p:nvPr>
            <p:ph type="ctrTitle"/>
          </p:nvPr>
        </p:nvSpPr>
        <p:spPr>
          <a:xfrm>
            <a:off x="886500" y="2281050"/>
            <a:ext cx="7371000" cy="581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当月および翌月の主なトピックス</a:t>
            </a:r>
            <a:endParaRPr/>
          </a:p>
        </p:txBody>
      </p:sp>
      <p:sp>
        <p:nvSpPr>
          <p:cNvPr id="7" name="Google Shape;69;p11">
            <a:extLst>
              <a:ext uri="{FF2B5EF4-FFF2-40B4-BE49-F238E27FC236}">
                <a16:creationId xmlns:a16="http://schemas.microsoft.com/office/drawing/2014/main" id="{FDCF8461-748D-247A-D924-6D0D28DAFC93}"/>
              </a:ext>
            </a:extLst>
          </p:cNvPr>
          <p:cNvSpPr txBox="1">
            <a:spLocks noGrp="1"/>
          </p:cNvSpPr>
          <p:nvPr>
            <p:ph type="subTitle" idx="1"/>
          </p:nvPr>
        </p:nvSpPr>
        <p:spPr>
          <a:xfrm>
            <a:off x="886500" y="1918505"/>
            <a:ext cx="7371000" cy="2916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ja" altLang="en-US"/>
              <a:t>維持管理等に関する報告</a:t>
            </a:r>
            <a:endParaRPr/>
          </a:p>
        </p:txBody>
      </p:sp>
    </p:spTree>
    <p:extLst>
      <p:ext uri="{BB962C8B-B14F-4D97-AF65-F5344CB8AC3E}">
        <p14:creationId xmlns:p14="http://schemas.microsoft.com/office/powerpoint/2010/main" val="457916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5"/>
          <p:cNvSpPr txBox="1">
            <a:spLocks noGrp="1"/>
          </p:cNvSpPr>
          <p:nvPr>
            <p:ph type="title"/>
          </p:nvPr>
        </p:nvSpPr>
        <p:spPr>
          <a:xfrm>
            <a:off x="238225" y="57150"/>
            <a:ext cx="6562800" cy="526800"/>
          </a:xfrm>
          <a:prstGeom prst="rect">
            <a:avLst/>
          </a:prstGeom>
        </p:spPr>
        <p:txBody>
          <a:bodyPr spcFirstLastPara="1" wrap="square" lIns="0" tIns="0" rIns="0" bIns="0" anchor="ctr" anchorCtr="0">
            <a:noAutofit/>
          </a:bodyPr>
          <a:lstStyle/>
          <a:p>
            <a:pPr lvl="0"/>
            <a:r>
              <a:rPr lang="ja-JP" altLang="en-US"/>
              <a:t>当月および翌月の主なトピックス</a:t>
            </a:r>
            <a:endParaRPr/>
          </a:p>
        </p:txBody>
      </p:sp>
      <p:sp>
        <p:nvSpPr>
          <p:cNvPr id="13" name="Google Shape;13;p2">
            <a:extLst>
              <a:ext uri="{FF2B5EF4-FFF2-40B4-BE49-F238E27FC236}">
                <a16:creationId xmlns:a16="http://schemas.microsoft.com/office/drawing/2014/main" id="{71CB5A05-446A-1A4A-ABE4-59DCA66D669B}"/>
              </a:ext>
            </a:extLst>
          </p:cNvPr>
          <p:cNvSpPr txBox="1">
            <a:spLocks noGrp="1"/>
          </p:cNvSpPr>
          <p:nvPr>
            <p:ph type="sldNum" idx="12"/>
          </p:nvPr>
        </p:nvSpPr>
        <p:spPr>
          <a:xfrm>
            <a:off x="8399708" y="4744217"/>
            <a:ext cx="548700" cy="393600"/>
          </a:xfrm>
          <a:prstGeom prst="rect">
            <a:avLst/>
          </a:prstGeom>
        </p:spPr>
        <p:txBody>
          <a:bodyPr spcFirstLastPara="1" wrap="square" lIns="91425" tIns="91425" rIns="91425" bIns="91425" anchor="ctr" anchorCtr="0">
            <a:noAutofit/>
          </a:bodyPr>
          <a:lstStyle>
            <a:lvl1pPr lvl="0" rtl="0">
              <a:buNone/>
              <a:defRPr b="0" i="0">
                <a:solidFill>
                  <a:srgbClr val="1C4587"/>
                </a:solidFill>
              </a:defRPr>
            </a:lvl1pPr>
            <a:lvl2pPr lvl="1" rtl="0">
              <a:buNone/>
              <a:defRPr>
                <a:solidFill>
                  <a:srgbClr val="1C4587"/>
                </a:solidFill>
              </a:defRPr>
            </a:lvl2pPr>
            <a:lvl3pPr lvl="2" rtl="0">
              <a:buNone/>
              <a:defRPr>
                <a:solidFill>
                  <a:srgbClr val="1C4587"/>
                </a:solidFill>
              </a:defRPr>
            </a:lvl3pPr>
            <a:lvl4pPr lvl="3" rtl="0">
              <a:buNone/>
              <a:defRPr>
                <a:solidFill>
                  <a:srgbClr val="1C4587"/>
                </a:solidFill>
              </a:defRPr>
            </a:lvl4pPr>
            <a:lvl5pPr lvl="4" rtl="0">
              <a:buNone/>
              <a:defRPr>
                <a:solidFill>
                  <a:srgbClr val="1C4587"/>
                </a:solidFill>
              </a:defRPr>
            </a:lvl5pPr>
            <a:lvl6pPr lvl="5" rtl="0">
              <a:buNone/>
              <a:defRPr>
                <a:solidFill>
                  <a:srgbClr val="1C4587"/>
                </a:solidFill>
              </a:defRPr>
            </a:lvl6pPr>
            <a:lvl7pPr lvl="6" rtl="0">
              <a:buNone/>
              <a:defRPr>
                <a:solidFill>
                  <a:srgbClr val="1C4587"/>
                </a:solidFill>
              </a:defRPr>
            </a:lvl7pPr>
            <a:lvl8pPr lvl="7" rtl="0">
              <a:buNone/>
              <a:defRPr>
                <a:solidFill>
                  <a:srgbClr val="1C4587"/>
                </a:solidFill>
              </a:defRPr>
            </a:lvl8pPr>
            <a:lvl9pPr lvl="8" rtl="0">
              <a:buNone/>
              <a:defRPr>
                <a:solidFill>
                  <a:srgbClr val="1C4587"/>
                </a:solidFill>
              </a:defRPr>
            </a:lvl9pPr>
          </a:lstStyle>
          <a:p>
            <a:fld id="{00000000-1234-1234-1234-123412341234}" type="slidenum">
              <a:rPr lang="en-US" altLang="ja" smtClean="0"/>
              <a:pPr/>
              <a:t>26</a:t>
            </a:fld>
            <a:endParaRPr lang="ja" altLang="en-US">
              <a:solidFill>
                <a:srgbClr val="4E5F7A"/>
              </a:solidFill>
            </a:endParaRPr>
          </a:p>
        </p:txBody>
      </p:sp>
      <p:sp>
        <p:nvSpPr>
          <p:cNvPr id="2" name="Google Shape;114;p14">
            <a:extLst>
              <a:ext uri="{FF2B5EF4-FFF2-40B4-BE49-F238E27FC236}">
                <a16:creationId xmlns:a16="http://schemas.microsoft.com/office/drawing/2014/main" id="{CBEE44CC-3B1C-10B0-2584-5901E61307B8}"/>
              </a:ext>
            </a:extLst>
          </p:cNvPr>
          <p:cNvSpPr txBox="1"/>
          <p:nvPr/>
        </p:nvSpPr>
        <p:spPr>
          <a:xfrm>
            <a:off x="228600" y="907773"/>
            <a:ext cx="1247136" cy="173124"/>
          </a:xfrm>
          <a:prstGeom prst="rect">
            <a:avLst/>
          </a:prstGeom>
          <a:noFill/>
          <a:ln>
            <a:noFill/>
          </a:ln>
        </p:spPr>
        <p:txBody>
          <a:bodyPr spcFirstLastPara="1" wrap="none" lIns="0" tIns="0" rIns="0" bIns="0" anchor="t" anchorCtr="0">
            <a:spAutoFit/>
          </a:bodyPr>
          <a:lstStyle/>
          <a:p>
            <a:pPr>
              <a:lnSpc>
                <a:spcPct val="125000"/>
              </a:lnSpc>
            </a:pPr>
            <a:r>
              <a:rPr lang="en-US" altLang="ja-JP" sz="900" b="1">
                <a:solidFill>
                  <a:srgbClr val="0F59B3"/>
                </a:solidFill>
                <a:latin typeface="Meiryo UI" panose="020B0604030504040204" pitchFamily="34" charset="-128"/>
                <a:ea typeface="Meiryo UI" panose="020B0604030504040204" pitchFamily="34" charset="-128"/>
              </a:rPr>
              <a:t>2025</a:t>
            </a:r>
            <a:r>
              <a:rPr lang="ja-JP" altLang="en-US" sz="900" b="1">
                <a:solidFill>
                  <a:srgbClr val="0F59B3"/>
                </a:solidFill>
                <a:latin typeface="Meiryo UI" panose="020B0604030504040204" pitchFamily="34" charset="-128"/>
                <a:ea typeface="Meiryo UI" panose="020B0604030504040204" pitchFamily="34" charset="-128"/>
              </a:rPr>
              <a:t>年</a:t>
            </a:r>
            <a:r>
              <a:rPr lang="en-US" altLang="ja-JP" sz="900" b="1">
                <a:solidFill>
                  <a:srgbClr val="0F59B3"/>
                </a:solidFill>
                <a:latin typeface="Meiryo UI" panose="020B0604030504040204" pitchFamily="34" charset="-128"/>
                <a:ea typeface="Meiryo UI" panose="020B0604030504040204" pitchFamily="34" charset="-128"/>
              </a:rPr>
              <a:t>10</a:t>
            </a:r>
            <a:r>
              <a:rPr lang="ja-JP" altLang="en-US" sz="900" b="1">
                <a:solidFill>
                  <a:srgbClr val="0F59B3"/>
                </a:solidFill>
                <a:latin typeface="Meiryo UI" panose="020B0604030504040204" pitchFamily="34" charset="-128"/>
                <a:ea typeface="Meiryo UI" panose="020B0604030504040204" pitchFamily="34" charset="-128"/>
              </a:rPr>
              <a:t>月のトピックス</a:t>
            </a:r>
          </a:p>
        </p:txBody>
      </p:sp>
      <p:sp>
        <p:nvSpPr>
          <p:cNvPr id="3" name="Google Shape;114;p14">
            <a:extLst>
              <a:ext uri="{FF2B5EF4-FFF2-40B4-BE49-F238E27FC236}">
                <a16:creationId xmlns:a16="http://schemas.microsoft.com/office/drawing/2014/main" id="{4090BBDC-499C-C99B-C688-8E1B74B3D9E0}"/>
              </a:ext>
            </a:extLst>
          </p:cNvPr>
          <p:cNvSpPr txBox="1"/>
          <p:nvPr/>
        </p:nvSpPr>
        <p:spPr>
          <a:xfrm>
            <a:off x="228600" y="2246139"/>
            <a:ext cx="777457" cy="173124"/>
          </a:xfrm>
          <a:prstGeom prst="rect">
            <a:avLst/>
          </a:prstGeom>
          <a:noFill/>
          <a:ln>
            <a:noFill/>
          </a:ln>
        </p:spPr>
        <p:txBody>
          <a:bodyPr spcFirstLastPara="1" wrap="none" lIns="0" tIns="0" rIns="0" bIns="0" anchor="t" anchorCtr="0">
            <a:spAutoFit/>
          </a:bodyPr>
          <a:lstStyle/>
          <a:p>
            <a:pPr>
              <a:lnSpc>
                <a:spcPct val="125000"/>
              </a:lnSpc>
            </a:pPr>
            <a:r>
              <a:rPr lang="ja-JP" altLang="en-US" sz="900" b="1">
                <a:solidFill>
                  <a:srgbClr val="0F59B3"/>
                </a:solidFill>
                <a:latin typeface="Meiryo UI" panose="020B0604030504040204" pitchFamily="34" charset="-128"/>
                <a:ea typeface="Meiryo UI" panose="020B0604030504040204" pitchFamily="34" charset="-128"/>
              </a:rPr>
              <a:t>翌月のトピックス</a:t>
            </a:r>
          </a:p>
        </p:txBody>
      </p:sp>
      <p:sp>
        <p:nvSpPr>
          <p:cNvPr id="4" name="Google Shape;114;p14">
            <a:extLst>
              <a:ext uri="{FF2B5EF4-FFF2-40B4-BE49-F238E27FC236}">
                <a16:creationId xmlns:a16="http://schemas.microsoft.com/office/drawing/2014/main" id="{3C821E87-4285-0C89-BEDF-8E4A6D0ACFE3}"/>
              </a:ext>
            </a:extLst>
          </p:cNvPr>
          <p:cNvSpPr txBox="1"/>
          <p:nvPr/>
        </p:nvSpPr>
        <p:spPr>
          <a:xfrm>
            <a:off x="228599" y="1143257"/>
            <a:ext cx="7557039" cy="403957"/>
          </a:xfrm>
          <a:prstGeom prst="rect">
            <a:avLst/>
          </a:prstGeom>
          <a:noFill/>
          <a:ln>
            <a:noFill/>
          </a:ln>
        </p:spPr>
        <p:txBody>
          <a:bodyPr spcFirstLastPara="1" wrap="square" lIns="0" tIns="0" rIns="0" bIns="0" anchor="t" anchorCtr="0">
            <a:spAutoFit/>
          </a:bodyPr>
          <a:lstStyle/>
          <a:p>
            <a:pPr marL="171450" indent="-171450">
              <a:lnSpc>
                <a:spcPct val="125000"/>
              </a:lnSpc>
              <a:buFont typeface="Arial" panose="020B0604020202020204" pitchFamily="34" charset="0"/>
              <a:buChar char="•"/>
            </a:pPr>
            <a:r>
              <a:rPr lang="ja-JP" altLang="en-US" sz="1050">
                <a:latin typeface="Meiryo UI"/>
                <a:ea typeface="Meiryo UI"/>
              </a:rPr>
              <a:t>官庁訪問（高卒者）</a:t>
            </a:r>
          </a:p>
          <a:p>
            <a:pPr marL="171450" indent="-171450">
              <a:lnSpc>
                <a:spcPct val="125000"/>
              </a:lnSpc>
              <a:buFont typeface="Arial" panose="020B0604020202020204" pitchFamily="34" charset="0"/>
              <a:buChar char="•"/>
            </a:pPr>
            <a:r>
              <a:rPr lang="ja-JP" altLang="en-US" sz="1050">
                <a:latin typeface="Meiryo UI"/>
                <a:ea typeface="Meiryo UI"/>
              </a:rPr>
              <a:t>防衛白書　</a:t>
            </a:r>
            <a:r>
              <a:rPr lang="en" altLang="ja-JP" sz="1050">
                <a:latin typeface="Meiryo UI"/>
                <a:ea typeface="Meiryo UI"/>
              </a:rPr>
              <a:t>html</a:t>
            </a:r>
            <a:r>
              <a:rPr lang="ja-JP" altLang="en-US" sz="1050">
                <a:latin typeface="Meiryo UI"/>
                <a:ea typeface="Meiryo UI"/>
              </a:rPr>
              <a:t>版</a:t>
            </a:r>
            <a:endParaRPr lang="en-US" altLang="ja-JP" sz="1050">
              <a:latin typeface="Meiryo UI"/>
              <a:ea typeface="Meiryo UI"/>
            </a:endParaRPr>
          </a:p>
        </p:txBody>
      </p:sp>
      <p:sp>
        <p:nvSpPr>
          <p:cNvPr id="5" name="Google Shape;114;p14">
            <a:extLst>
              <a:ext uri="{FF2B5EF4-FFF2-40B4-BE49-F238E27FC236}">
                <a16:creationId xmlns:a16="http://schemas.microsoft.com/office/drawing/2014/main" id="{5E6CE98C-B8EB-D65D-8643-4FC1A5A5A58F}"/>
              </a:ext>
            </a:extLst>
          </p:cNvPr>
          <p:cNvSpPr txBox="1"/>
          <p:nvPr/>
        </p:nvSpPr>
        <p:spPr>
          <a:xfrm>
            <a:off x="228599" y="2471023"/>
            <a:ext cx="7557039" cy="403957"/>
          </a:xfrm>
          <a:prstGeom prst="rect">
            <a:avLst/>
          </a:prstGeom>
          <a:noFill/>
          <a:ln>
            <a:noFill/>
          </a:ln>
        </p:spPr>
        <p:txBody>
          <a:bodyPr spcFirstLastPara="1" wrap="square" lIns="0" tIns="0" rIns="0" bIns="0" anchor="t" anchorCtr="0">
            <a:spAutoFit/>
          </a:bodyPr>
          <a:lstStyle/>
          <a:p>
            <a:pPr marL="171450" indent="-171450">
              <a:lnSpc>
                <a:spcPct val="125000"/>
              </a:lnSpc>
              <a:buFont typeface="Arial" panose="020B0604020202020204" pitchFamily="34" charset="0"/>
              <a:buChar char="•"/>
            </a:pPr>
            <a:r>
              <a:rPr lang="en" altLang="ja-JP" sz="1050">
                <a:latin typeface="Meiryo UI"/>
                <a:ea typeface="Meiryo UI"/>
              </a:rPr>
              <a:t>ADMM, ADMM Plus</a:t>
            </a:r>
            <a:r>
              <a:rPr lang="ja-JP" altLang="en-US" sz="1050">
                <a:latin typeface="Meiryo UI"/>
                <a:ea typeface="Meiryo UI"/>
              </a:rPr>
              <a:t>会合</a:t>
            </a:r>
          </a:p>
          <a:p>
            <a:pPr marL="171450" indent="-171450">
              <a:lnSpc>
                <a:spcPct val="125000"/>
              </a:lnSpc>
              <a:buFont typeface="Arial" panose="020B0604020202020204" pitchFamily="34" charset="0"/>
              <a:buChar char="•"/>
            </a:pPr>
            <a:r>
              <a:rPr lang="ja-JP" altLang="en-US" sz="1050">
                <a:latin typeface="Meiryo UI"/>
                <a:ea typeface="Meiryo UI"/>
              </a:rPr>
              <a:t>音楽祭り</a:t>
            </a:r>
            <a:endParaRPr lang="en-US" altLang="ja-JP" sz="1050">
              <a:latin typeface="Meiryo UI"/>
              <a:ea typeface="Meiryo UI"/>
            </a:endParaRPr>
          </a:p>
        </p:txBody>
      </p:sp>
    </p:spTree>
    <p:extLst>
      <p:ext uri="{BB962C8B-B14F-4D97-AF65-F5344CB8AC3E}">
        <p14:creationId xmlns:p14="http://schemas.microsoft.com/office/powerpoint/2010/main" val="186626689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049DE3"/>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5d31b92-3d31-48a8-ac77-a74cda9d3374" xsi:nil="true"/>
    <lcf76f155ced4ddcb4097134ff3c332f xmlns="d43ef2d5-6530-491f-801e-12542042cd2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3A70D8BF501E2F4E9989DC079D42BE2C" ma:contentTypeVersion="13" ma:contentTypeDescription="新しいドキュメントを作成します。" ma:contentTypeScope="" ma:versionID="78a864aab7673754c3b4fc7fe96c23ca">
  <xsd:schema xmlns:xsd="http://www.w3.org/2001/XMLSchema" xmlns:xs="http://www.w3.org/2001/XMLSchema" xmlns:p="http://schemas.microsoft.com/office/2006/metadata/properties" xmlns:ns2="d43ef2d5-6530-491f-801e-12542042cd25" xmlns:ns3="25d31b92-3d31-48a8-ac77-a74cda9d3374" targetNamespace="http://schemas.microsoft.com/office/2006/metadata/properties" ma:root="true" ma:fieldsID="238ae9e0914cd87e6bc3aef6965e17d2" ns2:_="" ns3:_="">
    <xsd:import namespace="d43ef2d5-6530-491f-801e-12542042cd25"/>
    <xsd:import namespace="25d31b92-3d31-48a8-ac77-a74cda9d3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f2d5-6530-491f-801e-12542042cd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64ec3a1f-d07b-40b0-a6a6-f48012a46dd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d31b92-3d31-48a8-ac77-a74cda9d337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5a72a32-f4e9-4c78-80fb-43f72b2bebf0}" ma:internalName="TaxCatchAll" ma:showField="CatchAllData" ma:web="25d31b92-3d31-48a8-ac77-a74cda9d3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E4FBE0-8A23-41DD-8054-E77F205321C1}">
  <ds:schemaRefs>
    <ds:schemaRef ds:uri="http://schemas.microsoft.com/sharepoint/v3/contenttype/forms"/>
  </ds:schemaRefs>
</ds:datastoreItem>
</file>

<file path=customXml/itemProps2.xml><?xml version="1.0" encoding="utf-8"?>
<ds:datastoreItem xmlns:ds="http://schemas.openxmlformats.org/officeDocument/2006/customXml" ds:itemID="{5C781064-0095-4989-951F-6084D24BE367}">
  <ds:schemaRefs>
    <ds:schemaRef ds:uri="http://schemas.microsoft.com/office/2006/metadata/properties"/>
    <ds:schemaRef ds:uri="http://purl.org/dc/terms/"/>
    <ds:schemaRef ds:uri="http://schemas.microsoft.com/office/infopath/2007/PartnerControls"/>
    <ds:schemaRef ds:uri="http://schemas.openxmlformats.org/package/2006/metadata/core-properties"/>
    <ds:schemaRef ds:uri="http://purl.org/dc/elements/1.1/"/>
    <ds:schemaRef ds:uri="http://schemas.microsoft.com/office/2006/documentManagement/types"/>
    <ds:schemaRef ds:uri="http://purl.org/dc/dcmitype/"/>
    <ds:schemaRef ds:uri="25d31b92-3d31-48a8-ac77-a74cda9d3374"/>
    <ds:schemaRef ds:uri="d43ef2d5-6530-491f-801e-12542042cd25"/>
    <ds:schemaRef ds:uri="http://www.w3.org/XML/1998/namespace"/>
  </ds:schemaRefs>
</ds:datastoreItem>
</file>

<file path=customXml/itemProps3.xml><?xml version="1.0" encoding="utf-8"?>
<ds:datastoreItem xmlns:ds="http://schemas.openxmlformats.org/officeDocument/2006/customXml" ds:itemID="{D3C7E06B-E0B2-44AE-9647-C89E1E666222}">
  <ds:schemaRefs>
    <ds:schemaRef ds:uri="25d31b92-3d31-48a8-ac77-a74cda9d3374"/>
    <ds:schemaRef ds:uri="d43ef2d5-6530-491f-801e-12542042cd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13</TotalTime>
  <Words>3627</Words>
  <Application>Microsoft Macintosh PowerPoint</Application>
  <PresentationFormat>画面に合わせる (16:9)</PresentationFormat>
  <Paragraphs>960</Paragraphs>
  <Slides>27</Slides>
  <Notes>27</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27</vt:i4>
      </vt:variant>
    </vt:vector>
  </HeadingPairs>
  <TitlesOfParts>
    <vt:vector size="35" baseType="lpstr">
      <vt:lpstr>"Meiryo UI"</vt:lpstr>
      <vt:lpstr>HiraKakuPro-W3</vt:lpstr>
      <vt:lpstr>Meiryo UI</vt:lpstr>
      <vt:lpstr>Meiryo</vt:lpstr>
      <vt:lpstr>Meiryo</vt:lpstr>
      <vt:lpstr>Arial</vt:lpstr>
      <vt:lpstr>Wingdings</vt:lpstr>
      <vt:lpstr>Simple Light</vt:lpstr>
      <vt:lpstr>役務実施月報 ＜2025年10月分＞</vt:lpstr>
      <vt:lpstr>勤務時間</vt:lpstr>
      <vt:lpstr>勤務時間集計</vt:lpstr>
      <vt:lpstr>勤務時間集計</vt:lpstr>
      <vt:lpstr>タスク対応状況</vt:lpstr>
      <vt:lpstr>タスク対応役務</vt:lpstr>
      <vt:lpstr>サイト分析</vt:lpstr>
      <vt:lpstr>行動フロー（トップページ起点）</vt:lpstr>
      <vt:lpstr>2025年10月のKGI/KPI指標</vt:lpstr>
      <vt:lpstr>2025年10月のKGI/KPI指標</vt:lpstr>
      <vt:lpstr>参考：他省庁のアクセス数</vt:lpstr>
      <vt:lpstr>参考：他省庁のアクセス数</vt:lpstr>
      <vt:lpstr>サイト全体のPV数 Top50</vt:lpstr>
      <vt:lpstr>第２階層 PV変化量ランキング（1/5）</vt:lpstr>
      <vt:lpstr>第２階層 PV変化量ランキング（1/5）</vt:lpstr>
      <vt:lpstr>第２階層 PV変化量ランキング（2/5）</vt:lpstr>
      <vt:lpstr>第２階層 PV変化量ランキング（3/5）</vt:lpstr>
      <vt:lpstr>第２階層 PV変化量ランキング（5/5）</vt:lpstr>
      <vt:lpstr>デバイス別PV数の比較</vt:lpstr>
      <vt:lpstr>PowerPoint プレゼンテーション</vt:lpstr>
      <vt:lpstr>PowerPoint プレゼンテーション</vt:lpstr>
      <vt:lpstr>PowerPoint プレゼンテーション</vt:lpstr>
      <vt:lpstr>サイト内検索</vt:lpstr>
      <vt:lpstr>オーガニック検索</vt:lpstr>
      <vt:lpstr>一枚でわかる</vt:lpstr>
      <vt:lpstr>当月および翌月の主なトピックス</vt:lpstr>
      <vt:lpstr>当月および翌月の主なトピックス</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4月のデータとサイト分析結果</dc:title>
  <dc:creator>梅木 英明</dc:creator>
  <cp:lastModifiedBy>立石 智一</cp:lastModifiedBy>
  <cp:revision>3</cp:revision>
  <dcterms:modified xsi:type="dcterms:W3CDTF">2025-11-18T11:55:01Z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0x0101003A70D8BF501E2F4E9989DC079D42BE2C</vt:lpwstr>
  </property>
  <property fmtid="{D5CDD505-2E9C-101B-9397-08002B2CF9AE}" pid="3" name="MediaServiceImageTags">
    <vt:lpwstr/>
  </property>
</Properties>
</file>